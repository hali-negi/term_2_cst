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Lora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6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Lora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Lora-italic.fntdata"/><Relationship Id="rId14" Type="http://schemas.openxmlformats.org/officeDocument/2006/relationships/slide" Target="slides/slide10.xml"/><Relationship Id="rId36" Type="http://schemas.openxmlformats.org/officeDocument/2006/relationships/font" Target="fonts/Lora-bold.fntdata"/><Relationship Id="rId17" Type="http://schemas.openxmlformats.org/officeDocument/2006/relationships/slide" Target="slides/slide13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2.xml"/><Relationship Id="rId38" Type="http://schemas.openxmlformats.org/officeDocument/2006/relationships/font" Target="fonts/Lora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d663b5c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4d663b5c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87920f2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87920f2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f046134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f046134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cd7b1554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cd7b1554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87920f21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87920f21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87920f2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87920f2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87920f2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87920f2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87920f21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87920f2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87920f21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87920f21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ea9c85c8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9ea9c85c8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050c592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050c592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050c592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5050c592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050c5927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050c5927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050c5927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050c5927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5050c5927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5050c5927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050c5927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5050c5927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5050c5927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5050c5927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050c5927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050c5927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050c5927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050c5927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Default FOREIGN KEY ACTION is NO ACTION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050c5927a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050c5927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050c5927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050c5927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5050c5927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5050c5927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The default precision precision and scale varies based on the DBMS.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In SQL Server default precision is 18 and default scale is 0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5050c5927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5050c5927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050c5927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050c5927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5050c5927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5050c5927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5050c5927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5050c5927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9ea9c85c8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9ea9c85c8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050c5927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050c5927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87920f21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87920f21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87920f21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87920f21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11700" y="4663225"/>
            <a:ext cx="3459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56B6A"/>
                </a:solidFill>
                <a:latin typeface="Lora"/>
                <a:ea typeface="Lora"/>
                <a:cs typeface="Lora"/>
                <a:sym typeface="Lora"/>
              </a:rPr>
              <a:t>COMP 2714</a:t>
            </a:r>
            <a:r>
              <a:rPr lang="en-GB" sz="1000">
                <a:latin typeface="Lora"/>
                <a:ea typeface="Lora"/>
                <a:cs typeface="Lora"/>
                <a:sym typeface="Lora"/>
              </a:rPr>
              <a:t> - </a:t>
            </a:r>
            <a:r>
              <a:rPr b="1" lang="en-GB" sz="1000">
                <a:latin typeface="Lora"/>
                <a:ea typeface="Lora"/>
                <a:cs typeface="Lora"/>
                <a:sym typeface="Lora"/>
              </a:rPr>
              <a:t>Maryam Khezrzadeh</a:t>
            </a:r>
            <a:endParaRPr b="1"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cs.microsoft.com/en-us/sql/t-sql/statements/alter-table-transact-sql?view=sql-server-ver15#Example_Top" TargetMode="External"/><Relationship Id="rId4" Type="http://schemas.openxmlformats.org/officeDocument/2006/relationships/hyperlink" Target="https://docs.microsoft.com/en-us/sql/t-sql/statements/drop-table-transact-sql?view=sql-server-ver15#examples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Module 5 - SQL Data Definition Language (DDl)</a:t>
            </a:r>
            <a:endParaRPr sz="3600"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Creating Tables, Keys, and Constraints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Recap &amp; Transition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Last week we normalized schemas (up to BCNF).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Now we turn designs into implementation.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Language Families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58825"/>
            <a:ext cx="45906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/>
              <a:t>DDL</a:t>
            </a:r>
            <a:r>
              <a:rPr lang="en-GB" sz="1400"/>
              <a:t>: </a:t>
            </a:r>
            <a:r>
              <a:rPr b="1" lang="en-GB" sz="1400"/>
              <a:t>D</a:t>
            </a:r>
            <a:r>
              <a:rPr lang="en-GB" sz="1400"/>
              <a:t>ata </a:t>
            </a:r>
            <a:r>
              <a:rPr b="1" lang="en-GB" sz="1400"/>
              <a:t>D</a:t>
            </a:r>
            <a:r>
              <a:rPr lang="en-GB" sz="1400"/>
              <a:t>efinition </a:t>
            </a:r>
            <a:r>
              <a:rPr b="1" lang="en-GB" sz="1400"/>
              <a:t>L</a:t>
            </a:r>
            <a:r>
              <a:rPr lang="en-GB" sz="1400"/>
              <a:t>anguage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Create &amp; alter schemas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400"/>
              <a:t>DML</a:t>
            </a:r>
            <a:r>
              <a:rPr lang="en-GB" sz="1400"/>
              <a:t>: </a:t>
            </a:r>
            <a:r>
              <a:rPr b="1" lang="en-GB" sz="1400"/>
              <a:t>D</a:t>
            </a:r>
            <a:r>
              <a:rPr lang="en-GB" sz="1400"/>
              <a:t>ata </a:t>
            </a:r>
            <a:r>
              <a:rPr b="1" lang="en-GB" sz="1400"/>
              <a:t>M</a:t>
            </a:r>
            <a:r>
              <a:rPr lang="en-GB" sz="1400"/>
              <a:t>anipulation </a:t>
            </a:r>
            <a:r>
              <a:rPr b="1" lang="en-GB" sz="1400"/>
              <a:t>L</a:t>
            </a:r>
            <a:r>
              <a:rPr lang="en-GB" sz="1400"/>
              <a:t>anguage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Manipulate date (insert/update/delete)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400"/>
              <a:t>DCL</a:t>
            </a:r>
            <a:r>
              <a:rPr lang="en-GB" sz="1400"/>
              <a:t>: </a:t>
            </a:r>
            <a:r>
              <a:rPr b="1" lang="en-GB" sz="1400"/>
              <a:t>D</a:t>
            </a:r>
            <a:r>
              <a:rPr lang="en-GB" sz="1400"/>
              <a:t>ata </a:t>
            </a:r>
            <a:r>
              <a:rPr b="1" lang="en-GB" sz="1400"/>
              <a:t>C</a:t>
            </a:r>
            <a:r>
              <a:rPr lang="en-GB" sz="1400"/>
              <a:t>ontrol </a:t>
            </a:r>
            <a:r>
              <a:rPr b="1" lang="en-GB" sz="1400"/>
              <a:t>L</a:t>
            </a:r>
            <a:r>
              <a:rPr lang="en-GB" sz="1400"/>
              <a:t>anguage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Permissions &amp; access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400"/>
              <a:t>TCL</a:t>
            </a:r>
            <a:r>
              <a:rPr lang="en-GB" sz="1400"/>
              <a:t>: </a:t>
            </a:r>
            <a:r>
              <a:rPr b="1" lang="en-GB" sz="1400"/>
              <a:t>T</a:t>
            </a:r>
            <a:r>
              <a:rPr lang="en-GB" sz="1400"/>
              <a:t>ransaction </a:t>
            </a:r>
            <a:r>
              <a:rPr b="1" lang="en-GB" sz="1400"/>
              <a:t>C</a:t>
            </a:r>
            <a:r>
              <a:rPr lang="en-GB" sz="1400"/>
              <a:t>ontrol </a:t>
            </a:r>
            <a:r>
              <a:rPr b="1" lang="en-GB" sz="1400"/>
              <a:t>L</a:t>
            </a:r>
            <a:r>
              <a:rPr lang="en-GB" sz="1400"/>
              <a:t>anguage 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Transactions</a:t>
            </a:r>
            <a:endParaRPr sz="12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294" y="1588600"/>
            <a:ext cx="3930004" cy="2556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Definition Commands (DDL)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136675" y="1152475"/>
            <a:ext cx="76956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a </a:t>
            </a:r>
            <a:r>
              <a:rPr b="1" lang="en-GB">
                <a:highlight>
                  <a:srgbClr val="00FFFF"/>
                </a:highlight>
              </a:rPr>
              <a:t>database</a:t>
            </a:r>
            <a:endParaRPr b="1">
              <a:highlight>
                <a:srgbClr val="00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Determine attribute </a:t>
            </a:r>
            <a:r>
              <a:rPr b="1" lang="en-GB">
                <a:highlight>
                  <a:srgbClr val="FFFF00"/>
                </a:highlight>
              </a:rPr>
              <a:t>data types</a:t>
            </a:r>
            <a:endParaRPr b="1">
              <a:highlight>
                <a:srgbClr val="FF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</a:t>
            </a:r>
            <a:r>
              <a:rPr b="1" lang="en-GB">
                <a:highlight>
                  <a:srgbClr val="F9CB9C"/>
                </a:highlight>
              </a:rPr>
              <a:t>tables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>
                <a:highlight>
                  <a:srgbClr val="00FF00"/>
                </a:highlight>
              </a:rPr>
              <a:t>Alter</a:t>
            </a:r>
            <a:r>
              <a:rPr lang="en-GB"/>
              <a:t> table structures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>
                <a:highlight>
                  <a:srgbClr val="B6D7A8"/>
                </a:highlight>
              </a:rPr>
              <a:t>Delete</a:t>
            </a:r>
            <a:r>
              <a:rPr lang="en-GB"/>
              <a:t> tables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 Database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80175"/>
            <a:ext cx="4492174" cy="7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highlight>
                  <a:srgbClr val="FFFF00"/>
                </a:highlight>
              </a:rPr>
              <a:t>Creating</a:t>
            </a:r>
            <a:r>
              <a:rPr lang="en-GB" sz="2400"/>
              <a:t> Tables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298375" y="99450"/>
            <a:ext cx="71328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CAPITALS		</a:t>
            </a:r>
            <a:r>
              <a:rPr lang="en-GB" sz="1200">
                <a:solidFill>
                  <a:srgbClr val="000000"/>
                </a:solidFill>
              </a:rPr>
              <a:t>Required SQL command </a:t>
            </a:r>
            <a:r>
              <a:rPr b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keywords</a:t>
            </a:r>
            <a:r>
              <a:rPr lang="en-GB" sz="1200">
                <a:solidFill>
                  <a:srgbClr val="9900FF"/>
                </a:solidFill>
              </a:rPr>
              <a:t>	</a:t>
            </a:r>
            <a:endParaRPr sz="12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Italics			</a:t>
            </a:r>
            <a:r>
              <a:rPr lang="en-GB" sz="1200">
                <a:solidFill>
                  <a:srgbClr val="000000"/>
                </a:solidFill>
              </a:rPr>
              <a:t>A parameter provided </a:t>
            </a:r>
            <a:r>
              <a:rPr b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by the end user</a:t>
            </a:r>
            <a:r>
              <a:rPr lang="en-GB" sz="1200">
                <a:solidFill>
                  <a:srgbClr val="000000"/>
                </a:solidFill>
              </a:rPr>
              <a:t> (generally required)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{</a:t>
            </a:r>
            <a:r>
              <a:rPr lang="en-GB" sz="1200">
                <a:solidFill>
                  <a:srgbClr val="000000"/>
                </a:solidFill>
              </a:rPr>
              <a:t>a | b | ..</a:t>
            </a:r>
            <a:r>
              <a:rPr lang="en-GB" sz="1200">
                <a:solidFill>
                  <a:srgbClr val="9900FF"/>
                </a:solidFill>
              </a:rPr>
              <a:t>}		</a:t>
            </a:r>
            <a:r>
              <a:rPr lang="en-GB" sz="1200">
                <a:solidFill>
                  <a:srgbClr val="000000"/>
                </a:solidFill>
              </a:rPr>
              <a:t>A </a:t>
            </a:r>
            <a:r>
              <a:rPr b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mandatory parameter</a:t>
            </a:r>
            <a:r>
              <a:rPr lang="en-GB" sz="1200">
                <a:solidFill>
                  <a:srgbClr val="000000"/>
                </a:solidFill>
              </a:rPr>
              <a:t>; use one option from the list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00FF"/>
                </a:solidFill>
              </a:rPr>
              <a:t>[</a:t>
            </a:r>
            <a:r>
              <a:rPr lang="en-GB" sz="1200">
                <a:solidFill>
                  <a:srgbClr val="000000"/>
                </a:solidFill>
              </a:rPr>
              <a:t>......</a:t>
            </a:r>
            <a:r>
              <a:rPr lang="en-GB" sz="1200">
                <a:solidFill>
                  <a:srgbClr val="9900FF"/>
                </a:solidFill>
              </a:rPr>
              <a:t>]			</a:t>
            </a:r>
            <a:r>
              <a:rPr lang="en-GB" sz="1200">
                <a:solidFill>
                  <a:srgbClr val="000000"/>
                </a:solidFill>
              </a:rPr>
              <a:t>An </a:t>
            </a:r>
            <a:r>
              <a:rPr b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optional parameter</a:t>
            </a:r>
            <a:r>
              <a:rPr lang="en-GB" sz="1200">
                <a:solidFill>
                  <a:srgbClr val="000000"/>
                </a:solidFill>
              </a:rPr>
              <a:t>--anything inside is optional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T</a:t>
            </a:r>
            <a:r>
              <a:rPr i="1" lang="en-GB" sz="1200">
                <a:solidFill>
                  <a:srgbClr val="000000"/>
                </a:solidFill>
              </a:rPr>
              <a:t>ablename	</a:t>
            </a:r>
            <a:r>
              <a:rPr lang="en-GB" sz="1200">
                <a:solidFill>
                  <a:srgbClr val="000000"/>
                </a:solidFill>
              </a:rPr>
              <a:t>/ </a:t>
            </a:r>
            <a:r>
              <a:rPr b="1" i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C</a:t>
            </a:r>
            <a:r>
              <a:rPr i="1" lang="en-GB" sz="1200">
                <a:solidFill>
                  <a:srgbClr val="000000"/>
                </a:solidFill>
              </a:rPr>
              <a:t>olumn</a:t>
            </a:r>
            <a:endParaRPr i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data type		</a:t>
            </a:r>
            <a:r>
              <a:rPr lang="en-GB" sz="1200">
                <a:solidFill>
                  <a:srgbClr val="000000"/>
                </a:solidFill>
              </a:rPr>
              <a:t>A valid </a:t>
            </a:r>
            <a:r>
              <a:rPr b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data-type definition</a:t>
            </a:r>
            <a:endParaRPr b="1" sz="12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constraint		</a:t>
            </a:r>
            <a:r>
              <a:rPr lang="en-GB" sz="1200">
                <a:solidFill>
                  <a:srgbClr val="000000"/>
                </a:solidFill>
              </a:rPr>
              <a:t>A valid </a:t>
            </a:r>
            <a:r>
              <a:rPr b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constraint definition</a:t>
            </a:r>
            <a:endParaRPr b="1" sz="12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condition		</a:t>
            </a:r>
            <a:r>
              <a:rPr lang="en-GB" sz="1200">
                <a:solidFill>
                  <a:schemeClr val="dk1"/>
                </a:solidFill>
              </a:rPr>
              <a:t>A valid </a:t>
            </a:r>
            <a:r>
              <a:rPr b="1" lang="en-GB" sz="1200">
                <a:solidFill>
                  <a:schemeClr val="dk1"/>
                </a:solidFill>
                <a:highlight>
                  <a:srgbClr val="FFFF00"/>
                </a:highlight>
              </a:rPr>
              <a:t>conditional expression</a:t>
            </a:r>
            <a:r>
              <a:rPr lang="en-GB" sz="1200">
                <a:solidFill>
                  <a:schemeClr val="dk1"/>
                </a:solidFill>
              </a:rPr>
              <a:t> (evaluate to true or false)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columnlist		</a:t>
            </a:r>
            <a:r>
              <a:rPr lang="en-GB" sz="1200">
                <a:solidFill>
                  <a:schemeClr val="dk1"/>
                </a:solidFill>
              </a:rPr>
              <a:t>One or more column names or expressions </a:t>
            </a:r>
            <a:r>
              <a:rPr b="1" lang="en-GB" sz="1200">
                <a:solidFill>
                  <a:schemeClr val="dk1"/>
                </a:solidFill>
                <a:highlight>
                  <a:srgbClr val="FFFF00"/>
                </a:highlight>
              </a:rPr>
              <a:t>separated by commas</a:t>
            </a:r>
            <a:endParaRPr b="1" sz="12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tablelist		</a:t>
            </a:r>
            <a:r>
              <a:rPr lang="en-GB" sz="1200">
                <a:solidFill>
                  <a:schemeClr val="dk1"/>
                </a:solidFill>
              </a:rPr>
              <a:t>One or more table names separated by commas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conditionlist	</a:t>
            </a:r>
            <a:r>
              <a:rPr lang="en-GB" sz="1200">
                <a:solidFill>
                  <a:schemeClr val="dk1"/>
                </a:solidFill>
              </a:rPr>
              <a:t>One or more conditional expressions </a:t>
            </a:r>
            <a:r>
              <a:rPr b="1" lang="en-GB" sz="1200">
                <a:solidFill>
                  <a:schemeClr val="dk1"/>
                </a:solidFill>
                <a:highlight>
                  <a:srgbClr val="FFFF00"/>
                </a:highlight>
              </a:rPr>
              <a:t>separated by logical operators</a:t>
            </a:r>
            <a:endParaRPr b="1" sz="12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-GB" sz="1200">
                <a:solidFill>
                  <a:srgbClr val="000000"/>
                </a:solidFill>
              </a:rPr>
              <a:t>expression		</a:t>
            </a:r>
            <a:r>
              <a:rPr lang="en-GB" sz="1200">
                <a:solidFill>
                  <a:srgbClr val="000000"/>
                </a:solidFill>
              </a:rPr>
              <a:t>A </a:t>
            </a:r>
            <a:r>
              <a:rPr b="1" lang="en-GB" sz="1200">
                <a:solidFill>
                  <a:srgbClr val="000000"/>
                </a:solidFill>
                <a:highlight>
                  <a:srgbClr val="FFFF00"/>
                </a:highlight>
              </a:rPr>
              <a:t>simple value or a formula</a:t>
            </a:r>
            <a:endParaRPr b="1" sz="120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6662850" y="260300"/>
            <a:ext cx="218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SQL Syntax</a:t>
            </a:r>
            <a:endParaRPr sz="2600"/>
          </a:p>
        </p:txBody>
      </p:sp>
      <p:sp>
        <p:nvSpPr>
          <p:cNvPr id="93" name="Google Shape;93;p19"/>
          <p:cNvSpPr txBox="1"/>
          <p:nvPr/>
        </p:nvSpPr>
        <p:spPr>
          <a:xfrm>
            <a:off x="6729825" y="1017725"/>
            <a:ext cx="23313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 is important to learn how to read and understand the syntax!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3500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9900FF"/>
                </a:solidFill>
              </a:rPr>
              <a:t>CREATE TABLE</a:t>
            </a:r>
            <a:r>
              <a:rPr lang="en-GB"/>
              <a:t> </a:t>
            </a:r>
            <a:r>
              <a:rPr i="1" lang="en-GB"/>
              <a:t>tablename</a:t>
            </a:r>
            <a:r>
              <a:rPr i="1" lang="en-GB">
                <a:highlight>
                  <a:srgbClr val="FFFF00"/>
                </a:highlight>
              </a:rPr>
              <a:t> </a:t>
            </a:r>
            <a:r>
              <a:rPr lang="en-GB">
                <a:solidFill>
                  <a:srgbClr val="9900FF"/>
                </a:solidFill>
                <a:highlight>
                  <a:srgbClr val="FFFF00"/>
                </a:highlight>
              </a:rPr>
              <a:t>(</a:t>
            </a:r>
            <a:endParaRPr i="1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/>
              <a:t>Column1	data type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constraint</a:t>
            </a:r>
            <a:r>
              <a:rPr lang="en-GB">
                <a:solidFill>
                  <a:srgbClr val="9900FF"/>
                </a:solidFill>
              </a:rPr>
              <a:t>] 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/>
              <a:t>Column2	data type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constraint</a:t>
            </a:r>
            <a:r>
              <a:rPr lang="en-GB">
                <a:solidFill>
                  <a:srgbClr val="9900FF"/>
                </a:solidFill>
              </a:rPr>
              <a:t>]] 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PRIMARY KEY(</a:t>
            </a:r>
            <a:r>
              <a:rPr i="1" lang="en-GB"/>
              <a:t>column1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, column2</a:t>
            </a:r>
            <a:r>
              <a:rPr lang="en-GB">
                <a:solidFill>
                  <a:srgbClr val="9900FF"/>
                </a:solidFill>
              </a:rPr>
              <a:t>]) ] 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FOREIGN KEY(</a:t>
            </a:r>
            <a:r>
              <a:rPr i="1" lang="en-GB"/>
              <a:t>column1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, column2</a:t>
            </a:r>
            <a:r>
              <a:rPr lang="en-GB">
                <a:solidFill>
                  <a:srgbClr val="9900FF"/>
                </a:solidFill>
              </a:rPr>
              <a:t>]) REFERENCES </a:t>
            </a:r>
            <a:r>
              <a:rPr i="1" lang="en-GB"/>
              <a:t>tablename</a:t>
            </a:r>
            <a:r>
              <a:rPr lang="en-GB">
                <a:solidFill>
                  <a:srgbClr val="9900FF"/>
                </a:solidFill>
              </a:rPr>
              <a:t>][,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9900FF"/>
                </a:solidFill>
              </a:rPr>
              <a:t>CONSTRAINT </a:t>
            </a:r>
            <a:r>
              <a:rPr i="1" lang="en-GB"/>
              <a:t>constraint</a:t>
            </a:r>
            <a:r>
              <a:rPr lang="en-GB">
                <a:solidFill>
                  <a:srgbClr val="9900FF"/>
                </a:solidFill>
              </a:rPr>
              <a:t>]</a:t>
            </a:r>
            <a:r>
              <a:rPr lang="en-GB">
                <a:solidFill>
                  <a:srgbClr val="9900FF"/>
                </a:solidFill>
                <a:highlight>
                  <a:srgbClr val="FFFF00"/>
                </a:highlight>
              </a:rPr>
              <a:t> )</a:t>
            </a:r>
            <a:r>
              <a:rPr lang="en-GB">
                <a:solidFill>
                  <a:srgbClr val="9900FF"/>
                </a:solidFill>
              </a:rPr>
              <a:t>;</a:t>
            </a:r>
            <a:endParaRPr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Tables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3500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CREATE TABLE</a:t>
            </a:r>
            <a:r>
              <a:rPr lang="en-GB"/>
              <a:t> </a:t>
            </a:r>
            <a:r>
              <a:rPr i="1" lang="en-GB"/>
              <a:t>tablename </a:t>
            </a:r>
            <a:r>
              <a:rPr lang="en-GB">
                <a:solidFill>
                  <a:srgbClr val="9900FF"/>
                </a:solidFill>
              </a:rPr>
              <a:t>(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/>
              <a:t>Column1	data type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constraint</a:t>
            </a:r>
            <a:r>
              <a:rPr lang="en-GB">
                <a:solidFill>
                  <a:srgbClr val="9900FF"/>
                </a:solidFill>
              </a:rPr>
              <a:t>] 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/>
              <a:t>Column2	data type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constraint</a:t>
            </a:r>
            <a:r>
              <a:rPr lang="en-GB">
                <a:solidFill>
                  <a:srgbClr val="9900FF"/>
                </a:solidFill>
              </a:rPr>
              <a:t>]] 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PRIMARY KEY(</a:t>
            </a:r>
            <a:r>
              <a:rPr i="1" lang="en-GB"/>
              <a:t>column1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, column2</a:t>
            </a:r>
            <a:r>
              <a:rPr lang="en-GB">
                <a:solidFill>
                  <a:srgbClr val="9900FF"/>
                </a:solidFill>
              </a:rPr>
              <a:t>]) ] 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FOREIGN KEY(</a:t>
            </a:r>
            <a:r>
              <a:rPr i="1" lang="en-GB"/>
              <a:t>column1 	</a:t>
            </a:r>
            <a:r>
              <a:rPr lang="en-GB">
                <a:solidFill>
                  <a:srgbClr val="9900FF"/>
                </a:solidFill>
              </a:rPr>
              <a:t>[</a:t>
            </a:r>
            <a:r>
              <a:rPr i="1" lang="en-GB"/>
              <a:t>, column2</a:t>
            </a:r>
            <a:r>
              <a:rPr lang="en-GB">
                <a:solidFill>
                  <a:srgbClr val="9900FF"/>
                </a:solidFill>
              </a:rPr>
              <a:t>]) REFERENCES </a:t>
            </a:r>
            <a:r>
              <a:rPr i="1" lang="en-GB"/>
              <a:t>tablename</a:t>
            </a:r>
            <a:r>
              <a:rPr lang="en-GB">
                <a:solidFill>
                  <a:srgbClr val="9900FF"/>
                </a:solidFill>
              </a:rPr>
              <a:t>][,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9900FF"/>
                </a:solidFill>
              </a:rPr>
              <a:t>CONSTRAINT </a:t>
            </a:r>
            <a:r>
              <a:rPr i="1" lang="en-GB"/>
              <a:t>constraint</a:t>
            </a:r>
            <a:r>
              <a:rPr lang="en-GB">
                <a:solidFill>
                  <a:srgbClr val="9900FF"/>
                </a:solidFill>
              </a:rPr>
              <a:t>] );</a:t>
            </a:r>
            <a:endParaRPr>
              <a:solidFill>
                <a:srgbClr val="9900FF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643" y="1223493"/>
            <a:ext cx="1005600" cy="10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5628600" y="2229100"/>
            <a:ext cx="3203700" cy="1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is the </a:t>
            </a:r>
            <a:r>
              <a:rPr b="1" lang="en-GB" sz="1800">
                <a:highlight>
                  <a:srgbClr val="FFFF00"/>
                </a:highlight>
              </a:rPr>
              <a:t>shortest possible </a:t>
            </a:r>
            <a:r>
              <a:rPr lang="en-GB" sz="1800"/>
              <a:t>CREATE TABLE query?!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SQL </a:t>
            </a:r>
            <a:r>
              <a:rPr b="1" lang="en-GB" sz="2400">
                <a:highlight>
                  <a:srgbClr val="FFFF00"/>
                </a:highlight>
              </a:rPr>
              <a:t>Data Types</a:t>
            </a:r>
            <a:endParaRPr b="1" sz="2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Data Types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42621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Common types:</a:t>
            </a:r>
            <a:endParaRPr sz="12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Character</a:t>
            </a:r>
            <a:r>
              <a:rPr lang="en-GB" sz="1200"/>
              <a:t> 	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Fixed length or variable Length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CHAR</a:t>
            </a:r>
            <a:r>
              <a:rPr lang="en-GB" sz="1200">
                <a:solidFill>
                  <a:schemeClr val="dk1"/>
                </a:solidFill>
              </a:rPr>
              <a:t> / </a:t>
            </a: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Numeric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Different numeric types based on length and whether values can contain decimal digits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NUMERIC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Date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Date arithmetics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Boolean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Best practice: </a:t>
            </a:r>
            <a:r>
              <a:rPr lang="en-GB" sz="1200"/>
              <a:t>choose by meaning (e.g., area code = CHAR).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800" y="1645021"/>
            <a:ext cx="4262100" cy="2630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Attribute Data Types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1488150" y="1701225"/>
            <a:ext cx="61677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We must consider the </a:t>
            </a:r>
            <a:r>
              <a:rPr b="1" lang="en-GB" sz="2400">
                <a:highlight>
                  <a:srgbClr val="FFFF00"/>
                </a:highlight>
              </a:rPr>
              <a:t>expected use of the attribute</a:t>
            </a:r>
            <a:r>
              <a:rPr lang="en-GB" sz="2400"/>
              <a:t> to properly define attribute types.</a:t>
            </a:r>
            <a:endParaRPr sz="24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400"/>
              <a:t>Sometimes you need </a:t>
            </a:r>
            <a:r>
              <a:rPr b="1" lang="en-GB" sz="2400">
                <a:highlight>
                  <a:srgbClr val="00FFFF"/>
                </a:highlight>
              </a:rPr>
              <a:t>professional judgment</a:t>
            </a:r>
            <a:r>
              <a:rPr lang="en-GB" sz="2400"/>
              <a:t> to determine a data type.</a:t>
            </a:r>
            <a:endParaRPr sz="2400"/>
          </a:p>
        </p:txBody>
      </p:sp>
      <p:sp>
        <p:nvSpPr>
          <p:cNvPr id="126" name="Google Shape;126;p24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6729825" y="445025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6350000" y="1017725"/>
            <a:ext cx="2711100" cy="3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V_AREACODE</a:t>
            </a:r>
            <a:r>
              <a:rPr lang="en-GB"/>
              <a:t> is </a:t>
            </a:r>
            <a:r>
              <a:rPr b="1" lang="en-GB">
                <a:highlight>
                  <a:srgbClr val="FFFF00"/>
                </a:highlight>
              </a:rPr>
              <a:t>saved as a character (CHAR(3)) </a:t>
            </a:r>
            <a:r>
              <a:rPr lang="en-GB"/>
              <a:t>even though it only contains digits - </a:t>
            </a:r>
            <a:r>
              <a:rPr b="1" lang="en-GB">
                <a:highlight>
                  <a:srgbClr val="00FFFF"/>
                </a:highlight>
              </a:rPr>
              <a:t>why?</a:t>
            </a:r>
            <a:endParaRPr b="1">
              <a:highlight>
                <a:srgbClr val="00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00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Adding / subtracting area codes does not make sense!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An area/zip code might start with a zero. If saved as a number, the leading zero might get dropped.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00" y="316875"/>
            <a:ext cx="5724900" cy="42377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>
            <a:off x="852525" y="2713825"/>
            <a:ext cx="2159700" cy="142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7828925" y="1918150"/>
            <a:ext cx="73431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539925" y="445025"/>
            <a:ext cx="768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142" name="Google Shape;142;p26"/>
          <p:cNvSpPr txBox="1"/>
          <p:nvPr/>
        </p:nvSpPr>
        <p:spPr>
          <a:xfrm>
            <a:off x="539925" y="1017725"/>
            <a:ext cx="8521200" cy="3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you save the number of bathrooms (</a:t>
            </a:r>
            <a:r>
              <a:rPr b="1" lang="en-GB" sz="1800">
                <a:highlight>
                  <a:srgbClr val="FFFF00"/>
                </a:highlight>
              </a:rPr>
              <a:t>H_BATH_NUM</a:t>
            </a:r>
            <a:r>
              <a:rPr lang="en-GB" sz="1800"/>
              <a:t>) as CHAR(3) -- you might think that the application should not do arithmetics (+, -, /, *) with the number -- then: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 query to sort the homes by number of bathrooms would put '10' before '2'!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Here's where you need to use your </a:t>
            </a:r>
            <a:r>
              <a:rPr b="1" lang="en-GB" sz="1800">
                <a:highlight>
                  <a:srgbClr val="00FFFF"/>
                </a:highlight>
              </a:rPr>
              <a:t>professional judgment</a:t>
            </a:r>
            <a:r>
              <a:rPr lang="en-GB" sz="1800"/>
              <a:t> to decide whether H_BATH_NUM should be stored as character or numeric. 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Constraints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017725"/>
            <a:ext cx="8520600" cy="3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PRIMARY KEY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FOREIGN KEY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</a:rPr>
              <a:t>	</a:t>
            </a:r>
            <a:r>
              <a:rPr b="1" lang="en-GB" sz="1400">
                <a:solidFill>
                  <a:srgbClr val="000000"/>
                </a:solidFill>
              </a:rPr>
              <a:t>Actions:</a:t>
            </a:r>
            <a:r>
              <a:rPr lang="en-GB" sz="1400">
                <a:solidFill>
                  <a:srgbClr val="000000"/>
                </a:solidFill>
              </a:rPr>
              <a:t> ON DELETE / ON UPDATE → CASCADE / SET NULL / SET DEFAULT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NOT NULL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UNIQUE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DEFAULT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CHECK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9900FF"/>
                </a:solidFill>
              </a:rPr>
              <a:t>	</a:t>
            </a:r>
            <a:r>
              <a:rPr lang="en-GB" sz="1400">
                <a:solidFill>
                  <a:srgbClr val="000000"/>
                </a:solidFill>
              </a:rPr>
              <a:t>To </a:t>
            </a:r>
            <a:r>
              <a:rPr b="1" lang="en-GB" sz="1400">
                <a:solidFill>
                  <a:srgbClr val="000000"/>
                </a:solidFill>
              </a:rPr>
              <a:t>validate</a:t>
            </a:r>
            <a:r>
              <a:rPr lang="en-GB" sz="1400">
                <a:solidFill>
                  <a:srgbClr val="000000"/>
                </a:solidFill>
              </a:rPr>
              <a:t> the value entered for an attribute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Vendor Table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994900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VENDOR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V_CODE		</a:t>
            </a:r>
            <a:r>
              <a:rPr lang="en-GB" sz="1400">
                <a:solidFill>
                  <a:srgbClr val="9900FF"/>
                </a:solidFill>
              </a:rPr>
              <a:t>INTEGER		NOT NULL		UNIQUE,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V_NAME		</a:t>
            </a:r>
            <a:r>
              <a:rPr lang="en-GB" sz="1400">
                <a:solidFill>
                  <a:srgbClr val="9900FF"/>
                </a:solidFill>
              </a:rPr>
              <a:t>VARCHAR(35)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V_CONTACT	</a:t>
            </a:r>
            <a:r>
              <a:rPr lang="en-GB" sz="1400">
                <a:solidFill>
                  <a:srgbClr val="9900FF"/>
                </a:solidFill>
              </a:rPr>
              <a:t>VARCHAR(25)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V_AREACODE	</a:t>
            </a:r>
            <a:r>
              <a:rPr lang="en-GB" sz="1400">
                <a:solidFill>
                  <a:srgbClr val="9900FF"/>
                </a:solidFill>
              </a:rPr>
              <a:t>CHAR(3)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V_PHONE		</a:t>
            </a:r>
            <a:r>
              <a:rPr lang="en-GB" sz="1400">
                <a:solidFill>
                  <a:srgbClr val="9900FF"/>
                </a:solidFill>
              </a:rPr>
              <a:t>CHAR(8)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V_STATE		</a:t>
            </a:r>
            <a:r>
              <a:rPr lang="en-GB" sz="1400">
                <a:solidFill>
                  <a:srgbClr val="9900FF"/>
                </a:solidFill>
              </a:rPr>
              <a:t>CHAR(2)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V_ORDER		</a:t>
            </a:r>
            <a:r>
              <a:rPr lang="en-GB" sz="1400">
                <a:solidFill>
                  <a:srgbClr val="9900FF"/>
                </a:solidFill>
              </a:rPr>
              <a:t>CHAR(1)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PRIMARY KEY(</a:t>
            </a:r>
            <a:r>
              <a:rPr lang="en-GB" sz="1400"/>
              <a:t>V_CODE</a:t>
            </a:r>
            <a:r>
              <a:rPr lang="en-GB" sz="1400">
                <a:solidFill>
                  <a:srgbClr val="9900FF"/>
                </a:solidFill>
              </a:rPr>
              <a:t>));</a:t>
            </a:r>
            <a:endParaRPr sz="1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Vendor Table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994900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VENDOR</a:t>
            </a:r>
            <a:r>
              <a:rPr i="1" lang="en-GB" sz="1400"/>
              <a:t>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V_CODE		</a:t>
            </a:r>
            <a:r>
              <a:rPr lang="en-GB" sz="1400">
                <a:solidFill>
                  <a:srgbClr val="9900FF"/>
                </a:solidFill>
              </a:rPr>
              <a:t>INTEGER		NOT NULL		UNIQUE,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V_NAME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VARCHAR(35)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V_CONTACT	</a:t>
            </a:r>
            <a:r>
              <a:rPr lang="en-GB" sz="1400">
                <a:solidFill>
                  <a:srgbClr val="9900FF"/>
                </a:solidFill>
              </a:rPr>
              <a:t>VARCHAR(25)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V_AREACODE	</a:t>
            </a:r>
            <a:r>
              <a:rPr lang="en-GB" sz="1400">
                <a:solidFill>
                  <a:srgbClr val="9900FF"/>
                </a:solidFill>
              </a:rPr>
              <a:t>CHAR(3)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V_PHONE		</a:t>
            </a:r>
            <a:r>
              <a:rPr lang="en-GB" sz="1400">
                <a:solidFill>
                  <a:srgbClr val="9900FF"/>
                </a:solidFill>
              </a:rPr>
              <a:t>CHAR(8)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V_STATE		</a:t>
            </a:r>
            <a:r>
              <a:rPr lang="en-GB" sz="1400">
                <a:solidFill>
                  <a:srgbClr val="9900FF"/>
                </a:solidFill>
              </a:rPr>
              <a:t>CHAR(2)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V_ORDER		</a:t>
            </a:r>
            <a:r>
              <a:rPr lang="en-GB" sz="1400">
                <a:solidFill>
                  <a:srgbClr val="9900FF"/>
                </a:solidFill>
              </a:rPr>
              <a:t>CHAR(1)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PRIMARY KEY(</a:t>
            </a:r>
            <a:r>
              <a:rPr lang="en-GB" sz="1400"/>
              <a:t>V_CODE</a:t>
            </a:r>
            <a:r>
              <a:rPr lang="en-GB" sz="1400">
                <a:solidFill>
                  <a:srgbClr val="9900FF"/>
                </a:solidFill>
              </a:rPr>
              <a:t>));</a:t>
            </a:r>
            <a:endParaRPr sz="1400">
              <a:solidFill>
                <a:srgbClr val="9900FF"/>
              </a:solidFill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6019525" y="1918625"/>
            <a:ext cx="1151400" cy="39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highlight>
                  <a:srgbClr val="FFFF00"/>
                </a:highlight>
              </a:rPr>
              <a:t>constraint</a:t>
            </a:r>
            <a:endParaRPr b="1">
              <a:highlight>
                <a:srgbClr val="FFFF00"/>
              </a:highlight>
            </a:endParaRPr>
          </a:p>
        </p:txBody>
      </p:sp>
      <p:cxnSp>
        <p:nvCxnSpPr>
          <p:cNvPr id="162" name="Google Shape;162;p29"/>
          <p:cNvCxnSpPr>
            <a:stCxn id="161" idx="1"/>
          </p:cNvCxnSpPr>
          <p:nvPr/>
        </p:nvCxnSpPr>
        <p:spPr>
          <a:xfrm rot="10800000">
            <a:off x="5331325" y="1813025"/>
            <a:ext cx="688200" cy="301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9"/>
          <p:cNvCxnSpPr>
            <a:stCxn id="161" idx="1"/>
          </p:cNvCxnSpPr>
          <p:nvPr/>
        </p:nvCxnSpPr>
        <p:spPr>
          <a:xfrm rot="10800000">
            <a:off x="4179925" y="1763225"/>
            <a:ext cx="1839600" cy="35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9"/>
          <p:cNvCxnSpPr>
            <a:stCxn id="161" idx="1"/>
          </p:cNvCxnSpPr>
          <p:nvPr/>
        </p:nvCxnSpPr>
        <p:spPr>
          <a:xfrm rot="10800000">
            <a:off x="4230025" y="2075825"/>
            <a:ext cx="1789500" cy="3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9"/>
          <p:cNvSpPr txBox="1"/>
          <p:nvPr/>
        </p:nvSpPr>
        <p:spPr>
          <a:xfrm>
            <a:off x="3203725" y="932325"/>
            <a:ext cx="1151400" cy="39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highlight>
                  <a:srgbClr val="FFFF00"/>
                </a:highlight>
              </a:rPr>
              <a:t>data type</a:t>
            </a:r>
            <a:endParaRPr b="1">
              <a:highlight>
                <a:srgbClr val="FFFF00"/>
              </a:highlight>
            </a:endParaRPr>
          </a:p>
        </p:txBody>
      </p:sp>
      <p:cxnSp>
        <p:nvCxnSpPr>
          <p:cNvPr id="166" name="Google Shape;166;p29"/>
          <p:cNvCxnSpPr/>
          <p:nvPr/>
        </p:nvCxnSpPr>
        <p:spPr>
          <a:xfrm flipH="1">
            <a:off x="2690725" y="1226625"/>
            <a:ext cx="513000" cy="34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9"/>
          <p:cNvCxnSpPr/>
          <p:nvPr/>
        </p:nvCxnSpPr>
        <p:spPr>
          <a:xfrm flipH="1">
            <a:off x="2853300" y="1335725"/>
            <a:ext cx="312900" cy="5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9"/>
          <p:cNvSpPr/>
          <p:nvPr/>
        </p:nvSpPr>
        <p:spPr>
          <a:xfrm>
            <a:off x="2527950" y="4063900"/>
            <a:ext cx="563100" cy="137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2527950" y="3628125"/>
            <a:ext cx="563100" cy="137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3343625" y="4411900"/>
            <a:ext cx="3827400" cy="36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Spaces are used to </a:t>
            </a:r>
            <a:r>
              <a:rPr b="1" lang="en-GB">
                <a:highlight>
                  <a:srgbClr val="FFFF00"/>
                </a:highlight>
              </a:rPr>
              <a:t>line up</a:t>
            </a:r>
            <a:r>
              <a:rPr lang="en-GB"/>
              <a:t> pieces of a query</a:t>
            </a:r>
            <a:endParaRPr/>
          </a:p>
        </p:txBody>
      </p:sp>
      <p:cxnSp>
        <p:nvCxnSpPr>
          <p:cNvPr id="171" name="Google Shape;171;p29"/>
          <p:cNvCxnSpPr>
            <a:stCxn id="170" idx="1"/>
            <a:endCxn id="168" idx="2"/>
          </p:cNvCxnSpPr>
          <p:nvPr/>
        </p:nvCxnSpPr>
        <p:spPr>
          <a:xfrm rot="10800000">
            <a:off x="2809625" y="4201600"/>
            <a:ext cx="534000" cy="39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222325"/>
            <a:ext cx="8520600" cy="46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PRODUCT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P_CODE		</a:t>
            </a:r>
            <a:r>
              <a:rPr lang="en-GB" sz="1400">
                <a:solidFill>
                  <a:srgbClr val="9900FF"/>
                </a:solidFill>
              </a:rPr>
              <a:t>VARCHAR(10)		NOT NULL		UNIQUE,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P_DESCRIPT	</a:t>
            </a:r>
            <a:r>
              <a:rPr lang="en-GB" sz="1400">
                <a:solidFill>
                  <a:srgbClr val="9900FF"/>
                </a:solidFill>
              </a:rPr>
              <a:t>VARCHAR(35)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P_INDATE		</a:t>
            </a:r>
            <a:r>
              <a:rPr lang="en-GB" sz="1400">
                <a:solidFill>
                  <a:srgbClr val="9900FF"/>
                </a:solidFill>
              </a:rPr>
              <a:t>DATE	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P_QOH		</a:t>
            </a:r>
            <a:r>
              <a:rPr lang="en-GB" sz="1400">
                <a:solidFill>
                  <a:srgbClr val="9900FF"/>
                </a:solidFill>
              </a:rPr>
              <a:t>SMALLINT	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P_MIN		</a:t>
            </a:r>
            <a:r>
              <a:rPr lang="en-GB" sz="1400">
                <a:solidFill>
                  <a:srgbClr val="9900FF"/>
                </a:solidFill>
              </a:rPr>
              <a:t>SMALLINT	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P_PRICE		</a:t>
            </a:r>
            <a:r>
              <a:rPr lang="en-GB" sz="1400">
                <a:solidFill>
                  <a:srgbClr val="9900FF"/>
                </a:solidFill>
              </a:rPr>
              <a:t>NUMERIC(8,2)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P_DISCOUNT 	</a:t>
            </a:r>
            <a:r>
              <a:rPr lang="en-GB" sz="1400">
                <a:solidFill>
                  <a:srgbClr val="9900FF"/>
                </a:solidFill>
              </a:rPr>
              <a:t>NUMERIC(5,2)		NOT NULL,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V_CODE		</a:t>
            </a:r>
            <a:r>
              <a:rPr lang="en-GB" sz="1400">
                <a:solidFill>
                  <a:srgbClr val="9900FF"/>
                </a:solidFill>
              </a:rPr>
              <a:t>INTEGER		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PRIMARY KEY(</a:t>
            </a:r>
            <a:r>
              <a:rPr lang="en-GB" sz="1400"/>
              <a:t>P_CODE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FOREIGN KEY(</a:t>
            </a:r>
            <a:r>
              <a:rPr lang="en-GB" sz="1400"/>
              <a:t>V_CODE</a:t>
            </a:r>
            <a:r>
              <a:rPr lang="en-GB" sz="1400">
                <a:solidFill>
                  <a:srgbClr val="9900FF"/>
                </a:solidFill>
              </a:rPr>
              <a:t>) REFERENCES </a:t>
            </a:r>
            <a:r>
              <a:rPr lang="en-GB" sz="1400">
                <a:solidFill>
                  <a:srgbClr val="000000"/>
                </a:solidFill>
              </a:rPr>
              <a:t>VENDOR </a:t>
            </a:r>
            <a:r>
              <a:rPr lang="en-GB" sz="1400">
                <a:solidFill>
                  <a:srgbClr val="9900FF"/>
                </a:solidFill>
              </a:rPr>
              <a:t>ON UPDATE CASCADE );</a:t>
            </a:r>
            <a:endParaRPr sz="1400">
              <a:solidFill>
                <a:srgbClr val="9900FF"/>
              </a:solidFill>
            </a:endParaRPr>
          </a:p>
        </p:txBody>
      </p:sp>
      <p:sp>
        <p:nvSpPr>
          <p:cNvPr id="177" name="Google Shape;177;p30"/>
          <p:cNvSpPr txBox="1"/>
          <p:nvPr>
            <p:ph type="title"/>
          </p:nvPr>
        </p:nvSpPr>
        <p:spPr>
          <a:xfrm>
            <a:off x="4480225" y="99100"/>
            <a:ext cx="421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Table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222325"/>
            <a:ext cx="8520600" cy="46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PRODUCT</a:t>
            </a:r>
            <a:r>
              <a:rPr i="1" lang="en-GB" sz="1400"/>
              <a:t>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P_CODE		</a:t>
            </a:r>
            <a:r>
              <a:rPr lang="en-GB" sz="1400">
                <a:solidFill>
                  <a:srgbClr val="9900FF"/>
                </a:solidFill>
              </a:rPr>
              <a:t>VARCHAR(10)</a:t>
            </a:r>
            <a:r>
              <a:rPr lang="en-GB" sz="1400">
                <a:solidFill>
                  <a:srgbClr val="9900FF"/>
                </a:solidFill>
              </a:rPr>
              <a:t>		NOT NULL		UNIQUE,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P_DESCRIPT	</a:t>
            </a:r>
            <a:r>
              <a:rPr lang="en-GB" sz="1400">
                <a:solidFill>
                  <a:srgbClr val="9900FF"/>
                </a:solidFill>
              </a:rPr>
              <a:t>VARCHAR(35)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P_INDATE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DATE</a:t>
            </a:r>
            <a:r>
              <a:rPr lang="en-GB" sz="1400">
                <a:solidFill>
                  <a:srgbClr val="9900FF"/>
                </a:solidFill>
              </a:rPr>
              <a:t>	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P_QOH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SMALLINT</a:t>
            </a:r>
            <a:r>
              <a:rPr lang="en-GB" sz="1400">
                <a:solidFill>
                  <a:srgbClr val="9900FF"/>
                </a:solidFill>
              </a:rPr>
              <a:t>	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P_MIN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SMALLINT</a:t>
            </a:r>
            <a:r>
              <a:rPr lang="en-GB" sz="1400">
                <a:solidFill>
                  <a:srgbClr val="9900FF"/>
                </a:solidFill>
              </a:rPr>
              <a:t>	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P_PRICE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NUMERIC(8,2)</a:t>
            </a:r>
            <a:r>
              <a:rPr lang="en-GB" sz="1400">
                <a:solidFill>
                  <a:srgbClr val="9900FF"/>
                </a:solidFill>
              </a:rPr>
              <a:t>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P_DISCOUNT 	</a:t>
            </a:r>
            <a:r>
              <a:rPr lang="en-GB" sz="1400">
                <a:solidFill>
                  <a:srgbClr val="9900FF"/>
                </a:solidFill>
              </a:rPr>
              <a:t>NUMERIC(5,2)		NOT NULL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V_CODE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INTEGER</a:t>
            </a:r>
            <a:r>
              <a:rPr lang="en-GB" sz="1400">
                <a:solidFill>
                  <a:srgbClr val="9900FF"/>
                </a:solidFill>
              </a:rPr>
              <a:t>		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PRIMARY KEY(</a:t>
            </a:r>
            <a:r>
              <a:rPr lang="en-GB" sz="1400"/>
              <a:t>P</a:t>
            </a:r>
            <a:r>
              <a:rPr lang="en-GB" sz="1400"/>
              <a:t>_CODE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FOREIGN</a:t>
            </a:r>
            <a:r>
              <a:rPr lang="en-GB" sz="1400">
                <a:solidFill>
                  <a:srgbClr val="9900FF"/>
                </a:solidFill>
              </a:rPr>
              <a:t> KEY(</a:t>
            </a:r>
            <a:r>
              <a:rPr lang="en-GB" sz="1400"/>
              <a:t>V_CODE</a:t>
            </a:r>
            <a:r>
              <a:rPr lang="en-GB" sz="1400">
                <a:solidFill>
                  <a:srgbClr val="9900FF"/>
                </a:solidFill>
              </a:rPr>
              <a:t>) REFERENCES </a:t>
            </a:r>
            <a:r>
              <a:rPr lang="en-GB" sz="1400">
                <a:solidFill>
                  <a:srgbClr val="000000"/>
                </a:solidFill>
              </a:rPr>
              <a:t>VENDOR </a:t>
            </a:r>
            <a:r>
              <a:rPr lang="en-GB" sz="1400">
                <a:solidFill>
                  <a:srgbClr val="9900FF"/>
                </a:solidFill>
              </a:rPr>
              <a:t>ON UPDATE CASCADE </a:t>
            </a:r>
            <a:r>
              <a:rPr lang="en-GB" sz="1400">
                <a:solidFill>
                  <a:srgbClr val="9900FF"/>
                </a:solidFill>
              </a:rPr>
              <a:t>);</a:t>
            </a:r>
            <a:endParaRPr sz="1400">
              <a:solidFill>
                <a:srgbClr val="9900FF"/>
              </a:solidFill>
            </a:endParaRPr>
          </a:p>
        </p:txBody>
      </p:sp>
      <p:sp>
        <p:nvSpPr>
          <p:cNvPr id="183" name="Google Shape;183;p31"/>
          <p:cNvSpPr/>
          <p:nvPr/>
        </p:nvSpPr>
        <p:spPr>
          <a:xfrm>
            <a:off x="3441525" y="615450"/>
            <a:ext cx="23904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6520100" y="615450"/>
            <a:ext cx="2177400" cy="39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Ensures </a:t>
            </a:r>
            <a:r>
              <a:rPr b="1" lang="en-GB">
                <a:highlight>
                  <a:srgbClr val="FFFF00"/>
                </a:highlight>
              </a:rPr>
              <a:t>e</a:t>
            </a:r>
            <a:r>
              <a:rPr b="1" lang="en-GB">
                <a:highlight>
                  <a:srgbClr val="FFFF00"/>
                </a:highlight>
              </a:rPr>
              <a:t>ntity integrity</a:t>
            </a:r>
            <a:endParaRPr b="1">
              <a:highlight>
                <a:srgbClr val="FFFF00"/>
              </a:highlight>
            </a:endParaRPr>
          </a:p>
        </p:txBody>
      </p:sp>
      <p:cxnSp>
        <p:nvCxnSpPr>
          <p:cNvPr id="185" name="Google Shape;185;p31"/>
          <p:cNvCxnSpPr>
            <a:stCxn id="184" idx="1"/>
            <a:endCxn id="183" idx="3"/>
          </p:cNvCxnSpPr>
          <p:nvPr/>
        </p:nvCxnSpPr>
        <p:spPr>
          <a:xfrm rot="10800000">
            <a:off x="5831900" y="811950"/>
            <a:ext cx="688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31"/>
          <p:cNvSpPr/>
          <p:nvPr/>
        </p:nvSpPr>
        <p:spPr>
          <a:xfrm>
            <a:off x="4720300" y="671700"/>
            <a:ext cx="1036500" cy="2805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/>
        </p:nvSpPr>
        <p:spPr>
          <a:xfrm>
            <a:off x="5381275" y="1506200"/>
            <a:ext cx="3616800" cy="117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Cre</a:t>
            </a:r>
            <a:r>
              <a:rPr lang="en-GB"/>
              <a:t>ates a </a:t>
            </a:r>
            <a:r>
              <a:rPr b="1" lang="en-GB">
                <a:highlight>
                  <a:srgbClr val="FFFF00"/>
                </a:highlight>
              </a:rPr>
              <a:t>unique index </a:t>
            </a:r>
            <a:r>
              <a:rPr lang="en-GB"/>
              <a:t>on </a:t>
            </a:r>
            <a:r>
              <a:rPr i="1" lang="en-GB"/>
              <a:t>P_CODE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Use </a:t>
            </a:r>
            <a:r>
              <a:rPr lang="en-GB">
                <a:solidFill>
                  <a:srgbClr val="9900FF"/>
                </a:solidFill>
              </a:rPr>
              <a:t>UNIQUE</a:t>
            </a:r>
            <a:r>
              <a:rPr lang="en-GB"/>
              <a:t> to </a:t>
            </a:r>
            <a:r>
              <a:rPr b="1" lang="en-GB">
                <a:highlight>
                  <a:srgbClr val="FFFF00"/>
                </a:highlight>
              </a:rPr>
              <a:t>avoid duplicate values</a:t>
            </a:r>
            <a:r>
              <a:rPr lang="en-GB"/>
              <a:t> in a column </a:t>
            </a:r>
            <a:endParaRPr/>
          </a:p>
        </p:txBody>
      </p:sp>
      <p:cxnSp>
        <p:nvCxnSpPr>
          <p:cNvPr id="188" name="Google Shape;188;p31"/>
          <p:cNvCxnSpPr>
            <a:stCxn id="187" idx="0"/>
            <a:endCxn id="186" idx="2"/>
          </p:cNvCxnSpPr>
          <p:nvPr/>
        </p:nvCxnSpPr>
        <p:spPr>
          <a:xfrm rot="10800000">
            <a:off x="5238475" y="952100"/>
            <a:ext cx="1951200" cy="554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31"/>
          <p:cNvSpPr/>
          <p:nvPr/>
        </p:nvSpPr>
        <p:spPr>
          <a:xfrm>
            <a:off x="4557500" y="4433525"/>
            <a:ext cx="19626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5381275" y="3033075"/>
            <a:ext cx="3616800" cy="117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Ensures </a:t>
            </a:r>
            <a:r>
              <a:rPr b="1" lang="en-GB">
                <a:highlight>
                  <a:srgbClr val="FFFF00"/>
                </a:highlight>
              </a:rPr>
              <a:t>r</a:t>
            </a:r>
            <a:r>
              <a:rPr b="1" lang="en-GB">
                <a:highlight>
                  <a:srgbClr val="FFFF00"/>
                </a:highlight>
              </a:rPr>
              <a:t>eferential</a:t>
            </a:r>
            <a:r>
              <a:rPr b="1" lang="en-GB">
                <a:highlight>
                  <a:srgbClr val="FFFF00"/>
                </a:highlight>
              </a:rPr>
              <a:t> integrity</a:t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If </a:t>
            </a:r>
            <a:r>
              <a:rPr i="1" lang="en-GB"/>
              <a:t>VENDOR</a:t>
            </a:r>
            <a:r>
              <a:rPr lang="en-GB"/>
              <a:t>'s </a:t>
            </a:r>
            <a:r>
              <a:rPr i="1" lang="en-GB"/>
              <a:t>V_CODE</a:t>
            </a:r>
            <a:r>
              <a:rPr lang="en-GB"/>
              <a:t> is changed, all FKs referencing the </a:t>
            </a:r>
            <a:r>
              <a:rPr i="1" lang="en-GB"/>
              <a:t>V_CODE </a:t>
            </a:r>
            <a:r>
              <a:rPr lang="en-GB"/>
              <a:t>are updated.</a:t>
            </a:r>
            <a:endParaRPr/>
          </a:p>
        </p:txBody>
      </p:sp>
      <p:cxnSp>
        <p:nvCxnSpPr>
          <p:cNvPr id="191" name="Google Shape;191;p31"/>
          <p:cNvCxnSpPr>
            <a:stCxn id="190" idx="2"/>
            <a:endCxn id="189" idx="3"/>
          </p:cNvCxnSpPr>
          <p:nvPr/>
        </p:nvCxnSpPr>
        <p:spPr>
          <a:xfrm flipH="1">
            <a:off x="6520075" y="4212375"/>
            <a:ext cx="669600" cy="417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31"/>
          <p:cNvSpPr txBox="1"/>
          <p:nvPr>
            <p:ph type="title"/>
          </p:nvPr>
        </p:nvSpPr>
        <p:spPr>
          <a:xfrm>
            <a:off x="4480225" y="99100"/>
            <a:ext cx="421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Table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16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Table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311700" y="590000"/>
            <a:ext cx="8520600" cy="4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CUSTOMER</a:t>
            </a:r>
            <a:r>
              <a:rPr i="1" lang="en-GB" sz="1400"/>
              <a:t>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CUS_CODE		</a:t>
            </a:r>
            <a:r>
              <a:rPr lang="en-GB" sz="1400">
                <a:solidFill>
                  <a:srgbClr val="9900FF"/>
                </a:solidFill>
              </a:rPr>
              <a:t>NUMERIC</a:t>
            </a:r>
            <a:r>
              <a:rPr lang="en-GB" sz="1400">
                <a:solidFill>
                  <a:srgbClr val="9900FF"/>
                </a:solidFill>
              </a:rPr>
              <a:t>		PRIMARY KEY,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_LNAME		</a:t>
            </a:r>
            <a:r>
              <a:rPr lang="en-GB" sz="1400">
                <a:solidFill>
                  <a:srgbClr val="9900FF"/>
                </a:solidFill>
              </a:rPr>
              <a:t>VARCHAR(15)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_FNAME		</a:t>
            </a:r>
            <a:r>
              <a:rPr lang="en-GB" sz="1400">
                <a:solidFill>
                  <a:srgbClr val="9900FF"/>
                </a:solidFill>
              </a:rPr>
              <a:t>VARCHAR(15)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_INITIAL		</a:t>
            </a:r>
            <a:r>
              <a:rPr lang="en-GB" sz="1400">
                <a:solidFill>
                  <a:srgbClr val="9900FF"/>
                </a:solidFill>
              </a:rPr>
              <a:t>CHAR(1),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_AREACODE	</a:t>
            </a:r>
            <a:r>
              <a:rPr lang="en-GB" sz="1400">
                <a:solidFill>
                  <a:srgbClr val="9900FF"/>
                </a:solidFill>
              </a:rPr>
              <a:t>CHAR(3)		DEFAULT 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/>
              <a:t>615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/>
              <a:t>	</a:t>
            </a:r>
            <a:r>
              <a:rPr lang="en-GB" sz="1400">
                <a:solidFill>
                  <a:srgbClr val="9900FF"/>
                </a:solidFill>
              </a:rPr>
              <a:t>NOT NULL		</a:t>
            </a:r>
            <a:endParaRPr sz="1400">
              <a:solidFill>
                <a:srgbClr val="9900FF"/>
              </a:solidFill>
            </a:endParaRPr>
          </a:p>
          <a:p>
            <a:pPr indent="45720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CHECK(CUS_AREACODE IN (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>
                <a:solidFill>
                  <a:srgbClr val="000000"/>
                </a:solidFill>
              </a:rPr>
              <a:t>615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, 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>
                <a:solidFill>
                  <a:srgbClr val="000000"/>
                </a:solidFill>
              </a:rPr>
              <a:t>713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, 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>
                <a:solidFill>
                  <a:srgbClr val="000000"/>
                </a:solidFill>
              </a:rPr>
              <a:t>931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)),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_PHONE		</a:t>
            </a:r>
            <a:r>
              <a:rPr lang="en-GB" sz="1400">
                <a:solidFill>
                  <a:srgbClr val="9900FF"/>
                </a:solidFill>
              </a:rPr>
              <a:t>CHAR(8)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_BALANCE		</a:t>
            </a:r>
            <a:r>
              <a:rPr lang="en-GB" sz="1400">
                <a:solidFill>
                  <a:srgbClr val="9900FF"/>
                </a:solidFill>
              </a:rPr>
              <a:t>NUMERIC(9, 2)</a:t>
            </a:r>
            <a:r>
              <a:rPr lang="en-GB" sz="1400">
                <a:solidFill>
                  <a:srgbClr val="9900FF"/>
                </a:solidFill>
              </a:rPr>
              <a:t>	DEFAULT </a:t>
            </a:r>
            <a:r>
              <a:rPr i="1" lang="en-GB" sz="1400">
                <a:solidFill>
                  <a:srgbClr val="000000"/>
                </a:solidFill>
              </a:rPr>
              <a:t>0.00</a:t>
            </a:r>
            <a:r>
              <a:rPr lang="en-GB" sz="1400">
                <a:solidFill>
                  <a:srgbClr val="9900FF"/>
                </a:solidFill>
              </a:rPr>
              <a:t>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CONSTRAINT	</a:t>
            </a:r>
            <a:r>
              <a:rPr i="1" lang="en-GB" sz="1400"/>
              <a:t>CUS_UI1</a:t>
            </a:r>
            <a:r>
              <a:rPr lang="en-GB" sz="1400"/>
              <a:t> 	</a:t>
            </a:r>
            <a:r>
              <a:rPr lang="en-GB" sz="1400">
                <a:solidFill>
                  <a:srgbClr val="9900FF"/>
                </a:solidFill>
              </a:rPr>
              <a:t>UNIQUE(</a:t>
            </a:r>
            <a:r>
              <a:rPr i="1" lang="en-GB" sz="1400"/>
              <a:t>CUS_LNAME</a:t>
            </a:r>
            <a:r>
              <a:rPr lang="en-GB" sz="1400">
                <a:solidFill>
                  <a:srgbClr val="9900FF"/>
                </a:solidFill>
              </a:rPr>
              <a:t>,</a:t>
            </a:r>
            <a:r>
              <a:rPr lang="en-GB" sz="1400"/>
              <a:t> </a:t>
            </a:r>
            <a:r>
              <a:rPr i="1" lang="en-GB" sz="1400"/>
              <a:t>CUS_FNAME</a:t>
            </a:r>
            <a:r>
              <a:rPr lang="en-GB" sz="1400">
                <a:solidFill>
                  <a:srgbClr val="9900FF"/>
                </a:solidFill>
              </a:rPr>
              <a:t>)</a:t>
            </a:r>
            <a:r>
              <a:rPr lang="en-GB" sz="1400">
                <a:solidFill>
                  <a:srgbClr val="9900FF"/>
                </a:solidFill>
              </a:rPr>
              <a:t>);</a:t>
            </a:r>
            <a:endParaRPr sz="1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16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Table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11700" y="590000"/>
            <a:ext cx="8520600" cy="4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CUSTOMER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CUS_CODE		</a:t>
            </a:r>
            <a:r>
              <a:rPr lang="en-GB" sz="1400">
                <a:solidFill>
                  <a:srgbClr val="9900FF"/>
                </a:solidFill>
              </a:rPr>
              <a:t>NUMERIC		PRIMARY KEY,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CUS_LNAME		</a:t>
            </a:r>
            <a:r>
              <a:rPr lang="en-GB" sz="1400">
                <a:solidFill>
                  <a:srgbClr val="9900FF"/>
                </a:solidFill>
              </a:rPr>
              <a:t>VARCHAR(15)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CUS_FNAME		</a:t>
            </a:r>
            <a:r>
              <a:rPr lang="en-GB" sz="1400">
                <a:solidFill>
                  <a:srgbClr val="9900FF"/>
                </a:solidFill>
              </a:rPr>
              <a:t>VARCHAR(15)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CUS_INITIAL		</a:t>
            </a:r>
            <a:r>
              <a:rPr lang="en-GB" sz="1400">
                <a:solidFill>
                  <a:srgbClr val="9900FF"/>
                </a:solidFill>
              </a:rPr>
              <a:t>CHAR(1),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CUS_AREACODE	</a:t>
            </a:r>
            <a:r>
              <a:rPr lang="en-GB" sz="1400">
                <a:solidFill>
                  <a:srgbClr val="9900FF"/>
                </a:solidFill>
              </a:rPr>
              <a:t>CHAR(3)		DEFAULT 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/>
              <a:t>615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/>
              <a:t>	</a:t>
            </a:r>
            <a:r>
              <a:rPr lang="en-GB" sz="1400">
                <a:solidFill>
                  <a:srgbClr val="9900FF"/>
                </a:solidFill>
              </a:rPr>
              <a:t>NOT NULL		</a:t>
            </a:r>
            <a:endParaRPr sz="1400">
              <a:solidFill>
                <a:srgbClr val="9900FF"/>
              </a:solidFill>
            </a:endParaRPr>
          </a:p>
          <a:p>
            <a:pPr indent="45720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CHECK(CUS_AREACODE IN (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>
                <a:solidFill>
                  <a:srgbClr val="000000"/>
                </a:solidFill>
              </a:rPr>
              <a:t>615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, 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>
                <a:solidFill>
                  <a:srgbClr val="000000"/>
                </a:solidFill>
              </a:rPr>
              <a:t>713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, 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i="1" lang="en-GB" sz="1400">
                <a:solidFill>
                  <a:srgbClr val="000000"/>
                </a:solidFill>
              </a:rPr>
              <a:t>931</a:t>
            </a:r>
            <a:r>
              <a:rPr i="1"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)),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_PHONE		</a:t>
            </a:r>
            <a:r>
              <a:rPr lang="en-GB" sz="1400">
                <a:solidFill>
                  <a:srgbClr val="9900FF"/>
                </a:solidFill>
              </a:rPr>
              <a:t>CHAR(8)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</a:t>
            </a:r>
            <a:r>
              <a:rPr i="1" lang="en-GB" sz="1400"/>
              <a:t>_BALANCE		</a:t>
            </a:r>
            <a:r>
              <a:rPr lang="en-GB" sz="1400">
                <a:solidFill>
                  <a:srgbClr val="9900FF"/>
                </a:solidFill>
              </a:rPr>
              <a:t>NUMERIC(9, 2)	DEFAULT </a:t>
            </a:r>
            <a:r>
              <a:rPr i="1" lang="en-GB" sz="1400">
                <a:solidFill>
                  <a:srgbClr val="000000"/>
                </a:solidFill>
              </a:rPr>
              <a:t>0.00</a:t>
            </a:r>
            <a:r>
              <a:rPr lang="en-GB" sz="1400">
                <a:solidFill>
                  <a:srgbClr val="9900FF"/>
                </a:solidFill>
              </a:rPr>
              <a:t>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CONSTRAINT	</a:t>
            </a:r>
            <a:r>
              <a:rPr i="1" lang="en-GB" sz="1400"/>
              <a:t>CUS_UI1</a:t>
            </a:r>
            <a:r>
              <a:rPr lang="en-GB" sz="1400"/>
              <a:t> 	</a:t>
            </a:r>
            <a:r>
              <a:rPr lang="en-GB" sz="1400">
                <a:solidFill>
                  <a:srgbClr val="9900FF"/>
                </a:solidFill>
              </a:rPr>
              <a:t>UNIQUE(</a:t>
            </a:r>
            <a:r>
              <a:rPr i="1" lang="en-GB" sz="1400"/>
              <a:t>CUS_LNAME</a:t>
            </a:r>
            <a:r>
              <a:rPr lang="en-GB" sz="1400">
                <a:solidFill>
                  <a:srgbClr val="9900FF"/>
                </a:solidFill>
              </a:rPr>
              <a:t>,</a:t>
            </a:r>
            <a:r>
              <a:rPr lang="en-GB" sz="1400"/>
              <a:t> </a:t>
            </a:r>
            <a:r>
              <a:rPr i="1" lang="en-GB" sz="1400"/>
              <a:t>CUS_FNAME</a:t>
            </a:r>
            <a:r>
              <a:rPr lang="en-GB" sz="1400">
                <a:solidFill>
                  <a:srgbClr val="9900FF"/>
                </a:solidFill>
              </a:rPr>
              <a:t>));</a:t>
            </a:r>
            <a:endParaRPr sz="1400">
              <a:solidFill>
                <a:srgbClr val="9900FF"/>
              </a:solidFill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3441525" y="996450"/>
            <a:ext cx="15642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3"/>
          <p:cNvSpPr txBox="1"/>
          <p:nvPr/>
        </p:nvSpPr>
        <p:spPr>
          <a:xfrm>
            <a:off x="6077900" y="996450"/>
            <a:ext cx="2982600" cy="208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Constraints can be defined in two places: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In column definition (</a:t>
            </a:r>
            <a:r>
              <a:rPr b="1" lang="en-GB">
                <a:highlight>
                  <a:srgbClr val="FFFF00"/>
                </a:highlight>
              </a:rPr>
              <a:t>column </a:t>
            </a:r>
            <a:r>
              <a:rPr b="1" lang="en-GB">
                <a:highlight>
                  <a:srgbClr val="FFFF00"/>
                </a:highlight>
              </a:rPr>
              <a:t>constraint</a:t>
            </a:r>
            <a:r>
              <a:rPr lang="en-GB"/>
              <a:t>) → applies to one column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Using </a:t>
            </a:r>
            <a:r>
              <a:rPr lang="en-GB">
                <a:solidFill>
                  <a:srgbClr val="9900FF"/>
                </a:solidFill>
              </a:rPr>
              <a:t>CONSTRAINT</a:t>
            </a:r>
            <a:r>
              <a:rPr lang="en-GB"/>
              <a:t> keyword (</a:t>
            </a:r>
            <a:r>
              <a:rPr b="1" lang="en-GB">
                <a:highlight>
                  <a:srgbClr val="FFFF00"/>
                </a:highlight>
              </a:rPr>
              <a:t>table constraint</a:t>
            </a:r>
            <a:r>
              <a:rPr lang="en-GB"/>
              <a:t>) → may apply to multiple columns</a:t>
            </a:r>
            <a:endParaRPr/>
          </a:p>
        </p:txBody>
      </p:sp>
      <p:cxnSp>
        <p:nvCxnSpPr>
          <p:cNvPr id="207" name="Google Shape;207;p33"/>
          <p:cNvCxnSpPr>
            <a:stCxn id="206" idx="1"/>
            <a:endCxn id="205" idx="3"/>
          </p:cNvCxnSpPr>
          <p:nvPr/>
        </p:nvCxnSpPr>
        <p:spPr>
          <a:xfrm rot="10800000">
            <a:off x="5005700" y="1192950"/>
            <a:ext cx="1072200" cy="84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33"/>
          <p:cNvSpPr txBox="1"/>
          <p:nvPr/>
        </p:nvSpPr>
        <p:spPr>
          <a:xfrm>
            <a:off x="6520100" y="3564950"/>
            <a:ext cx="2177400" cy="1220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CHECK </a:t>
            </a:r>
            <a:r>
              <a:rPr lang="en-GB"/>
              <a:t>only validates values for attributes in this table. To validate attributes in other tables you should use </a:t>
            </a:r>
            <a:r>
              <a:rPr b="1" lang="en-GB">
                <a:highlight>
                  <a:srgbClr val="FFFF00"/>
                </a:highlight>
              </a:rPr>
              <a:t>triggers</a:t>
            </a:r>
            <a:r>
              <a:rPr lang="en-GB"/>
              <a:t> </a:t>
            </a:r>
            <a:endParaRPr/>
          </a:p>
        </p:txBody>
      </p:sp>
      <p:cxnSp>
        <p:nvCxnSpPr>
          <p:cNvPr id="209" name="Google Shape;209;p33"/>
          <p:cNvCxnSpPr>
            <a:stCxn id="208" idx="1"/>
            <a:endCxn id="210" idx="2"/>
          </p:cNvCxnSpPr>
          <p:nvPr/>
        </p:nvCxnSpPr>
        <p:spPr>
          <a:xfrm rot="10800000">
            <a:off x="3900500" y="3472850"/>
            <a:ext cx="2619600" cy="70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33"/>
          <p:cNvSpPr/>
          <p:nvPr/>
        </p:nvSpPr>
        <p:spPr>
          <a:xfrm>
            <a:off x="3554150" y="3079750"/>
            <a:ext cx="6927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/>
          <p:nvPr/>
        </p:nvSpPr>
        <p:spPr>
          <a:xfrm>
            <a:off x="1728125" y="4392350"/>
            <a:ext cx="8373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3"/>
          <p:cNvSpPr txBox="1"/>
          <p:nvPr/>
        </p:nvSpPr>
        <p:spPr>
          <a:xfrm>
            <a:off x="388025" y="3079750"/>
            <a:ext cx="2815800" cy="39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Awayse </a:t>
            </a:r>
            <a:r>
              <a:rPr b="1" lang="en-GB">
                <a:highlight>
                  <a:srgbClr val="FFFF00"/>
                </a:highlight>
              </a:rPr>
              <a:t>name your </a:t>
            </a:r>
            <a:r>
              <a:rPr b="1" lang="en-GB">
                <a:highlight>
                  <a:srgbClr val="FFFF00"/>
                </a:highlight>
              </a:rPr>
              <a:t>constraints</a:t>
            </a:r>
            <a:endParaRPr b="1">
              <a:highlight>
                <a:srgbClr val="FFFF00"/>
              </a:highlight>
            </a:endParaRPr>
          </a:p>
        </p:txBody>
      </p:sp>
      <p:cxnSp>
        <p:nvCxnSpPr>
          <p:cNvPr id="213" name="Google Shape;213;p33"/>
          <p:cNvCxnSpPr>
            <a:stCxn id="212" idx="2"/>
            <a:endCxn id="211" idx="0"/>
          </p:cNvCxnSpPr>
          <p:nvPr/>
        </p:nvCxnSpPr>
        <p:spPr>
          <a:xfrm>
            <a:off x="1795925" y="3472750"/>
            <a:ext cx="351000" cy="91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16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Invoice Table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742400"/>
            <a:ext cx="8520600" cy="4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INVOICE</a:t>
            </a:r>
            <a:r>
              <a:rPr i="1" lang="en-GB" sz="1400"/>
              <a:t>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INV_NUMBER		</a:t>
            </a:r>
            <a:r>
              <a:rPr lang="en-GB" sz="1400">
                <a:solidFill>
                  <a:srgbClr val="9900FF"/>
                </a:solidFill>
              </a:rPr>
              <a:t>NUMERIC		PRIMARY KEY,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CUS_CODE		</a:t>
            </a:r>
            <a:r>
              <a:rPr lang="en-GB" sz="1400">
                <a:solidFill>
                  <a:srgbClr val="9900FF"/>
                </a:solidFill>
              </a:rPr>
              <a:t>NUMERIC	</a:t>
            </a:r>
            <a:r>
              <a:rPr lang="en-GB" sz="1400">
                <a:solidFill>
                  <a:srgbClr val="9900FF"/>
                </a:solidFill>
              </a:rPr>
              <a:t>	NOT NULL		REFERENCES </a:t>
            </a:r>
            <a:r>
              <a:rPr i="1" lang="en-GB" sz="1400">
                <a:solidFill>
                  <a:srgbClr val="000000"/>
                </a:solidFill>
              </a:rPr>
              <a:t>CUSTOMER</a:t>
            </a:r>
            <a:r>
              <a:rPr lang="en-GB" sz="1400">
                <a:solidFill>
                  <a:srgbClr val="9900FF"/>
                </a:solidFill>
              </a:rPr>
              <a:t>(</a:t>
            </a:r>
            <a:r>
              <a:rPr i="1" lang="en-GB" sz="1400">
                <a:solidFill>
                  <a:srgbClr val="000000"/>
                </a:solidFill>
              </a:rPr>
              <a:t>CUS_CODE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INV_DATE</a:t>
            </a:r>
            <a:r>
              <a:rPr i="1" lang="en-GB" sz="1400"/>
              <a:t>			</a:t>
            </a:r>
            <a:r>
              <a:rPr lang="en-GB" sz="1400">
                <a:solidFill>
                  <a:srgbClr val="9900FF"/>
                </a:solidFill>
              </a:rPr>
              <a:t>DATE</a:t>
            </a:r>
            <a:r>
              <a:rPr lang="en-GB" sz="1400">
                <a:solidFill>
                  <a:srgbClr val="9900FF"/>
                </a:solidFill>
              </a:rPr>
              <a:t>		DEFAULT SYSDATETIME()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CONSTRAINT	</a:t>
            </a:r>
            <a:r>
              <a:rPr i="1" lang="en-GB" sz="1400"/>
              <a:t>INV</a:t>
            </a:r>
            <a:r>
              <a:rPr i="1" lang="en-GB" sz="1400"/>
              <a:t>_CK1</a:t>
            </a:r>
            <a:r>
              <a:rPr lang="en-GB" sz="1400"/>
              <a:t> 	</a:t>
            </a:r>
            <a:r>
              <a:rPr lang="en-GB" sz="1400">
                <a:solidFill>
                  <a:srgbClr val="9900FF"/>
                </a:solidFill>
              </a:rPr>
              <a:t>CHECK</a:t>
            </a:r>
            <a:r>
              <a:rPr lang="en-GB" sz="1400">
                <a:solidFill>
                  <a:srgbClr val="9900FF"/>
                </a:solidFill>
              </a:rPr>
              <a:t>(</a:t>
            </a:r>
            <a:r>
              <a:rPr i="1" lang="en-GB" sz="1400"/>
              <a:t>INV_DATE </a:t>
            </a:r>
            <a:r>
              <a:rPr lang="en-GB" sz="1400">
                <a:solidFill>
                  <a:srgbClr val="9900FF"/>
                </a:solidFill>
              </a:rPr>
              <a:t>&gt;'</a:t>
            </a:r>
            <a:r>
              <a:rPr i="1" lang="en-GB" sz="1400"/>
              <a:t>01-JAN-2018</a:t>
            </a:r>
            <a:r>
              <a:rPr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));</a:t>
            </a:r>
            <a:endParaRPr sz="1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16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Invoice Table</a:t>
            </a:r>
            <a:endParaRPr/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311700" y="742400"/>
            <a:ext cx="8520600" cy="4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INVOICE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INV_NUMBER		</a:t>
            </a:r>
            <a:r>
              <a:rPr lang="en-GB" sz="1400">
                <a:solidFill>
                  <a:srgbClr val="9900FF"/>
                </a:solidFill>
              </a:rPr>
              <a:t>NUMERIC		PRIMARY KEY,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CUS_CODE		</a:t>
            </a:r>
            <a:r>
              <a:rPr lang="en-GB" sz="1400">
                <a:solidFill>
                  <a:srgbClr val="9900FF"/>
                </a:solidFill>
              </a:rPr>
              <a:t>NUMERIC		NOT NULL		REFERENCES </a:t>
            </a:r>
            <a:r>
              <a:rPr i="1" lang="en-GB" sz="1400">
                <a:solidFill>
                  <a:srgbClr val="000000"/>
                </a:solidFill>
              </a:rPr>
              <a:t>CUSTOMER</a:t>
            </a:r>
            <a:r>
              <a:rPr lang="en-GB" sz="1400">
                <a:solidFill>
                  <a:srgbClr val="9900FF"/>
                </a:solidFill>
              </a:rPr>
              <a:t>(</a:t>
            </a:r>
            <a:r>
              <a:rPr i="1" lang="en-GB" sz="1400">
                <a:solidFill>
                  <a:srgbClr val="000000"/>
                </a:solidFill>
              </a:rPr>
              <a:t>CUS_CODE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INV_DATE			</a:t>
            </a:r>
            <a:r>
              <a:rPr lang="en-GB" sz="1400">
                <a:solidFill>
                  <a:srgbClr val="9900FF"/>
                </a:solidFill>
              </a:rPr>
              <a:t>DATE		DEFAULT SYSDATETIME()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CONSTRAINT	</a:t>
            </a:r>
            <a:r>
              <a:rPr i="1" lang="en-GB" sz="1400"/>
              <a:t>INV_CK1</a:t>
            </a:r>
            <a:r>
              <a:rPr lang="en-GB" sz="1400"/>
              <a:t> 	</a:t>
            </a:r>
            <a:r>
              <a:rPr lang="en-GB" sz="1400">
                <a:solidFill>
                  <a:srgbClr val="9900FF"/>
                </a:solidFill>
              </a:rPr>
              <a:t>CHECK(</a:t>
            </a:r>
            <a:r>
              <a:rPr i="1" lang="en-GB" sz="1400"/>
              <a:t>INV_DATE </a:t>
            </a:r>
            <a:r>
              <a:rPr lang="en-GB" sz="1400">
                <a:solidFill>
                  <a:srgbClr val="9900FF"/>
                </a:solidFill>
              </a:rPr>
              <a:t>&gt;'</a:t>
            </a:r>
            <a:r>
              <a:rPr i="1" lang="en-GB" sz="1400"/>
              <a:t>01-JAN-2018</a:t>
            </a:r>
            <a:r>
              <a:rPr lang="en-GB" sz="1400">
                <a:solidFill>
                  <a:srgbClr val="9900FF"/>
                </a:solidFill>
              </a:rPr>
              <a:t>'</a:t>
            </a:r>
            <a:r>
              <a:rPr lang="en-GB" sz="1400">
                <a:solidFill>
                  <a:srgbClr val="9900FF"/>
                </a:solidFill>
              </a:rPr>
              <a:t>));</a:t>
            </a:r>
            <a:endParaRPr sz="1400">
              <a:solidFill>
                <a:srgbClr val="9900FF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868200" y="1574900"/>
            <a:ext cx="35916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/>
        </p:nvSpPr>
        <p:spPr>
          <a:xfrm>
            <a:off x="6077900" y="2901450"/>
            <a:ext cx="2982600" cy="18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see that a </a:t>
            </a:r>
            <a:r>
              <a:rPr b="1" lang="en-GB">
                <a:highlight>
                  <a:srgbClr val="FFFF00"/>
                </a:highlight>
              </a:rPr>
              <a:t>FK constraint</a:t>
            </a:r>
            <a:r>
              <a:rPr lang="en-GB"/>
              <a:t> can also be defined in column definition. Remember: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Constraints can be defined in column definition or with </a:t>
            </a:r>
            <a:r>
              <a:rPr lang="en-GB">
                <a:solidFill>
                  <a:srgbClr val="9900FF"/>
                </a:solidFill>
              </a:rPr>
              <a:t>CONSTRAINT</a:t>
            </a:r>
            <a:r>
              <a:rPr lang="en-GB"/>
              <a:t> keyword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35"/>
          <p:cNvCxnSpPr>
            <a:stCxn id="227" idx="0"/>
            <a:endCxn id="226" idx="2"/>
          </p:cNvCxnSpPr>
          <p:nvPr/>
        </p:nvCxnSpPr>
        <p:spPr>
          <a:xfrm rot="10800000">
            <a:off x="6664100" y="1967850"/>
            <a:ext cx="905100" cy="93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35"/>
          <p:cNvCxnSpPr>
            <a:stCxn id="227" idx="1"/>
          </p:cNvCxnSpPr>
          <p:nvPr/>
        </p:nvCxnSpPr>
        <p:spPr>
          <a:xfrm rot="10800000">
            <a:off x="3479000" y="2848050"/>
            <a:ext cx="2598900" cy="98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16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Table</a:t>
            </a:r>
            <a:endParaRPr/>
          </a:p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590000"/>
            <a:ext cx="8520600" cy="4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LINE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INV_NUMBER		</a:t>
            </a:r>
            <a:r>
              <a:rPr lang="en-GB" sz="1400">
                <a:solidFill>
                  <a:srgbClr val="9900FF"/>
                </a:solidFill>
              </a:rPr>
              <a:t>NUMERIC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LINE_NUMBER		</a:t>
            </a:r>
            <a:r>
              <a:rPr lang="en-GB" sz="1400">
                <a:solidFill>
                  <a:srgbClr val="9900FF"/>
                </a:solidFill>
              </a:rPr>
              <a:t>NUMERIC(2, 0)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P_CODE			</a:t>
            </a:r>
            <a:r>
              <a:rPr lang="en-GB" sz="1400">
                <a:solidFill>
                  <a:srgbClr val="9900FF"/>
                </a:solidFill>
              </a:rPr>
              <a:t>VARCHAR(10)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LINE_UNITS		</a:t>
            </a:r>
            <a:r>
              <a:rPr lang="en-GB" sz="1400">
                <a:solidFill>
                  <a:srgbClr val="9900FF"/>
                </a:solidFill>
              </a:rPr>
              <a:t>NUMERIC(9, 2)	DEFAULT </a:t>
            </a:r>
            <a:r>
              <a:rPr i="1" lang="en-GB" sz="1400"/>
              <a:t>0.00	</a:t>
            </a:r>
            <a:r>
              <a:rPr lang="en-GB" sz="1400">
                <a:solidFill>
                  <a:srgbClr val="9900FF"/>
                </a:solidFill>
              </a:rPr>
              <a:t>NOT NULL	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LINE_PRICE		</a:t>
            </a:r>
            <a:r>
              <a:rPr lang="en-GB" sz="1400">
                <a:solidFill>
                  <a:srgbClr val="9900FF"/>
                </a:solidFill>
              </a:rPr>
              <a:t>NUMERIC(9, 2)	DEFAULT </a:t>
            </a:r>
            <a:r>
              <a:rPr i="1" lang="en-GB" sz="1400"/>
              <a:t>0.00	</a:t>
            </a:r>
            <a:r>
              <a:rPr lang="en-GB" sz="1400">
                <a:solidFill>
                  <a:srgbClr val="9900FF"/>
                </a:solidFill>
              </a:rPr>
              <a:t>NOT NULL	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PRIMARY KEY(</a:t>
            </a:r>
            <a:r>
              <a:rPr lang="en-GB" sz="1400"/>
              <a:t>INV_NUMBER, LINE_NUMBER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FOREIGN KEY(</a:t>
            </a:r>
            <a:r>
              <a:rPr lang="en-GB" sz="1400"/>
              <a:t>INV_NUMBER</a:t>
            </a:r>
            <a:r>
              <a:rPr lang="en-GB" sz="1400">
                <a:solidFill>
                  <a:srgbClr val="9900FF"/>
                </a:solidFill>
              </a:rPr>
              <a:t>) REFERENCES </a:t>
            </a:r>
            <a:r>
              <a:rPr lang="en-GB" sz="1400">
                <a:solidFill>
                  <a:schemeClr val="dk1"/>
                </a:solidFill>
              </a:rPr>
              <a:t>INVOICE </a:t>
            </a:r>
            <a:r>
              <a:rPr lang="en-GB" sz="1400">
                <a:solidFill>
                  <a:srgbClr val="9900FF"/>
                </a:solidFill>
              </a:rPr>
              <a:t>ON DELETE CASCADE,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FOREIGN KEY(</a:t>
            </a:r>
            <a:r>
              <a:rPr lang="en-GB" sz="1400"/>
              <a:t>P_CODE</a:t>
            </a:r>
            <a:r>
              <a:rPr lang="en-GB" sz="1400">
                <a:solidFill>
                  <a:srgbClr val="9900FF"/>
                </a:solidFill>
              </a:rPr>
              <a:t>) REFERENCES </a:t>
            </a:r>
            <a:r>
              <a:rPr lang="en-GB" sz="1400">
                <a:solidFill>
                  <a:schemeClr val="dk1"/>
                </a:solidFill>
              </a:rPr>
              <a:t>PRODUCT</a:t>
            </a:r>
            <a:r>
              <a:rPr lang="en-GB" sz="1400">
                <a:solidFill>
                  <a:srgbClr val="9900FF"/>
                </a:solidFill>
              </a:rPr>
              <a:t>(</a:t>
            </a:r>
            <a:r>
              <a:rPr i="1" lang="en-GB" sz="1400"/>
              <a:t>P_CODE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CONSTRAINT	</a:t>
            </a:r>
            <a:r>
              <a:rPr i="1" lang="en-GB" sz="1400"/>
              <a:t>LINE_UI1</a:t>
            </a:r>
            <a:r>
              <a:rPr lang="en-GB" sz="1400"/>
              <a:t> 	</a:t>
            </a:r>
            <a:r>
              <a:rPr lang="en-GB" sz="1400">
                <a:solidFill>
                  <a:srgbClr val="9900FF"/>
                </a:solidFill>
              </a:rPr>
              <a:t>UNIQUE(</a:t>
            </a:r>
            <a:r>
              <a:rPr i="1" lang="en-GB" sz="1400"/>
              <a:t>INV_NUMBER</a:t>
            </a:r>
            <a:r>
              <a:rPr lang="en-GB" sz="1400">
                <a:solidFill>
                  <a:srgbClr val="9900FF"/>
                </a:solidFill>
              </a:rPr>
              <a:t>,</a:t>
            </a:r>
            <a:r>
              <a:rPr lang="en-GB" sz="1400"/>
              <a:t> </a:t>
            </a:r>
            <a:r>
              <a:rPr i="1" lang="en-GB" sz="1400"/>
              <a:t>P_CODE</a:t>
            </a:r>
            <a:r>
              <a:rPr lang="en-GB" sz="1400">
                <a:solidFill>
                  <a:srgbClr val="9900FF"/>
                </a:solidFill>
              </a:rPr>
              <a:t>));</a:t>
            </a:r>
            <a:endParaRPr sz="1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311700" y="16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Table</a:t>
            </a:r>
            <a:endParaRPr/>
          </a:p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311700" y="590000"/>
            <a:ext cx="8520600" cy="4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CREATE TABLE</a:t>
            </a:r>
            <a:r>
              <a:rPr lang="en-GB" sz="1400"/>
              <a:t> </a:t>
            </a:r>
            <a:r>
              <a:rPr i="1" lang="en-GB" sz="1400"/>
              <a:t>LINE</a:t>
            </a:r>
            <a:r>
              <a:rPr i="1" lang="en-GB" sz="1400"/>
              <a:t> </a:t>
            </a:r>
            <a:r>
              <a:rPr lang="en-GB" sz="1400">
                <a:solidFill>
                  <a:srgbClr val="9900FF"/>
                </a:solidFill>
              </a:rPr>
              <a:t>(</a:t>
            </a:r>
            <a:endParaRPr i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INV_NUMBER		</a:t>
            </a:r>
            <a:r>
              <a:rPr lang="en-GB" sz="1400">
                <a:solidFill>
                  <a:srgbClr val="9900FF"/>
                </a:solidFill>
              </a:rPr>
              <a:t>NUMERIC	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LINE</a:t>
            </a:r>
            <a:r>
              <a:rPr i="1" lang="en-GB" sz="1400"/>
              <a:t>_NUMBER		</a:t>
            </a:r>
            <a:r>
              <a:rPr lang="en-GB" sz="1400">
                <a:solidFill>
                  <a:srgbClr val="9900FF"/>
                </a:solidFill>
              </a:rPr>
              <a:t>NUMERIC</a:t>
            </a:r>
            <a:r>
              <a:rPr lang="en-GB" sz="1400">
                <a:solidFill>
                  <a:srgbClr val="9900FF"/>
                </a:solidFill>
              </a:rPr>
              <a:t>(2, 0)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P_CODE</a:t>
            </a:r>
            <a:r>
              <a:rPr i="1" lang="en-GB" sz="1400"/>
              <a:t>			</a:t>
            </a:r>
            <a:r>
              <a:rPr lang="en-GB" sz="1400">
                <a:solidFill>
                  <a:srgbClr val="9900FF"/>
                </a:solidFill>
              </a:rPr>
              <a:t>VARCHAR(10)	NOT NULL,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LINE_UNITS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NUMERIC</a:t>
            </a:r>
            <a:r>
              <a:rPr lang="en-GB" sz="1400">
                <a:solidFill>
                  <a:srgbClr val="9900FF"/>
                </a:solidFill>
              </a:rPr>
              <a:t>(9, 2)	</a:t>
            </a:r>
            <a:r>
              <a:rPr lang="en-GB" sz="1400">
                <a:solidFill>
                  <a:srgbClr val="9900FF"/>
                </a:solidFill>
              </a:rPr>
              <a:t>DEFAULT </a:t>
            </a:r>
            <a:r>
              <a:rPr i="1" lang="en-GB" sz="1400"/>
              <a:t>0.00	</a:t>
            </a:r>
            <a:r>
              <a:rPr lang="en-GB" sz="1400">
                <a:solidFill>
                  <a:srgbClr val="9900FF"/>
                </a:solidFill>
              </a:rPr>
              <a:t>NOT NULL	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1400"/>
              <a:t>LINE_PRICE</a:t>
            </a:r>
            <a:r>
              <a:rPr i="1" lang="en-GB" sz="1400"/>
              <a:t>		</a:t>
            </a:r>
            <a:r>
              <a:rPr lang="en-GB" sz="1400">
                <a:solidFill>
                  <a:srgbClr val="9900FF"/>
                </a:solidFill>
              </a:rPr>
              <a:t>NUMERIC(9, 2)	DEFAULT </a:t>
            </a:r>
            <a:r>
              <a:rPr i="1" lang="en-GB" sz="1400"/>
              <a:t>0.00	</a:t>
            </a:r>
            <a:r>
              <a:rPr lang="en-GB" sz="1400">
                <a:solidFill>
                  <a:srgbClr val="9900FF"/>
                </a:solidFill>
              </a:rPr>
              <a:t>NOT NULL	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PRIMARY KEY(</a:t>
            </a:r>
            <a:r>
              <a:rPr lang="en-GB" sz="1400"/>
              <a:t>INV_NUMBER, LINE_NUMBER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FOREIGN KEY(</a:t>
            </a:r>
            <a:r>
              <a:rPr lang="en-GB" sz="1400"/>
              <a:t>INV_NUMBER</a:t>
            </a:r>
            <a:r>
              <a:rPr lang="en-GB" sz="1400">
                <a:solidFill>
                  <a:srgbClr val="9900FF"/>
                </a:solidFill>
              </a:rPr>
              <a:t>) REFERENCES </a:t>
            </a:r>
            <a:r>
              <a:rPr lang="en-GB" sz="1400">
                <a:solidFill>
                  <a:schemeClr val="dk1"/>
                </a:solidFill>
              </a:rPr>
              <a:t>INVOICE </a:t>
            </a:r>
            <a:r>
              <a:rPr lang="en-GB" sz="1400">
                <a:solidFill>
                  <a:srgbClr val="9900FF"/>
                </a:solidFill>
              </a:rPr>
              <a:t>ON DELETE CASCADE,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FOREIGN KEY(</a:t>
            </a:r>
            <a:r>
              <a:rPr lang="en-GB" sz="1400"/>
              <a:t>P_CODE</a:t>
            </a:r>
            <a:r>
              <a:rPr lang="en-GB" sz="1400">
                <a:solidFill>
                  <a:srgbClr val="9900FF"/>
                </a:solidFill>
              </a:rPr>
              <a:t>) REFERENCES </a:t>
            </a:r>
            <a:r>
              <a:rPr lang="en-GB" sz="1400">
                <a:solidFill>
                  <a:schemeClr val="dk1"/>
                </a:solidFill>
              </a:rPr>
              <a:t>PRODUCT</a:t>
            </a:r>
            <a:r>
              <a:rPr lang="en-GB" sz="1400">
                <a:solidFill>
                  <a:srgbClr val="9900FF"/>
                </a:solidFill>
              </a:rPr>
              <a:t>(</a:t>
            </a:r>
            <a:r>
              <a:rPr i="1" lang="en-GB" sz="1400"/>
              <a:t>P_CODE</a:t>
            </a:r>
            <a:r>
              <a:rPr lang="en-GB" sz="1400">
                <a:solidFill>
                  <a:srgbClr val="9900FF"/>
                </a:solidFill>
              </a:rPr>
              <a:t>),</a:t>
            </a:r>
            <a:endParaRPr sz="1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CONSTRAINT	</a:t>
            </a:r>
            <a:r>
              <a:rPr i="1" lang="en-GB" sz="1400"/>
              <a:t>LINE</a:t>
            </a:r>
            <a:r>
              <a:rPr i="1" lang="en-GB" sz="1400"/>
              <a:t>_UI1</a:t>
            </a:r>
            <a:r>
              <a:rPr lang="en-GB" sz="1400"/>
              <a:t> 	</a:t>
            </a:r>
            <a:r>
              <a:rPr lang="en-GB" sz="1400">
                <a:solidFill>
                  <a:srgbClr val="9900FF"/>
                </a:solidFill>
              </a:rPr>
              <a:t>UNIQUE(</a:t>
            </a:r>
            <a:r>
              <a:rPr i="1" lang="en-GB" sz="1400"/>
              <a:t>INV</a:t>
            </a:r>
            <a:r>
              <a:rPr i="1" lang="en-GB" sz="1400"/>
              <a:t>_NUMBER</a:t>
            </a:r>
            <a:r>
              <a:rPr lang="en-GB" sz="1400">
                <a:solidFill>
                  <a:srgbClr val="9900FF"/>
                </a:solidFill>
              </a:rPr>
              <a:t>,</a:t>
            </a:r>
            <a:r>
              <a:rPr lang="en-GB" sz="1400"/>
              <a:t> </a:t>
            </a:r>
            <a:r>
              <a:rPr i="1" lang="en-GB" sz="1400"/>
              <a:t>P_CODE</a:t>
            </a:r>
            <a:r>
              <a:rPr lang="en-GB" sz="1400">
                <a:solidFill>
                  <a:srgbClr val="9900FF"/>
                </a:solidFill>
              </a:rPr>
              <a:t>));</a:t>
            </a:r>
            <a:endParaRPr sz="1400">
              <a:solidFill>
                <a:srgbClr val="9900FF"/>
              </a:solidFill>
            </a:endParaRPr>
          </a:p>
        </p:txBody>
      </p:sp>
      <p:sp>
        <p:nvSpPr>
          <p:cNvPr id="242" name="Google Shape;242;p37"/>
          <p:cNvSpPr/>
          <p:nvPr/>
        </p:nvSpPr>
        <p:spPr>
          <a:xfrm>
            <a:off x="1601875" y="3124475"/>
            <a:ext cx="28158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7"/>
          <p:cNvSpPr txBox="1"/>
          <p:nvPr/>
        </p:nvSpPr>
        <p:spPr>
          <a:xfrm>
            <a:off x="6132150" y="2768100"/>
            <a:ext cx="2890800" cy="69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highlight>
                  <a:srgbClr val="FFFF00"/>
                </a:highlight>
              </a:rPr>
              <a:t>Composite PK </a:t>
            </a:r>
            <a:r>
              <a:rPr lang="en-GB"/>
              <a:t>→ should be defined as table constraint</a:t>
            </a:r>
            <a:endParaRPr/>
          </a:p>
        </p:txBody>
      </p:sp>
      <p:cxnSp>
        <p:nvCxnSpPr>
          <p:cNvPr id="244" name="Google Shape;244;p37"/>
          <p:cNvCxnSpPr>
            <a:stCxn id="243" idx="1"/>
            <a:endCxn id="242" idx="3"/>
          </p:cNvCxnSpPr>
          <p:nvPr/>
        </p:nvCxnSpPr>
        <p:spPr>
          <a:xfrm flipH="1">
            <a:off x="4417650" y="3113250"/>
            <a:ext cx="1714500" cy="207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37"/>
          <p:cNvSpPr/>
          <p:nvPr/>
        </p:nvSpPr>
        <p:spPr>
          <a:xfrm>
            <a:off x="2680350" y="4316875"/>
            <a:ext cx="30264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 txBox="1"/>
          <p:nvPr/>
        </p:nvSpPr>
        <p:spPr>
          <a:xfrm>
            <a:off x="6116300" y="4200325"/>
            <a:ext cx="2890800" cy="69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ensure the same product is not ordered twice in the same invoice</a:t>
            </a:r>
            <a:endParaRPr/>
          </a:p>
        </p:txBody>
      </p:sp>
      <p:cxnSp>
        <p:nvCxnSpPr>
          <p:cNvPr id="247" name="Google Shape;247;p37"/>
          <p:cNvCxnSpPr>
            <a:stCxn id="246" idx="1"/>
            <a:endCxn id="245" idx="3"/>
          </p:cNvCxnSpPr>
          <p:nvPr/>
        </p:nvCxnSpPr>
        <p:spPr>
          <a:xfrm rot="10800000">
            <a:off x="5706800" y="4513375"/>
            <a:ext cx="409500" cy="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37"/>
          <p:cNvSpPr/>
          <p:nvPr/>
        </p:nvSpPr>
        <p:spPr>
          <a:xfrm>
            <a:off x="4947725" y="3517475"/>
            <a:ext cx="2097900" cy="39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 txBox="1"/>
          <p:nvPr/>
        </p:nvSpPr>
        <p:spPr>
          <a:xfrm>
            <a:off x="7277700" y="3484225"/>
            <a:ext cx="1866300" cy="69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Recommended for </a:t>
            </a:r>
            <a:r>
              <a:rPr b="1" lang="en-GB">
                <a:highlight>
                  <a:srgbClr val="FFFF00"/>
                </a:highlight>
              </a:rPr>
              <a:t>weak entities</a:t>
            </a:r>
            <a:endParaRPr b="1">
              <a:highlight>
                <a:srgbClr val="FFFF00"/>
              </a:highlight>
            </a:endParaRPr>
          </a:p>
        </p:txBody>
      </p:sp>
      <p:cxnSp>
        <p:nvCxnSpPr>
          <p:cNvPr id="250" name="Google Shape;250;p37"/>
          <p:cNvCxnSpPr>
            <a:stCxn id="249" idx="1"/>
            <a:endCxn id="248" idx="3"/>
          </p:cNvCxnSpPr>
          <p:nvPr/>
        </p:nvCxnSpPr>
        <p:spPr>
          <a:xfrm rot="10800000">
            <a:off x="7045500" y="3713875"/>
            <a:ext cx="232200" cy="115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539925" y="445025"/>
            <a:ext cx="768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Few Notes</a:t>
            </a:r>
            <a:endParaRPr/>
          </a:p>
        </p:txBody>
      </p:sp>
      <p:sp>
        <p:nvSpPr>
          <p:cNvPr id="256" name="Google Shape;256;p38"/>
          <p:cNvSpPr txBox="1"/>
          <p:nvPr/>
        </p:nvSpPr>
        <p:spPr>
          <a:xfrm>
            <a:off x="539925" y="1017725"/>
            <a:ext cx="8521200" cy="3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RDMBS </a:t>
            </a:r>
            <a:r>
              <a:rPr lang="en-GB" sz="1800"/>
              <a:t>automatically enforces referential integrity </a:t>
            </a:r>
            <a:endParaRPr sz="18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FKs cannot be invalid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Parent record cannot be deleted if referenced by a child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>
                <a:highlight>
                  <a:srgbClr val="FFFF00"/>
                </a:highlight>
              </a:rPr>
              <a:t>order</a:t>
            </a:r>
            <a:r>
              <a:rPr lang="en-GB" sz="1800"/>
              <a:t> in which you create tables </a:t>
            </a:r>
            <a:r>
              <a:rPr b="1" lang="en-GB" sz="1800">
                <a:highlight>
                  <a:srgbClr val="FFFF00"/>
                </a:highlight>
              </a:rPr>
              <a:t>matters</a:t>
            </a:r>
            <a:endParaRPr b="1" sz="1800"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VENDOR should be created before PRODUCT.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Alwayse create the 1 side of a 1:M relationship first. </a:t>
            </a:r>
            <a:r>
              <a:rPr b="1" lang="en-GB">
                <a:highlight>
                  <a:srgbClr val="FFFF00"/>
                </a:highlight>
              </a:rPr>
              <a:t>Why? </a:t>
            </a:r>
            <a:endParaRPr b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highlight>
                  <a:srgbClr val="FFFF00"/>
                </a:highlight>
              </a:rPr>
              <a:t>Altering</a:t>
            </a:r>
            <a:r>
              <a:rPr lang="en-GB" sz="2400"/>
              <a:t> Table Structures</a:t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Altering &amp; Dropping Tables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311700" y="1152475"/>
            <a:ext cx="85206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use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ALTER TABLE</a:t>
            </a:r>
            <a:r>
              <a:rPr lang="en-GB">
                <a:solidFill>
                  <a:srgbClr val="9900FF"/>
                </a:solidFill>
              </a:rPr>
              <a:t> </a:t>
            </a:r>
            <a:r>
              <a:rPr lang="en-GB">
                <a:solidFill>
                  <a:srgbClr val="000000"/>
                </a:solidFill>
              </a:rPr>
              <a:t>command to: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-GB" sz="1400">
                <a:solidFill>
                  <a:srgbClr val="000000"/>
                </a:solidFill>
              </a:rPr>
              <a:t>Add / Modify columns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-GB" sz="1400">
                <a:solidFill>
                  <a:srgbClr val="000000"/>
                </a:solidFill>
              </a:rPr>
              <a:t>Add constraints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-GB" sz="1400">
                <a:solidFill>
                  <a:srgbClr val="000000"/>
                </a:solidFill>
              </a:rPr>
              <a:t>Remove a column / constraint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-GB" sz="1400">
                <a:solidFill>
                  <a:srgbClr val="000000"/>
                </a:solidFill>
              </a:rPr>
              <a:t>Change a column data type or other characteristics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You can use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DROP TABLE</a:t>
            </a:r>
            <a:r>
              <a:rPr lang="en-GB">
                <a:solidFill>
                  <a:srgbClr val="9900FF"/>
                </a:solidFill>
              </a:rPr>
              <a:t> </a:t>
            </a:r>
            <a:r>
              <a:rPr lang="en-GB">
                <a:solidFill>
                  <a:srgbClr val="000000"/>
                </a:solidFill>
              </a:rPr>
              <a:t>command to delete a table from the database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Checklist for Good Schema DDL</a:t>
            </a:r>
            <a:endParaRPr/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❏"/>
            </a:pPr>
            <a:r>
              <a:rPr lang="en-GB"/>
              <a:t>Primary Key defined.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❏"/>
            </a:pPr>
            <a:r>
              <a:rPr lang="en-GB"/>
              <a:t>Foreign Keys enforce relationships.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❏"/>
            </a:pPr>
            <a:r>
              <a:rPr lang="en-GB"/>
              <a:t>Data types match semantics.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❏"/>
            </a:pPr>
            <a:r>
              <a:rPr lang="en-GB"/>
              <a:t>Constraints enforce business rules.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Takeaways</a:t>
            </a:r>
            <a:endParaRPr/>
          </a:p>
        </p:txBody>
      </p:sp>
      <p:sp>
        <p:nvSpPr>
          <p:cNvPr id="279" name="Google Shape;27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DDL turns designs into actual databases.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Constraints protect integrity.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Sets up next week: DML (working with data).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