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Lst>
  <p:sldSz cy="5143500" cx="9144000"/>
  <p:notesSz cx="6858000" cy="9144000"/>
  <p:embeddedFontLst>
    <p:embeddedFont>
      <p:font typeface="Lora"/>
      <p:regular r:id="rId70"/>
      <p:bold r:id="rId71"/>
      <p:italic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font" Target="fonts/Lora-boldItalic.fntdata"/><Relationship Id="rId72" Type="http://schemas.openxmlformats.org/officeDocument/2006/relationships/font" Target="fonts/Lora-italic.fntdata"/><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71" Type="http://schemas.openxmlformats.org/officeDocument/2006/relationships/font" Target="fonts/Lora-bold.fntdata"/><Relationship Id="rId70" Type="http://schemas.openxmlformats.org/officeDocument/2006/relationships/font" Target="fonts/Lora-regular.fntdata"/><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7bdc3aaa5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7bdc3aaa5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8850e4de8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8850e4de8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8850e4de8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8850e4de8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8850e4de8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8850e4de8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8850e4de8c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8850e4de8c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8850e4de8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8850e4de8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8850e4de8c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8850e4de8c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8850e4de8c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8850e4de8c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8850e4de8c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8850e4de8c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8850e4de8c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8850e4de8c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8850e4de8c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8850e4de8c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8850e4de8c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8850e4de8c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8850e4de8c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8850e4de8c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8850e4de8c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8850e4de8c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8850e4de8c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8850e4de8c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8850e4de8c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8850e4de8c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8850e4de8c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8850e4de8c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8850e4de8c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8850e4de8c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8850e4de8c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8850e4de8c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8850e4de8c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8850e4de8c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8850e4de8c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8850e4de8c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8850e4de8c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8850e4de8c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8850e4de8c_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8850e4de8c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8850e4de8c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8850e4de8c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8850e4de8c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8850e4de8c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8850e4de8c_0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8850e4de8c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8850e4de8c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8850e4de8c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8850e4de8c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8850e4de8c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8850e4de8c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8850e4de8c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8850e4de8c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8850e4de8c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8850e4de8c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8850e4de8c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8850e4de8c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8850e4de8c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8850e4de8c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8850e4de8c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8850e4de8c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8850e4de8c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8850e4de8c_0_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8850e4de8c_0_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8850e4de8c_0_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8850e4de8c_0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8850e4de8c_0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8850e4de8c_0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8850e4de8c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8850e4de8c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8850e4de8c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8850e4de8c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8850e4de8c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8850e4de8c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8850e4de8c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8850e4de8c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8850e4de8c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8850e4de8c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8850e4de8c_0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8850e4de8c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8850e4de8c_0_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8850e4de8c_0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8850e4de8c_0_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8850e4de8c_0_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8850e4de8c_0_6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8850e4de8c_0_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8850e4de8c_0_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8850e4de8c_0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8850e4de8c_0_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8850e4de8c_0_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8850e4de8c_0_6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8850e4de8c_0_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8850e4de8c_0_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8850e4de8c_0_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8850e4de8c_0_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8850e4de8c_0_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8850e4de8c_0_6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8850e4de8c_0_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8850e4de8c_0_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8850e4de8c_0_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8850e4de8c_0_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8850e4de8c_0_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8850e4de8c_0_7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8850e4de8c_0_7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8850e4de8c_0_7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8850e4de8c_0_7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8850e4de8c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8850e4de8c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8850e4de8c_0_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8850e4de8c_0_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8850e4de8c_0_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8850e4de8c_0_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8850e4de8c_0_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8850e4de8c_0_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8850e4de8c_0_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38850e4de8c_0_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8850e4de8c_0_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8850e4de8c_0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8850e4de8c_0_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8850e4de8c_0_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8850e4de8c_0_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8850e4de8c_0_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8850e4de8c_0_9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38850e4de8c_0_9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
        <p:nvSpPr>
          <p:cNvPr id="9" name="Google Shape;9;p1"/>
          <p:cNvSpPr txBox="1"/>
          <p:nvPr/>
        </p:nvSpPr>
        <p:spPr>
          <a:xfrm>
            <a:off x="311700" y="4663225"/>
            <a:ext cx="34593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rgbClr val="E56B6A"/>
                </a:solidFill>
                <a:latin typeface="Lora"/>
                <a:ea typeface="Lora"/>
                <a:cs typeface="Lora"/>
                <a:sym typeface="Lora"/>
              </a:rPr>
              <a:t>COMP 2714</a:t>
            </a:r>
            <a:r>
              <a:rPr lang="en-GB" sz="1000">
                <a:latin typeface="Lora"/>
                <a:ea typeface="Lora"/>
                <a:cs typeface="Lora"/>
                <a:sym typeface="Lora"/>
              </a:rPr>
              <a:t> - </a:t>
            </a:r>
            <a:r>
              <a:rPr b="1" lang="en-GB" sz="1000">
                <a:latin typeface="Lora"/>
                <a:ea typeface="Lora"/>
                <a:cs typeface="Lora"/>
                <a:sym typeface="Lora"/>
              </a:rPr>
              <a:t>Maryam Khezrzadeh</a:t>
            </a:r>
            <a:endParaRPr b="1" sz="1000">
              <a:latin typeface="Lora"/>
              <a:ea typeface="Lora"/>
              <a:cs typeface="Lora"/>
              <a:sym typeface="Lora"/>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7.gi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7.gi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7.gi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 Id="rId3" Type="http://schemas.openxmlformats.org/officeDocument/2006/relationships/image" Target="../media/image8.gi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 Id="rId3" Type="http://schemas.openxmlformats.org/officeDocument/2006/relationships/image" Target="../media/image8.gi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 Id="rId3" Type="http://schemas.openxmlformats.org/officeDocument/2006/relationships/image" Target="../media/image8.gi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3.xml"/><Relationship Id="rId3" Type="http://schemas.openxmlformats.org/officeDocument/2006/relationships/image" Target="../media/image8.gi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8.gi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7.gi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7.xml"/><Relationship Id="rId3" Type="http://schemas.openxmlformats.org/officeDocument/2006/relationships/image" Target="../media/image8.gi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 Id="rId3" Type="http://schemas.openxmlformats.org/officeDocument/2006/relationships/image" Target="../media/image8.gi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 Id="rId3" Type="http://schemas.openxmlformats.org/officeDocument/2006/relationships/image" Target="../media/image20.gi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 Id="rId3" Type="http://schemas.openxmlformats.org/officeDocument/2006/relationships/image" Target="../media/image20.gi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8.gi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8.gi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8.gi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8.gi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24.gi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24.gi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24.gi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24.gi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25.gi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0.xml"/><Relationship Id="rId3" Type="http://schemas.openxmlformats.org/officeDocument/2006/relationships/image" Target="../media/image8.gi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3.xml"/><Relationship Id="rId3" Type="http://schemas.openxmlformats.org/officeDocument/2006/relationships/image" Target="../media/image2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4.xml"/><Relationship Id="rId3" Type="http://schemas.openxmlformats.org/officeDocument/2006/relationships/image" Target="../media/image23.png"/><Relationship Id="rId4" Type="http://schemas.openxmlformats.org/officeDocument/2006/relationships/image" Target="../media/image2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sz="4400"/>
              <a:t>Module 2: Enhanced ER Modeling</a:t>
            </a:r>
            <a:endParaRPr sz="4400"/>
          </a:p>
        </p:txBody>
      </p:sp>
      <p:sp>
        <p:nvSpPr>
          <p:cNvPr id="56" name="Google Shape;56;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888888"/>
              </a:buClr>
              <a:buSzPts val="3200"/>
              <a:buFont typeface="Arial"/>
              <a:buNone/>
            </a:pPr>
            <a:r>
              <a:rPr lang="en-GB" sz="1300">
                <a:solidFill>
                  <a:srgbClr val="888888"/>
                </a:solidFill>
              </a:rPr>
              <a:t>COMP 2714 – Relational Database Systems</a:t>
            </a:r>
            <a:endParaRPr sz="1300"/>
          </a:p>
          <a:p>
            <a:pPr indent="0" lvl="0" marL="0" rtl="0" algn="ctr">
              <a:spcBef>
                <a:spcPts val="640"/>
              </a:spcBef>
              <a:spcAft>
                <a:spcPts val="0"/>
              </a:spcAft>
              <a:buClr>
                <a:srgbClr val="888888"/>
              </a:buClr>
              <a:buSzPts val="3200"/>
              <a:buFont typeface="Arial"/>
              <a:buNone/>
            </a:pPr>
            <a:r>
              <a:rPr lang="en-GB" sz="1300">
                <a:solidFill>
                  <a:srgbClr val="888888"/>
                </a:solidFill>
              </a:rPr>
              <a:t>Learning Outcome: LO2 – Apply techniques of database design including enhanced entity–relationship modeling.</a:t>
            </a:r>
            <a:endParaRPr sz="1300"/>
          </a:p>
          <a:p>
            <a:pPr indent="0" lvl="0" marL="0" rtl="0" algn="l">
              <a:spcBef>
                <a:spcPts val="0"/>
              </a:spcBef>
              <a:spcAft>
                <a:spcPts val="0"/>
              </a:spcAft>
              <a:buNone/>
            </a:pPr>
            <a:r>
              <a:t/>
            </a:r>
            <a:endParaRPr sz="1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Blueprint for a database?</a:t>
            </a:r>
            <a:endParaRPr/>
          </a:p>
        </p:txBody>
      </p:sp>
      <p:sp>
        <p:nvSpPr>
          <p:cNvPr id="62" name="Google Shape;62;p14"/>
          <p:cNvSpPr txBox="1"/>
          <p:nvPr>
            <p:ph idx="1" type="body"/>
          </p:nvPr>
        </p:nvSpPr>
        <p:spPr>
          <a:xfrm>
            <a:off x="603600" y="1375625"/>
            <a:ext cx="7936800" cy="1216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Like building </a:t>
            </a:r>
            <a:r>
              <a:rPr b="1" lang="en-GB">
                <a:highlight>
                  <a:srgbClr val="00FF00"/>
                </a:highlight>
              </a:rPr>
              <a:t>cars</a:t>
            </a:r>
            <a:r>
              <a:rPr lang="en-GB"/>
              <a:t> or building </a:t>
            </a:r>
            <a:r>
              <a:rPr b="1" lang="en-GB">
                <a:highlight>
                  <a:srgbClr val="00FFFF"/>
                </a:highlight>
              </a:rPr>
              <a:t>houses</a:t>
            </a:r>
            <a:r>
              <a:rPr lang="en-GB"/>
              <a:t>, building a database needs a blueprint</a:t>
            </a:r>
            <a:endParaRPr/>
          </a:p>
          <a:p>
            <a:pPr indent="-342900" lvl="0" marL="457200" rtl="0" algn="l">
              <a:spcBef>
                <a:spcPts val="0"/>
              </a:spcBef>
              <a:spcAft>
                <a:spcPts val="0"/>
              </a:spcAft>
              <a:buSzPts val="1800"/>
              <a:buChar char="-"/>
            </a:pPr>
            <a:r>
              <a:rPr lang="en-GB"/>
              <a:t>We need to create a </a:t>
            </a:r>
            <a:r>
              <a:rPr b="1" lang="en-GB">
                <a:highlight>
                  <a:srgbClr val="FFFF00"/>
                </a:highlight>
              </a:rPr>
              <a:t>model first</a:t>
            </a:r>
            <a:r>
              <a:rPr lang="en-GB"/>
              <a:t> and then implement it</a:t>
            </a:r>
            <a:endParaRPr/>
          </a:p>
          <a:p>
            <a:pPr indent="0" lvl="0" marL="457200" rtl="0" algn="l">
              <a:spcBef>
                <a:spcPts val="1600"/>
              </a:spcBef>
              <a:spcAft>
                <a:spcPts val="0"/>
              </a:spcAft>
              <a:buNone/>
            </a:pPr>
            <a:r>
              <a:t/>
            </a:r>
            <a:endParaRPr/>
          </a:p>
          <a:p>
            <a:pPr indent="0" lvl="0" marL="457200" rtl="0" algn="l">
              <a:spcBef>
                <a:spcPts val="1600"/>
              </a:spcBef>
              <a:spcAft>
                <a:spcPts val="1600"/>
              </a:spcAft>
              <a:buNone/>
            </a:pPr>
            <a:r>
              <a:t/>
            </a:r>
            <a:endParaRPr/>
          </a:p>
        </p:txBody>
      </p:sp>
      <p:sp>
        <p:nvSpPr>
          <p:cNvPr id="63" name="Google Shape;63;p14"/>
          <p:cNvSpPr txBox="1"/>
          <p:nvPr/>
        </p:nvSpPr>
        <p:spPr>
          <a:xfrm>
            <a:off x="2197575" y="2950025"/>
            <a:ext cx="5428500" cy="4752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1600"/>
              </a:spcAft>
              <a:buNone/>
            </a:pPr>
            <a:r>
              <a:rPr lang="en-GB" sz="1800">
                <a:solidFill>
                  <a:schemeClr val="dk2"/>
                </a:solidFill>
              </a:rPr>
              <a:t>How do we create a model for a database? </a:t>
            </a:r>
            <a:endParaRPr/>
          </a:p>
        </p:txBody>
      </p:sp>
      <p:pic>
        <p:nvPicPr>
          <p:cNvPr id="64" name="Google Shape;64;p14"/>
          <p:cNvPicPr preferRelativeResize="0"/>
          <p:nvPr/>
        </p:nvPicPr>
        <p:blipFill>
          <a:blip r:embed="rId3">
            <a:alphaModFix/>
          </a:blip>
          <a:stretch>
            <a:fillRect/>
          </a:stretch>
        </p:blipFill>
        <p:spPr>
          <a:xfrm>
            <a:off x="1580893" y="2684818"/>
            <a:ext cx="1005600" cy="1005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What is a data model?</a:t>
            </a:r>
            <a:endParaRPr/>
          </a:p>
        </p:txBody>
      </p:sp>
      <p:sp>
        <p:nvSpPr>
          <p:cNvPr id="70" name="Google Shape;70;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342900" lvl="0" marL="457200" rtl="0" algn="l">
              <a:spcBef>
                <a:spcPts val="1600"/>
              </a:spcBef>
              <a:spcAft>
                <a:spcPts val="0"/>
              </a:spcAft>
              <a:buSzPts val="1800"/>
              <a:buChar char="-"/>
            </a:pPr>
            <a:r>
              <a:rPr lang="en-GB"/>
              <a:t>Remember that  a vital part of the database designer’s job is to determine </a:t>
            </a:r>
            <a:r>
              <a:rPr b="1" lang="en-GB">
                <a:highlight>
                  <a:srgbClr val="FFFF00"/>
                </a:highlight>
              </a:rPr>
              <a:t>what data</a:t>
            </a:r>
            <a:r>
              <a:rPr lang="en-GB"/>
              <a:t> to enter into the database and </a:t>
            </a:r>
            <a:r>
              <a:rPr b="1" lang="en-GB">
                <a:highlight>
                  <a:srgbClr val="00FF00"/>
                </a:highlight>
              </a:rPr>
              <a:t>how to organize</a:t>
            </a:r>
            <a:r>
              <a:rPr lang="en-GB"/>
              <a:t> that data</a:t>
            </a:r>
            <a:endParaRPr/>
          </a:p>
          <a:p>
            <a:pPr indent="-342900" lvl="0" marL="457200" rtl="0" algn="l">
              <a:spcBef>
                <a:spcPts val="0"/>
              </a:spcBef>
              <a:spcAft>
                <a:spcPts val="0"/>
              </a:spcAft>
              <a:buSzPts val="1800"/>
              <a:buChar char="-"/>
            </a:pPr>
            <a:r>
              <a:rPr lang="en-GB"/>
              <a:t>A data model defines and describes the </a:t>
            </a:r>
            <a:r>
              <a:rPr b="1" lang="en-GB">
                <a:highlight>
                  <a:srgbClr val="00FFFF"/>
                </a:highlight>
              </a:rPr>
              <a:t>structures</a:t>
            </a:r>
            <a:r>
              <a:rPr lang="en-GB"/>
              <a:t> for storing data , the </a:t>
            </a:r>
            <a:r>
              <a:rPr b="1" lang="en-GB">
                <a:highlight>
                  <a:srgbClr val="00FFFF"/>
                </a:highlight>
              </a:rPr>
              <a:t>rules</a:t>
            </a:r>
            <a:r>
              <a:rPr lang="en-GB"/>
              <a:t> for ensuring data integrity and the methodologies for data </a:t>
            </a:r>
            <a:r>
              <a:rPr b="1" lang="en-GB">
                <a:highlight>
                  <a:srgbClr val="00FFFF"/>
                </a:highlight>
              </a:rPr>
              <a:t>access</a:t>
            </a:r>
            <a:r>
              <a:rPr lang="en-GB"/>
              <a:t> and manipulation</a:t>
            </a:r>
            <a:endParaRPr/>
          </a:p>
          <a:p>
            <a:pPr indent="-342900" lvl="0" marL="457200" rtl="0" algn="l">
              <a:spcBef>
                <a:spcPts val="0"/>
              </a:spcBef>
              <a:spcAft>
                <a:spcPts val="0"/>
              </a:spcAft>
              <a:buSzPts val="1800"/>
              <a:buChar char="-"/>
            </a:pPr>
            <a:r>
              <a:rPr lang="en-GB"/>
              <a:t>A data model is both </a:t>
            </a:r>
            <a:r>
              <a:rPr b="1" lang="en-GB">
                <a:highlight>
                  <a:srgbClr val="FFE599"/>
                </a:highlight>
              </a:rPr>
              <a:t>narrative &amp; graphical</a:t>
            </a:r>
            <a:endParaRPr b="1">
              <a:highlight>
                <a:srgbClr val="FFE599"/>
              </a:highlight>
            </a:endParaRPr>
          </a:p>
          <a:p>
            <a:pPr indent="0" lvl="0" marL="45720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Data Model Building Blocks</a:t>
            </a:r>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GB">
                <a:highlight>
                  <a:srgbClr val="FFFF00"/>
                </a:highlight>
              </a:rPr>
              <a:t>Entities</a:t>
            </a:r>
            <a:r>
              <a:rPr b="1" lang="en-GB" sz="2400">
                <a:highlight>
                  <a:srgbClr val="FFFF00"/>
                </a:highlight>
              </a:rPr>
              <a:t> </a:t>
            </a:r>
            <a:endParaRPr b="1" sz="2400">
              <a:highlight>
                <a:srgbClr val="FFFF00"/>
              </a:highlight>
            </a:endParaRPr>
          </a:p>
        </p:txBody>
      </p:sp>
      <p:sp>
        <p:nvSpPr>
          <p:cNvPr id="77" name="Google Shape;77;p16"/>
          <p:cNvSpPr/>
          <p:nvPr/>
        </p:nvSpPr>
        <p:spPr>
          <a:xfrm>
            <a:off x="2903038" y="1451175"/>
            <a:ext cx="1615500" cy="114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t>CUSTOMER</a:t>
            </a:r>
            <a:endParaRPr b="1"/>
          </a:p>
          <a:p>
            <a:pPr indent="0" lvl="0" marL="0" rtl="0" algn="ctr">
              <a:spcBef>
                <a:spcPts val="0"/>
              </a:spcBef>
              <a:spcAft>
                <a:spcPts val="0"/>
              </a:spcAft>
              <a:buNone/>
            </a:pPr>
            <a:r>
              <a:t/>
            </a:r>
            <a:endParaRPr b="1"/>
          </a:p>
          <a:p>
            <a:pPr indent="0" lvl="0" marL="0" rtl="0" algn="ctr">
              <a:spcBef>
                <a:spcPts val="0"/>
              </a:spcBef>
              <a:spcAft>
                <a:spcPts val="0"/>
              </a:spcAft>
              <a:buNone/>
            </a:pPr>
            <a:r>
              <a:t/>
            </a:r>
            <a:endParaRPr b="1"/>
          </a:p>
          <a:p>
            <a:pPr indent="0" lvl="0" marL="0" rtl="0" algn="ctr">
              <a:spcBef>
                <a:spcPts val="0"/>
              </a:spcBef>
              <a:spcAft>
                <a:spcPts val="0"/>
              </a:spcAft>
              <a:buNone/>
            </a:pPr>
            <a:r>
              <a:t/>
            </a:r>
            <a:endParaRPr b="1"/>
          </a:p>
        </p:txBody>
      </p:sp>
      <p:cxnSp>
        <p:nvCxnSpPr>
          <p:cNvPr id="78" name="Google Shape;78;p16"/>
          <p:cNvCxnSpPr/>
          <p:nvPr/>
        </p:nvCxnSpPr>
        <p:spPr>
          <a:xfrm>
            <a:off x="2903038" y="1902550"/>
            <a:ext cx="1615500" cy="0"/>
          </a:xfrm>
          <a:prstGeom prst="straightConnector1">
            <a:avLst/>
          </a:prstGeom>
          <a:noFill/>
          <a:ln cap="flat" cmpd="sng" w="9525">
            <a:solidFill>
              <a:schemeClr val="dk2"/>
            </a:solidFill>
            <a:prstDash val="solid"/>
            <a:round/>
            <a:headEnd len="med" w="med" type="none"/>
            <a:tailEnd len="med" w="med" type="none"/>
          </a:ln>
        </p:spPr>
      </p:cxnSp>
      <p:sp>
        <p:nvSpPr>
          <p:cNvPr id="79" name="Google Shape;79;p16"/>
          <p:cNvSpPr txBox="1"/>
          <p:nvPr/>
        </p:nvSpPr>
        <p:spPr>
          <a:xfrm>
            <a:off x="4744263" y="1451175"/>
            <a:ext cx="1496700" cy="114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 Last name</a:t>
            </a:r>
            <a:endParaRPr/>
          </a:p>
          <a:p>
            <a:pPr indent="0" lvl="0" marL="0" rtl="0" algn="l">
              <a:spcBef>
                <a:spcPts val="0"/>
              </a:spcBef>
              <a:spcAft>
                <a:spcPts val="0"/>
              </a:spcAft>
              <a:buNone/>
            </a:pPr>
            <a:r>
              <a:rPr lang="en-GB"/>
              <a:t>- first name</a:t>
            </a:r>
            <a:endParaRPr/>
          </a:p>
          <a:p>
            <a:pPr indent="0" lvl="0" marL="0" rtl="0" algn="l">
              <a:spcBef>
                <a:spcPts val="0"/>
              </a:spcBef>
              <a:spcAft>
                <a:spcPts val="0"/>
              </a:spcAft>
              <a:buNone/>
            </a:pPr>
            <a:r>
              <a:rPr lang="en-GB"/>
              <a:t>- phone number </a:t>
            </a:r>
            <a:endParaRPr/>
          </a:p>
          <a:p>
            <a:pPr indent="0" lvl="0" marL="0" rtl="0" algn="l">
              <a:spcBef>
                <a:spcPts val="0"/>
              </a:spcBef>
              <a:spcAft>
                <a:spcPts val="0"/>
              </a:spcAft>
              <a:buNone/>
            </a:pPr>
            <a:r>
              <a:rPr lang="en-GB"/>
              <a:t>- ...</a:t>
            </a:r>
            <a:endParaRPr/>
          </a:p>
          <a:p>
            <a:pPr indent="0" lvl="0" marL="0" rtl="0" algn="l">
              <a:spcBef>
                <a:spcPts val="0"/>
              </a:spcBef>
              <a:spcAft>
                <a:spcPts val="0"/>
              </a:spcAft>
              <a:buNone/>
            </a:pPr>
            <a:r>
              <a:t/>
            </a:r>
            <a:endParaRPr/>
          </a:p>
        </p:txBody>
      </p:sp>
      <p:sp>
        <p:nvSpPr>
          <p:cNvPr id="80" name="Google Shape;80;p16"/>
          <p:cNvSpPr/>
          <p:nvPr/>
        </p:nvSpPr>
        <p:spPr>
          <a:xfrm>
            <a:off x="2903038" y="3129875"/>
            <a:ext cx="1615500" cy="114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t>AGENT</a:t>
            </a:r>
            <a:endParaRPr b="1"/>
          </a:p>
          <a:p>
            <a:pPr indent="0" lvl="0" marL="0" rtl="0" algn="ctr">
              <a:spcBef>
                <a:spcPts val="0"/>
              </a:spcBef>
              <a:spcAft>
                <a:spcPts val="0"/>
              </a:spcAft>
              <a:buNone/>
            </a:pPr>
            <a:r>
              <a:t/>
            </a:r>
            <a:endParaRPr b="1"/>
          </a:p>
          <a:p>
            <a:pPr indent="0" lvl="0" marL="0" rtl="0" algn="ctr">
              <a:spcBef>
                <a:spcPts val="0"/>
              </a:spcBef>
              <a:spcAft>
                <a:spcPts val="0"/>
              </a:spcAft>
              <a:buNone/>
            </a:pPr>
            <a:r>
              <a:t/>
            </a:r>
            <a:endParaRPr b="1"/>
          </a:p>
          <a:p>
            <a:pPr indent="0" lvl="0" marL="0" rtl="0" algn="ctr">
              <a:spcBef>
                <a:spcPts val="0"/>
              </a:spcBef>
              <a:spcAft>
                <a:spcPts val="0"/>
              </a:spcAft>
              <a:buNone/>
            </a:pPr>
            <a:r>
              <a:t/>
            </a:r>
            <a:endParaRPr b="1"/>
          </a:p>
        </p:txBody>
      </p:sp>
      <p:cxnSp>
        <p:nvCxnSpPr>
          <p:cNvPr id="81" name="Google Shape;81;p16"/>
          <p:cNvCxnSpPr/>
          <p:nvPr/>
        </p:nvCxnSpPr>
        <p:spPr>
          <a:xfrm>
            <a:off x="2903038" y="3581250"/>
            <a:ext cx="1615500" cy="0"/>
          </a:xfrm>
          <a:prstGeom prst="straightConnector1">
            <a:avLst/>
          </a:prstGeom>
          <a:noFill/>
          <a:ln cap="flat" cmpd="sng" w="9525">
            <a:solidFill>
              <a:schemeClr val="dk2"/>
            </a:solidFill>
            <a:prstDash val="solid"/>
            <a:round/>
            <a:headEnd len="med" w="med" type="none"/>
            <a:tailEnd len="med" w="med" type="none"/>
          </a:ln>
        </p:spPr>
      </p:cxnSp>
      <p:cxnSp>
        <p:nvCxnSpPr>
          <p:cNvPr id="82" name="Google Shape;82;p16"/>
          <p:cNvCxnSpPr>
            <a:stCxn id="77" idx="2"/>
            <a:endCxn id="80" idx="0"/>
          </p:cNvCxnSpPr>
          <p:nvPr/>
        </p:nvCxnSpPr>
        <p:spPr>
          <a:xfrm>
            <a:off x="3710788" y="2591475"/>
            <a:ext cx="0" cy="538500"/>
          </a:xfrm>
          <a:prstGeom prst="straightConnector1">
            <a:avLst/>
          </a:prstGeom>
          <a:noFill/>
          <a:ln cap="flat" cmpd="sng" w="38100">
            <a:solidFill>
              <a:srgbClr val="FF0000"/>
            </a:solidFill>
            <a:prstDash val="solid"/>
            <a:round/>
            <a:headEnd len="med" w="med" type="none"/>
            <a:tailEnd len="med" w="med" type="none"/>
          </a:ln>
        </p:spPr>
      </p:cxnSp>
      <p:sp>
        <p:nvSpPr>
          <p:cNvPr id="83" name="Google Shape;83;p16"/>
          <p:cNvSpPr txBox="1"/>
          <p:nvPr/>
        </p:nvSpPr>
        <p:spPr>
          <a:xfrm>
            <a:off x="6684725" y="1558275"/>
            <a:ext cx="1758000" cy="46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highlight>
                  <a:srgbClr val="FFFF00"/>
                </a:highlight>
              </a:rPr>
              <a:t>Attributes</a:t>
            </a:r>
            <a:endParaRPr b="1" sz="1800">
              <a:highlight>
                <a:srgbClr val="FFFF00"/>
              </a:highlight>
            </a:endParaRPr>
          </a:p>
        </p:txBody>
      </p:sp>
      <p:sp>
        <p:nvSpPr>
          <p:cNvPr id="84" name="Google Shape;84;p16"/>
          <p:cNvSpPr/>
          <p:nvPr/>
        </p:nvSpPr>
        <p:spPr>
          <a:xfrm>
            <a:off x="6355125" y="1332425"/>
            <a:ext cx="274831" cy="1140261"/>
          </a:xfrm>
          <a:custGeom>
            <a:rect b="b" l="l" r="r" t="t"/>
            <a:pathLst>
              <a:path extrusionOk="0" h="44325" w="11944">
                <a:moveTo>
                  <a:pt x="475" y="0"/>
                </a:moveTo>
                <a:cubicBezTo>
                  <a:pt x="4657" y="836"/>
                  <a:pt x="4193" y="7741"/>
                  <a:pt x="5227" y="11879"/>
                </a:cubicBezTo>
                <a:cubicBezTo>
                  <a:pt x="5881" y="14496"/>
                  <a:pt x="9496" y="15199"/>
                  <a:pt x="11404" y="17105"/>
                </a:cubicBezTo>
                <a:cubicBezTo>
                  <a:pt x="13319" y="19018"/>
                  <a:pt x="8553" y="22001"/>
                  <a:pt x="8553" y="24708"/>
                </a:cubicBezTo>
                <a:cubicBezTo>
                  <a:pt x="8553" y="30418"/>
                  <a:pt x="12057" y="36705"/>
                  <a:pt x="9503" y="41813"/>
                </a:cubicBezTo>
                <a:cubicBezTo>
                  <a:pt x="8043" y="44733"/>
                  <a:pt x="3265" y="44189"/>
                  <a:pt x="0" y="44189"/>
                </a:cubicBezTo>
              </a:path>
            </a:pathLst>
          </a:custGeom>
          <a:noFill/>
          <a:ln cap="flat" cmpd="sng" w="9525">
            <a:solidFill>
              <a:schemeClr val="dk2"/>
            </a:solidFill>
            <a:prstDash val="solid"/>
            <a:round/>
            <a:headEnd len="med" w="med" type="none"/>
            <a:tailEnd len="med" w="med" type="none"/>
          </a:ln>
        </p:spPr>
      </p:sp>
      <p:cxnSp>
        <p:nvCxnSpPr>
          <p:cNvPr id="85" name="Google Shape;85;p16"/>
          <p:cNvCxnSpPr>
            <a:stCxn id="77" idx="2"/>
          </p:cNvCxnSpPr>
          <p:nvPr/>
        </p:nvCxnSpPr>
        <p:spPr>
          <a:xfrm>
            <a:off x="3710788" y="2591475"/>
            <a:ext cx="0" cy="0"/>
          </a:xfrm>
          <a:prstGeom prst="straightConnector1">
            <a:avLst/>
          </a:prstGeom>
          <a:noFill/>
          <a:ln cap="flat" cmpd="sng" w="9525">
            <a:solidFill>
              <a:schemeClr val="dk2"/>
            </a:solidFill>
            <a:prstDash val="solid"/>
            <a:round/>
            <a:headEnd len="med" w="med" type="none"/>
            <a:tailEnd len="med" w="med" type="none"/>
          </a:ln>
        </p:spPr>
      </p:cxnSp>
      <p:sp>
        <p:nvSpPr>
          <p:cNvPr id="86" name="Google Shape;86;p16"/>
          <p:cNvSpPr txBox="1"/>
          <p:nvPr/>
        </p:nvSpPr>
        <p:spPr>
          <a:xfrm>
            <a:off x="4858400" y="2592525"/>
            <a:ext cx="2102400" cy="53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highlight>
                  <a:srgbClr val="FFFF00"/>
                </a:highlight>
              </a:rPr>
              <a:t>Relationship</a:t>
            </a:r>
            <a:endParaRPr b="1" sz="1800">
              <a:highlight>
                <a:srgbClr val="FFFF00"/>
              </a:highlight>
            </a:endParaRPr>
          </a:p>
        </p:txBody>
      </p:sp>
      <p:cxnSp>
        <p:nvCxnSpPr>
          <p:cNvPr id="87" name="Google Shape;87;p16"/>
          <p:cNvCxnSpPr>
            <a:stCxn id="86" idx="1"/>
          </p:cNvCxnSpPr>
          <p:nvPr/>
        </p:nvCxnSpPr>
        <p:spPr>
          <a:xfrm flipH="1">
            <a:off x="3777500" y="2861775"/>
            <a:ext cx="1080900" cy="2100"/>
          </a:xfrm>
          <a:prstGeom prst="straightConnector1">
            <a:avLst/>
          </a:prstGeom>
          <a:noFill/>
          <a:ln cap="flat" cmpd="sng" w="9525">
            <a:solidFill>
              <a:schemeClr val="dk2"/>
            </a:solidFill>
            <a:prstDash val="solid"/>
            <a:round/>
            <a:headEnd len="med" w="med" type="none"/>
            <a:tailEnd len="med" w="med" type="triangle"/>
          </a:ln>
        </p:spPr>
      </p:cxnSp>
      <p:sp>
        <p:nvSpPr>
          <p:cNvPr id="88" name="Google Shape;88;p16"/>
          <p:cNvSpPr txBox="1"/>
          <p:nvPr/>
        </p:nvSpPr>
        <p:spPr>
          <a:xfrm>
            <a:off x="4858400" y="3430775"/>
            <a:ext cx="2102400" cy="53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highlight>
                  <a:srgbClr val="FFFF00"/>
                </a:highlight>
              </a:rPr>
              <a:t>Constraint</a:t>
            </a:r>
            <a:r>
              <a:rPr b="1" lang="en-GB" sz="2400">
                <a:highlight>
                  <a:srgbClr val="FFFF00"/>
                </a:highlight>
              </a:rPr>
              <a:t>:</a:t>
            </a:r>
            <a:endParaRPr b="1" sz="2400">
              <a:highlight>
                <a:srgbClr val="FFFF00"/>
              </a:highlight>
            </a:endParaRPr>
          </a:p>
        </p:txBody>
      </p:sp>
      <p:sp>
        <p:nvSpPr>
          <p:cNvPr id="89" name="Google Shape;89;p16"/>
          <p:cNvSpPr txBox="1"/>
          <p:nvPr/>
        </p:nvSpPr>
        <p:spPr>
          <a:xfrm>
            <a:off x="4858400" y="3969275"/>
            <a:ext cx="4098000" cy="46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t>Agent’s Salary</a:t>
            </a:r>
            <a:r>
              <a:rPr lang="en-GB"/>
              <a:t> must be between 6,000 - 110,000</a:t>
            </a:r>
            <a:endParaRPr/>
          </a:p>
        </p:txBody>
      </p:sp>
      <p:cxnSp>
        <p:nvCxnSpPr>
          <p:cNvPr id="90" name="Google Shape;90;p16"/>
          <p:cNvCxnSpPr/>
          <p:nvPr/>
        </p:nvCxnSpPr>
        <p:spPr>
          <a:xfrm>
            <a:off x="1356838" y="1457825"/>
            <a:ext cx="1546200" cy="2242200"/>
          </a:xfrm>
          <a:prstGeom prst="straightConnector1">
            <a:avLst/>
          </a:prstGeom>
          <a:noFill/>
          <a:ln cap="flat" cmpd="sng" w="9525">
            <a:solidFill>
              <a:schemeClr val="dk2"/>
            </a:solidFill>
            <a:prstDash val="solid"/>
            <a:round/>
            <a:headEnd len="med" w="med" type="none"/>
            <a:tailEnd len="med" w="med" type="triangle"/>
          </a:ln>
        </p:spPr>
      </p:cxnSp>
      <p:cxnSp>
        <p:nvCxnSpPr>
          <p:cNvPr id="91" name="Google Shape;91;p16"/>
          <p:cNvCxnSpPr/>
          <p:nvPr/>
        </p:nvCxnSpPr>
        <p:spPr>
          <a:xfrm>
            <a:off x="1356925" y="1457775"/>
            <a:ext cx="1546200" cy="563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Business Rules</a:t>
            </a:r>
            <a:endParaRPr/>
          </a:p>
        </p:txBody>
      </p:sp>
      <p:sp>
        <p:nvSpPr>
          <p:cNvPr id="97" name="Google Shape;97;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en-GB"/>
              <a:t>To</a:t>
            </a:r>
            <a:r>
              <a:rPr b="1" lang="en-GB">
                <a:highlight>
                  <a:srgbClr val="FFFF00"/>
                </a:highlight>
              </a:rPr>
              <a:t> discover</a:t>
            </a:r>
            <a:r>
              <a:rPr lang="en-GB"/>
              <a:t> business rules ask these questions:</a:t>
            </a:r>
            <a:endParaRPr/>
          </a:p>
          <a:p>
            <a:pPr indent="-342900" lvl="0" marL="914400" rtl="0" algn="l">
              <a:spcBef>
                <a:spcPts val="1600"/>
              </a:spcBef>
              <a:spcAft>
                <a:spcPts val="0"/>
              </a:spcAft>
              <a:buSzPts val="1800"/>
              <a:buChar char="-"/>
            </a:pPr>
            <a:r>
              <a:rPr lang="en-GB"/>
              <a:t>What data exists?</a:t>
            </a:r>
            <a:endParaRPr/>
          </a:p>
          <a:p>
            <a:pPr indent="-342900" lvl="0" marL="914400" rtl="0" algn="l">
              <a:spcBef>
                <a:spcPts val="0"/>
              </a:spcBef>
              <a:spcAft>
                <a:spcPts val="0"/>
              </a:spcAft>
              <a:buSzPts val="1800"/>
              <a:buChar char="-"/>
            </a:pPr>
            <a:r>
              <a:rPr lang="en-GB"/>
              <a:t>How is it used?</a:t>
            </a:r>
            <a:endParaRPr/>
          </a:p>
          <a:p>
            <a:pPr indent="0" lvl="0" marL="457200" rtl="0" algn="l">
              <a:spcBef>
                <a:spcPts val="1600"/>
              </a:spcBef>
              <a:spcAft>
                <a:spcPts val="0"/>
              </a:spcAft>
              <a:buNone/>
            </a:pPr>
            <a:r>
              <a:rPr lang="en-GB"/>
              <a:t>You should </a:t>
            </a:r>
            <a:r>
              <a:rPr b="1" lang="en-GB">
                <a:highlight>
                  <a:srgbClr val="00FF00"/>
                </a:highlight>
              </a:rPr>
              <a:t>write down</a:t>
            </a:r>
            <a:r>
              <a:rPr lang="en-GB"/>
              <a:t> the business rules as you discover them and try to verify their validity by asking multiple people in an organization to share their view of data and what they are using it for.</a:t>
            </a:r>
            <a:endParaRPr/>
          </a:p>
          <a:p>
            <a:pPr indent="0" lvl="0" marL="457200" rtl="0" algn="l">
              <a:spcBef>
                <a:spcPts val="1600"/>
              </a:spcBef>
              <a:spcAft>
                <a:spcPts val="1600"/>
              </a:spcAft>
              <a:buNone/>
            </a:pPr>
            <a:r>
              <a:rPr lang="en-GB"/>
              <a:t>Business rules </a:t>
            </a:r>
            <a:r>
              <a:rPr b="1" lang="en-GB">
                <a:highlight>
                  <a:srgbClr val="00FFFF"/>
                </a:highlight>
              </a:rPr>
              <a:t>establish entities and the relationships</a:t>
            </a:r>
            <a:r>
              <a:rPr lang="en-GB"/>
              <a:t> between them as well as data </a:t>
            </a:r>
            <a:r>
              <a:rPr b="1" lang="en-GB">
                <a:highlight>
                  <a:srgbClr val="FFD966"/>
                </a:highlight>
              </a:rPr>
              <a:t>constraints</a:t>
            </a:r>
            <a:r>
              <a:rPr lang="en-GB"/>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Examples of Business Rules</a:t>
            </a:r>
            <a:endParaRPr/>
          </a:p>
        </p:txBody>
      </p:sp>
      <p:sp>
        <p:nvSpPr>
          <p:cNvPr id="103" name="Google Shape;103;p18"/>
          <p:cNvSpPr txBox="1"/>
          <p:nvPr>
            <p:ph idx="1" type="body"/>
          </p:nvPr>
        </p:nvSpPr>
        <p:spPr>
          <a:xfrm>
            <a:off x="603600" y="1619125"/>
            <a:ext cx="7936800" cy="2363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GB">
                <a:highlight>
                  <a:srgbClr val="FFFF00"/>
                </a:highlight>
              </a:rPr>
              <a:t>A pilot</a:t>
            </a:r>
            <a:r>
              <a:rPr lang="en-GB"/>
              <a:t> cannot be on duty for more than 10 hours during a 24-hour period. </a:t>
            </a:r>
            <a:endParaRPr/>
          </a:p>
          <a:p>
            <a:pPr indent="-342900" lvl="0" marL="457200" rtl="0" algn="l">
              <a:spcBef>
                <a:spcPts val="0"/>
              </a:spcBef>
              <a:spcAft>
                <a:spcPts val="0"/>
              </a:spcAft>
              <a:buSzPts val="1800"/>
              <a:buChar char="●"/>
            </a:pPr>
            <a:r>
              <a:rPr b="1" lang="en-GB">
                <a:highlight>
                  <a:srgbClr val="00FF00"/>
                </a:highlight>
              </a:rPr>
              <a:t>A professor</a:t>
            </a:r>
            <a:r>
              <a:rPr lang="en-GB"/>
              <a:t> may teach up to four classes during a semester.</a:t>
            </a:r>
            <a:endParaRPr/>
          </a:p>
          <a:p>
            <a:pPr indent="0" lvl="0" marL="457200" rtl="0" algn="ctr">
              <a:spcBef>
                <a:spcPts val="1600"/>
              </a:spcBef>
              <a:spcAft>
                <a:spcPts val="16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Entity Relationship Diagram (ERD)</a:t>
            </a:r>
            <a:endParaRPr/>
          </a:p>
        </p:txBody>
      </p:sp>
      <p:sp>
        <p:nvSpPr>
          <p:cNvPr id="109" name="Google Shape;109;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Entity</a:t>
            </a:r>
            <a:endParaRPr/>
          </a:p>
          <a:p>
            <a:pPr indent="-342900" lvl="0" marL="457200" rtl="0" algn="l">
              <a:spcBef>
                <a:spcPts val="1600"/>
              </a:spcBef>
              <a:spcAft>
                <a:spcPts val="0"/>
              </a:spcAft>
              <a:buSzPts val="1800"/>
              <a:buChar char="-"/>
            </a:pPr>
            <a:r>
              <a:rPr lang="en-GB"/>
              <a:t>A person, place, thing, concept, or event for which data can be stored. </a:t>
            </a:r>
            <a:endParaRPr/>
          </a:p>
          <a:p>
            <a:pPr indent="-342900" lvl="0" marL="457200" rtl="0" algn="l">
              <a:spcBef>
                <a:spcPts val="0"/>
              </a:spcBef>
              <a:spcAft>
                <a:spcPts val="0"/>
              </a:spcAft>
              <a:buSzPts val="1800"/>
              <a:buChar char="-"/>
            </a:pPr>
            <a:r>
              <a:rPr lang="en-GB"/>
              <a:t>written in CAPITAL LETTERS</a:t>
            </a:r>
            <a:endParaRPr/>
          </a:p>
          <a:p>
            <a:pPr indent="0" lvl="0" marL="0" rtl="0" algn="l">
              <a:spcBef>
                <a:spcPts val="1600"/>
              </a:spcBef>
              <a:spcAft>
                <a:spcPts val="0"/>
              </a:spcAft>
              <a:buNone/>
            </a:pPr>
            <a:r>
              <a:rPr b="1" lang="en-GB"/>
              <a:t>Relationship</a:t>
            </a:r>
            <a:endParaRPr b="1"/>
          </a:p>
          <a:p>
            <a:pPr indent="-342900" lvl="0" marL="457200" rtl="0" algn="l">
              <a:spcBef>
                <a:spcPts val="1600"/>
              </a:spcBef>
              <a:spcAft>
                <a:spcPts val="0"/>
              </a:spcAft>
              <a:buSzPts val="1800"/>
              <a:buChar char="-"/>
            </a:pPr>
            <a:r>
              <a:rPr lang="en-GB"/>
              <a:t>An association between entities.</a:t>
            </a:r>
            <a:endParaRPr/>
          </a:p>
          <a:p>
            <a:pPr indent="-342900" lvl="0" marL="457200" rtl="0" algn="l">
              <a:spcBef>
                <a:spcPts val="0"/>
              </a:spcBef>
              <a:spcAft>
                <a:spcPts val="0"/>
              </a:spcAft>
              <a:buSzPts val="1800"/>
              <a:buChar char="-"/>
            </a:pPr>
            <a:r>
              <a:rPr lang="en-GB"/>
              <a:t>Ask two questions </a:t>
            </a:r>
            <a:r>
              <a:rPr b="1" lang="en-GB">
                <a:highlight>
                  <a:srgbClr val="FFFF00"/>
                </a:highlight>
              </a:rPr>
              <a:t>to identify the type</a:t>
            </a:r>
            <a:r>
              <a:rPr lang="en-GB"/>
              <a:t> of each relationship:</a:t>
            </a:r>
            <a:endParaRPr/>
          </a:p>
          <a:p>
            <a:pPr indent="-317500" lvl="1" marL="1371600" rtl="0" algn="l">
              <a:spcBef>
                <a:spcPts val="0"/>
              </a:spcBef>
              <a:spcAft>
                <a:spcPts val="0"/>
              </a:spcAft>
              <a:buSzPts val="1400"/>
              <a:buChar char="-"/>
            </a:pPr>
            <a:r>
              <a:rPr lang="en-GB"/>
              <a:t>How many CUSTOMERs does an AGENT serve?</a:t>
            </a:r>
            <a:endParaRPr/>
          </a:p>
          <a:p>
            <a:pPr indent="-317500" lvl="1" marL="1371600" rtl="0" algn="l">
              <a:spcBef>
                <a:spcPts val="0"/>
              </a:spcBef>
              <a:spcAft>
                <a:spcPts val="0"/>
              </a:spcAft>
              <a:buSzPts val="1400"/>
              <a:buChar char="-"/>
            </a:pPr>
            <a:r>
              <a:rPr lang="en-GB"/>
              <a:t>How many AGENTs serve a single CUSTOMER?</a:t>
            </a:r>
            <a:endParaRPr/>
          </a:p>
          <a:p>
            <a:pPr indent="0" lvl="0" marL="137160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110" name="Google Shape;110;p19"/>
          <p:cNvSpPr/>
          <p:nvPr/>
        </p:nvSpPr>
        <p:spPr>
          <a:xfrm>
            <a:off x="5053100" y="2233350"/>
            <a:ext cx="981300" cy="67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t>AGENT</a:t>
            </a:r>
            <a:endParaRPr b="1"/>
          </a:p>
          <a:p>
            <a:pPr indent="0" lvl="0" marL="0" rtl="0" algn="ctr">
              <a:spcBef>
                <a:spcPts val="0"/>
              </a:spcBef>
              <a:spcAft>
                <a:spcPts val="0"/>
              </a:spcAft>
              <a:buNone/>
            </a:pPr>
            <a:r>
              <a:t/>
            </a:r>
            <a:endParaRPr b="1"/>
          </a:p>
          <a:p>
            <a:pPr indent="0" lvl="0" marL="0" rtl="0" algn="ctr">
              <a:spcBef>
                <a:spcPts val="0"/>
              </a:spcBef>
              <a:spcAft>
                <a:spcPts val="0"/>
              </a:spcAft>
              <a:buNone/>
            </a:pPr>
            <a:r>
              <a:t/>
            </a:r>
            <a:endParaRPr b="1"/>
          </a:p>
        </p:txBody>
      </p:sp>
      <p:cxnSp>
        <p:nvCxnSpPr>
          <p:cNvPr id="111" name="Google Shape;111;p19"/>
          <p:cNvCxnSpPr/>
          <p:nvPr/>
        </p:nvCxnSpPr>
        <p:spPr>
          <a:xfrm>
            <a:off x="5053100" y="2465596"/>
            <a:ext cx="981300" cy="0"/>
          </a:xfrm>
          <a:prstGeom prst="straightConnector1">
            <a:avLst/>
          </a:prstGeom>
          <a:noFill/>
          <a:ln cap="flat" cmpd="sng" w="9525">
            <a:solidFill>
              <a:schemeClr val="dk2"/>
            </a:solidFill>
            <a:prstDash val="solid"/>
            <a:round/>
            <a:headEnd len="med" w="med" type="none"/>
            <a:tailEnd len="med" w="med" type="none"/>
          </a:ln>
        </p:spPr>
      </p:cxnSp>
      <p:sp>
        <p:nvSpPr>
          <p:cNvPr id="112" name="Google Shape;112;p19"/>
          <p:cNvSpPr/>
          <p:nvPr/>
        </p:nvSpPr>
        <p:spPr>
          <a:xfrm>
            <a:off x="7502750" y="2233358"/>
            <a:ext cx="981300" cy="67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000"/>
              <a:t>CUSTOMER</a:t>
            </a:r>
            <a:endParaRPr b="1"/>
          </a:p>
          <a:p>
            <a:pPr indent="0" lvl="0" marL="0" rtl="0" algn="ctr">
              <a:spcBef>
                <a:spcPts val="0"/>
              </a:spcBef>
              <a:spcAft>
                <a:spcPts val="0"/>
              </a:spcAft>
              <a:buNone/>
            </a:pPr>
            <a:r>
              <a:t/>
            </a:r>
            <a:endParaRPr b="1"/>
          </a:p>
          <a:p>
            <a:pPr indent="0" lvl="0" marL="0" rtl="0" algn="ctr">
              <a:spcBef>
                <a:spcPts val="0"/>
              </a:spcBef>
              <a:spcAft>
                <a:spcPts val="0"/>
              </a:spcAft>
              <a:buNone/>
            </a:pPr>
            <a:r>
              <a:t/>
            </a:r>
            <a:endParaRPr b="1"/>
          </a:p>
        </p:txBody>
      </p:sp>
      <p:cxnSp>
        <p:nvCxnSpPr>
          <p:cNvPr id="113" name="Google Shape;113;p19"/>
          <p:cNvCxnSpPr/>
          <p:nvPr/>
        </p:nvCxnSpPr>
        <p:spPr>
          <a:xfrm>
            <a:off x="7502750" y="2465604"/>
            <a:ext cx="981300" cy="0"/>
          </a:xfrm>
          <a:prstGeom prst="straightConnector1">
            <a:avLst/>
          </a:prstGeom>
          <a:noFill/>
          <a:ln cap="flat" cmpd="sng" w="9525">
            <a:solidFill>
              <a:schemeClr val="dk2"/>
            </a:solidFill>
            <a:prstDash val="solid"/>
            <a:round/>
            <a:headEnd len="med" w="med" type="none"/>
            <a:tailEnd len="med" w="med" type="none"/>
          </a:ln>
        </p:spPr>
      </p:cxnSp>
      <p:cxnSp>
        <p:nvCxnSpPr>
          <p:cNvPr id="114" name="Google Shape;114;p19"/>
          <p:cNvCxnSpPr>
            <a:stCxn id="110" idx="3"/>
            <a:endCxn id="112" idx="1"/>
          </p:cNvCxnSpPr>
          <p:nvPr/>
        </p:nvCxnSpPr>
        <p:spPr>
          <a:xfrm>
            <a:off x="6034400" y="2571750"/>
            <a:ext cx="1468500" cy="0"/>
          </a:xfrm>
          <a:prstGeom prst="straightConnector1">
            <a:avLst/>
          </a:prstGeom>
          <a:noFill/>
          <a:ln cap="flat" cmpd="sng" w="19050">
            <a:solidFill>
              <a:srgbClr val="FF0000"/>
            </a:solidFill>
            <a:prstDash val="solid"/>
            <a:round/>
            <a:headEnd len="med" w="med" type="none"/>
            <a:tailEnd len="med" w="med" type="none"/>
          </a:ln>
        </p:spPr>
      </p:cxnSp>
      <p:sp>
        <p:nvSpPr>
          <p:cNvPr id="115" name="Google Shape;115;p19"/>
          <p:cNvSpPr txBox="1"/>
          <p:nvPr/>
        </p:nvSpPr>
        <p:spPr>
          <a:xfrm>
            <a:off x="6232400" y="2193275"/>
            <a:ext cx="1008900" cy="44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rgbClr val="FF0000"/>
                </a:solidFill>
              </a:rPr>
              <a:t>Serves</a:t>
            </a:r>
            <a:endParaRPr>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Relationship Types</a:t>
            </a:r>
            <a:endParaRPr/>
          </a:p>
        </p:txBody>
      </p:sp>
      <p:sp>
        <p:nvSpPr>
          <p:cNvPr id="121" name="Google Shape;121;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One to Many → </a:t>
            </a:r>
            <a:r>
              <a:rPr b="1" lang="en-GB">
                <a:highlight>
                  <a:srgbClr val="FFFF00"/>
                </a:highlight>
              </a:rPr>
              <a:t>1:M or 1..*</a:t>
            </a:r>
            <a:endParaRPr b="1">
              <a:highlight>
                <a:srgbClr val="FFFF00"/>
              </a:highlight>
            </a:endParaRPr>
          </a:p>
          <a:p>
            <a:pPr indent="-317500" lvl="0" marL="457200" rtl="0" algn="l">
              <a:spcBef>
                <a:spcPts val="1600"/>
              </a:spcBef>
              <a:spcAft>
                <a:spcPts val="0"/>
              </a:spcAft>
              <a:buSzPts val="1400"/>
              <a:buChar char="-"/>
            </a:pPr>
            <a:r>
              <a:rPr lang="en-GB" sz="1400"/>
              <a:t>A painter paints many paintings</a:t>
            </a:r>
            <a:endParaRPr sz="1400"/>
          </a:p>
          <a:p>
            <a:pPr indent="-317500" lvl="0" marL="457200" rtl="0" algn="l">
              <a:spcBef>
                <a:spcPts val="0"/>
              </a:spcBef>
              <a:spcAft>
                <a:spcPts val="0"/>
              </a:spcAft>
              <a:buSzPts val="1400"/>
              <a:buChar char="-"/>
            </a:pPr>
            <a:r>
              <a:rPr lang="en-GB" sz="1400"/>
              <a:t>Each painting is painted by only one painter</a:t>
            </a:r>
            <a:endParaRPr sz="1400"/>
          </a:p>
          <a:p>
            <a:pPr indent="0" lvl="0" marL="0" rtl="0" algn="l">
              <a:spcBef>
                <a:spcPts val="1600"/>
              </a:spcBef>
              <a:spcAft>
                <a:spcPts val="0"/>
              </a:spcAft>
              <a:buNone/>
            </a:pPr>
            <a:r>
              <a:rPr b="1" lang="en-GB"/>
              <a:t>One to One → </a:t>
            </a:r>
            <a:r>
              <a:rPr b="1" lang="en-GB">
                <a:highlight>
                  <a:srgbClr val="FFFF00"/>
                </a:highlight>
              </a:rPr>
              <a:t>1:1 or 1..1</a:t>
            </a:r>
            <a:endParaRPr b="1">
              <a:highlight>
                <a:srgbClr val="FFFF00"/>
              </a:highlight>
            </a:endParaRPr>
          </a:p>
          <a:p>
            <a:pPr indent="-317500" lvl="0" marL="457200" rtl="0" algn="l">
              <a:spcBef>
                <a:spcPts val="1600"/>
              </a:spcBef>
              <a:spcAft>
                <a:spcPts val="0"/>
              </a:spcAft>
              <a:buSzPts val="1400"/>
              <a:buChar char="-"/>
            </a:pPr>
            <a:r>
              <a:rPr lang="en-GB" sz="1400"/>
              <a:t>Each store is managed by a single employee</a:t>
            </a:r>
            <a:endParaRPr sz="1400"/>
          </a:p>
          <a:p>
            <a:pPr indent="-317500" lvl="0" marL="457200" rtl="0" algn="l">
              <a:spcBef>
                <a:spcPts val="0"/>
              </a:spcBef>
              <a:spcAft>
                <a:spcPts val="0"/>
              </a:spcAft>
              <a:buSzPts val="1400"/>
              <a:buChar char="-"/>
            </a:pPr>
            <a:r>
              <a:rPr lang="en-GB" sz="1400"/>
              <a:t>Each store manager manages only a single store</a:t>
            </a:r>
            <a:endParaRPr sz="1400"/>
          </a:p>
          <a:p>
            <a:pPr indent="0" lvl="0" marL="0" rtl="0" algn="l">
              <a:spcBef>
                <a:spcPts val="1600"/>
              </a:spcBef>
              <a:spcAft>
                <a:spcPts val="0"/>
              </a:spcAft>
              <a:buNone/>
            </a:pPr>
            <a:r>
              <a:rPr b="1" lang="en-GB"/>
              <a:t>Many to Many→ </a:t>
            </a:r>
            <a:r>
              <a:rPr b="1" lang="en-GB">
                <a:highlight>
                  <a:srgbClr val="FFFF00"/>
                </a:highlight>
              </a:rPr>
              <a:t>M:N or *..*</a:t>
            </a:r>
            <a:endParaRPr b="1">
              <a:highlight>
                <a:srgbClr val="FFFF00"/>
              </a:highlight>
            </a:endParaRPr>
          </a:p>
          <a:p>
            <a:pPr indent="-317500" lvl="0" marL="457200" rtl="0" algn="l">
              <a:spcBef>
                <a:spcPts val="1600"/>
              </a:spcBef>
              <a:spcAft>
                <a:spcPts val="0"/>
              </a:spcAft>
              <a:buSzPts val="1400"/>
              <a:buChar char="-"/>
            </a:pPr>
            <a:r>
              <a:rPr lang="en-GB" sz="1400"/>
              <a:t>An employee may learn many job skills</a:t>
            </a:r>
            <a:endParaRPr sz="1400"/>
          </a:p>
          <a:p>
            <a:pPr indent="-317500" lvl="0" marL="457200" rtl="0" algn="l">
              <a:spcBef>
                <a:spcPts val="0"/>
              </a:spcBef>
              <a:spcAft>
                <a:spcPts val="0"/>
              </a:spcAft>
              <a:buSzPts val="1400"/>
              <a:buChar char="-"/>
            </a:pPr>
            <a:r>
              <a:rPr lang="en-GB" sz="1400"/>
              <a:t>Each job skill may be learned by many employees</a:t>
            </a:r>
            <a:endParaRPr sz="1400"/>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122" name="Google Shape;122;p20"/>
          <p:cNvSpPr/>
          <p:nvPr/>
        </p:nvSpPr>
        <p:spPr>
          <a:xfrm>
            <a:off x="5299800" y="1501375"/>
            <a:ext cx="1070100" cy="39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PAINTER</a:t>
            </a:r>
            <a:endParaRPr/>
          </a:p>
        </p:txBody>
      </p:sp>
      <p:sp>
        <p:nvSpPr>
          <p:cNvPr id="123" name="Google Shape;123;p20"/>
          <p:cNvSpPr/>
          <p:nvPr/>
        </p:nvSpPr>
        <p:spPr>
          <a:xfrm>
            <a:off x="7329173" y="1488800"/>
            <a:ext cx="1070100" cy="39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PAINTING</a:t>
            </a:r>
            <a:endParaRPr/>
          </a:p>
        </p:txBody>
      </p:sp>
      <p:sp>
        <p:nvSpPr>
          <p:cNvPr id="124" name="Google Shape;124;p20"/>
          <p:cNvSpPr txBox="1"/>
          <p:nvPr/>
        </p:nvSpPr>
        <p:spPr>
          <a:xfrm>
            <a:off x="6493225" y="1315200"/>
            <a:ext cx="709800" cy="26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t>paints</a:t>
            </a:r>
            <a:endParaRPr b="1"/>
          </a:p>
        </p:txBody>
      </p:sp>
      <p:cxnSp>
        <p:nvCxnSpPr>
          <p:cNvPr id="125" name="Google Shape;125;p20"/>
          <p:cNvCxnSpPr>
            <a:stCxn id="122" idx="3"/>
            <a:endCxn id="123" idx="1"/>
          </p:cNvCxnSpPr>
          <p:nvPr/>
        </p:nvCxnSpPr>
        <p:spPr>
          <a:xfrm flipH="1" rot="10800000">
            <a:off x="6369900" y="1683775"/>
            <a:ext cx="959400" cy="12600"/>
          </a:xfrm>
          <a:prstGeom prst="straightConnector1">
            <a:avLst/>
          </a:prstGeom>
          <a:noFill/>
          <a:ln cap="flat" cmpd="sng" w="19050">
            <a:solidFill>
              <a:srgbClr val="FF0000"/>
            </a:solidFill>
            <a:prstDash val="solid"/>
            <a:round/>
            <a:headEnd len="med" w="med" type="none"/>
            <a:tailEnd len="med" w="med" type="none"/>
          </a:ln>
        </p:spPr>
      </p:cxnSp>
      <p:cxnSp>
        <p:nvCxnSpPr>
          <p:cNvPr id="126" name="Google Shape;126;p20"/>
          <p:cNvCxnSpPr>
            <a:stCxn id="123" idx="0"/>
          </p:cNvCxnSpPr>
          <p:nvPr/>
        </p:nvCxnSpPr>
        <p:spPr>
          <a:xfrm>
            <a:off x="7864223" y="1488800"/>
            <a:ext cx="0" cy="0"/>
          </a:xfrm>
          <a:prstGeom prst="straightConnector1">
            <a:avLst/>
          </a:prstGeom>
          <a:noFill/>
          <a:ln cap="flat" cmpd="sng" w="9525">
            <a:solidFill>
              <a:schemeClr val="dk2"/>
            </a:solidFill>
            <a:prstDash val="solid"/>
            <a:round/>
            <a:headEnd len="med" w="med" type="none"/>
            <a:tailEnd len="med" w="med" type="none"/>
          </a:ln>
        </p:spPr>
      </p:cxnSp>
      <p:sp>
        <p:nvSpPr>
          <p:cNvPr id="127" name="Google Shape;127;p20"/>
          <p:cNvSpPr/>
          <p:nvPr/>
        </p:nvSpPr>
        <p:spPr>
          <a:xfrm rot="-5400000">
            <a:off x="7173144" y="1596006"/>
            <a:ext cx="201925" cy="142525"/>
          </a:xfrm>
          <a:custGeom>
            <a:rect b="b" l="l" r="r" t="t"/>
            <a:pathLst>
              <a:path extrusionOk="0" h="5701" w="8077">
                <a:moveTo>
                  <a:pt x="0" y="4751"/>
                </a:moveTo>
                <a:lnTo>
                  <a:pt x="3801" y="0"/>
                </a:lnTo>
                <a:lnTo>
                  <a:pt x="8077" y="5701"/>
                </a:lnTo>
              </a:path>
            </a:pathLst>
          </a:custGeom>
          <a:noFill/>
          <a:ln cap="flat" cmpd="sng" w="19050">
            <a:solidFill>
              <a:srgbClr val="FF0000"/>
            </a:solidFill>
            <a:prstDash val="solid"/>
            <a:round/>
            <a:headEnd len="med" w="med" type="none"/>
            <a:tailEnd len="med" w="med" type="none"/>
          </a:ln>
        </p:spPr>
      </p:sp>
      <p:cxnSp>
        <p:nvCxnSpPr>
          <p:cNvPr id="128" name="Google Shape;128;p20"/>
          <p:cNvCxnSpPr/>
          <p:nvPr/>
        </p:nvCxnSpPr>
        <p:spPr>
          <a:xfrm rot="-5400000">
            <a:off x="6421969" y="1665219"/>
            <a:ext cx="142500" cy="0"/>
          </a:xfrm>
          <a:prstGeom prst="straightConnector1">
            <a:avLst/>
          </a:prstGeom>
          <a:noFill/>
          <a:ln cap="flat" cmpd="sng" w="19050">
            <a:solidFill>
              <a:srgbClr val="FF0000"/>
            </a:solidFill>
            <a:prstDash val="solid"/>
            <a:round/>
            <a:headEnd len="med" w="med" type="none"/>
            <a:tailEnd len="med" w="med" type="none"/>
          </a:ln>
        </p:spPr>
      </p:cxnSp>
      <p:cxnSp>
        <p:nvCxnSpPr>
          <p:cNvPr id="129" name="Google Shape;129;p20"/>
          <p:cNvCxnSpPr/>
          <p:nvPr/>
        </p:nvCxnSpPr>
        <p:spPr>
          <a:xfrm rot="-5400000">
            <a:off x="6374469" y="1665206"/>
            <a:ext cx="142500" cy="0"/>
          </a:xfrm>
          <a:prstGeom prst="straightConnector1">
            <a:avLst/>
          </a:prstGeom>
          <a:noFill/>
          <a:ln cap="flat" cmpd="sng" w="19050">
            <a:solidFill>
              <a:srgbClr val="FF0000"/>
            </a:solidFill>
            <a:prstDash val="solid"/>
            <a:round/>
            <a:headEnd len="med" w="med" type="none"/>
            <a:tailEnd len="med" w="med" type="none"/>
          </a:ln>
        </p:spPr>
      </p:cxnSp>
      <p:cxnSp>
        <p:nvCxnSpPr>
          <p:cNvPr id="130" name="Google Shape;130;p20"/>
          <p:cNvCxnSpPr/>
          <p:nvPr/>
        </p:nvCxnSpPr>
        <p:spPr>
          <a:xfrm rot="-5400000">
            <a:off x="7122506" y="1667269"/>
            <a:ext cx="142500" cy="0"/>
          </a:xfrm>
          <a:prstGeom prst="straightConnector1">
            <a:avLst/>
          </a:prstGeom>
          <a:noFill/>
          <a:ln cap="flat" cmpd="sng" w="19050">
            <a:solidFill>
              <a:srgbClr val="FF0000"/>
            </a:solidFill>
            <a:prstDash val="solid"/>
            <a:round/>
            <a:headEnd len="med" w="med" type="none"/>
            <a:tailEnd len="med" w="med" type="none"/>
          </a:ln>
        </p:spPr>
      </p:cxnSp>
      <p:sp>
        <p:nvSpPr>
          <p:cNvPr id="131" name="Google Shape;131;p20"/>
          <p:cNvSpPr/>
          <p:nvPr/>
        </p:nvSpPr>
        <p:spPr>
          <a:xfrm>
            <a:off x="5171926" y="2752475"/>
            <a:ext cx="1196700" cy="39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EMPLOYEE</a:t>
            </a:r>
            <a:endParaRPr/>
          </a:p>
        </p:txBody>
      </p:sp>
      <p:sp>
        <p:nvSpPr>
          <p:cNvPr id="132" name="Google Shape;132;p20"/>
          <p:cNvSpPr/>
          <p:nvPr/>
        </p:nvSpPr>
        <p:spPr>
          <a:xfrm>
            <a:off x="7327761" y="2739900"/>
            <a:ext cx="1070100" cy="39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STORE</a:t>
            </a:r>
            <a:endParaRPr/>
          </a:p>
        </p:txBody>
      </p:sp>
      <p:sp>
        <p:nvSpPr>
          <p:cNvPr id="133" name="Google Shape;133;p20"/>
          <p:cNvSpPr txBox="1"/>
          <p:nvPr/>
        </p:nvSpPr>
        <p:spPr>
          <a:xfrm>
            <a:off x="6368225" y="2490100"/>
            <a:ext cx="959400" cy="26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t>manages</a:t>
            </a:r>
            <a:endParaRPr b="1"/>
          </a:p>
        </p:txBody>
      </p:sp>
      <p:cxnSp>
        <p:nvCxnSpPr>
          <p:cNvPr id="134" name="Google Shape;134;p20"/>
          <p:cNvCxnSpPr>
            <a:stCxn id="131" idx="3"/>
            <a:endCxn id="132" idx="1"/>
          </p:cNvCxnSpPr>
          <p:nvPr/>
        </p:nvCxnSpPr>
        <p:spPr>
          <a:xfrm flipH="1" rot="10800000">
            <a:off x="6368626" y="2934875"/>
            <a:ext cx="959100" cy="12600"/>
          </a:xfrm>
          <a:prstGeom prst="straightConnector1">
            <a:avLst/>
          </a:prstGeom>
          <a:noFill/>
          <a:ln cap="flat" cmpd="sng" w="19050">
            <a:solidFill>
              <a:srgbClr val="FF0000"/>
            </a:solidFill>
            <a:prstDash val="solid"/>
            <a:round/>
            <a:headEnd len="med" w="med" type="none"/>
            <a:tailEnd len="med" w="med" type="none"/>
          </a:ln>
        </p:spPr>
      </p:cxnSp>
      <p:cxnSp>
        <p:nvCxnSpPr>
          <p:cNvPr id="135" name="Google Shape;135;p20"/>
          <p:cNvCxnSpPr>
            <a:stCxn id="132" idx="0"/>
          </p:cNvCxnSpPr>
          <p:nvPr/>
        </p:nvCxnSpPr>
        <p:spPr>
          <a:xfrm>
            <a:off x="7862811" y="2739900"/>
            <a:ext cx="0" cy="0"/>
          </a:xfrm>
          <a:prstGeom prst="straightConnector1">
            <a:avLst/>
          </a:prstGeom>
          <a:noFill/>
          <a:ln cap="flat" cmpd="sng" w="9525">
            <a:solidFill>
              <a:schemeClr val="dk2"/>
            </a:solidFill>
            <a:prstDash val="solid"/>
            <a:round/>
            <a:headEnd len="med" w="med" type="none"/>
            <a:tailEnd len="med" w="med" type="none"/>
          </a:ln>
        </p:spPr>
      </p:cxnSp>
      <p:cxnSp>
        <p:nvCxnSpPr>
          <p:cNvPr id="136" name="Google Shape;136;p20"/>
          <p:cNvCxnSpPr/>
          <p:nvPr/>
        </p:nvCxnSpPr>
        <p:spPr>
          <a:xfrm rot="-5400000">
            <a:off x="6420556" y="2916319"/>
            <a:ext cx="142500" cy="0"/>
          </a:xfrm>
          <a:prstGeom prst="straightConnector1">
            <a:avLst/>
          </a:prstGeom>
          <a:noFill/>
          <a:ln cap="flat" cmpd="sng" w="19050">
            <a:solidFill>
              <a:srgbClr val="FF0000"/>
            </a:solidFill>
            <a:prstDash val="solid"/>
            <a:round/>
            <a:headEnd len="med" w="med" type="none"/>
            <a:tailEnd len="med" w="med" type="none"/>
          </a:ln>
        </p:spPr>
      </p:cxnSp>
      <p:cxnSp>
        <p:nvCxnSpPr>
          <p:cNvPr id="137" name="Google Shape;137;p20"/>
          <p:cNvCxnSpPr/>
          <p:nvPr/>
        </p:nvCxnSpPr>
        <p:spPr>
          <a:xfrm rot="-5400000">
            <a:off x="6373056" y="2916306"/>
            <a:ext cx="142500" cy="0"/>
          </a:xfrm>
          <a:prstGeom prst="straightConnector1">
            <a:avLst/>
          </a:prstGeom>
          <a:noFill/>
          <a:ln cap="flat" cmpd="sng" w="19050">
            <a:solidFill>
              <a:srgbClr val="FF0000"/>
            </a:solidFill>
            <a:prstDash val="solid"/>
            <a:round/>
            <a:headEnd len="med" w="med" type="none"/>
            <a:tailEnd len="med" w="med" type="none"/>
          </a:ln>
        </p:spPr>
      </p:cxnSp>
      <p:sp>
        <p:nvSpPr>
          <p:cNvPr id="138" name="Google Shape;138;p20"/>
          <p:cNvSpPr/>
          <p:nvPr/>
        </p:nvSpPr>
        <p:spPr>
          <a:xfrm>
            <a:off x="5173276" y="4016150"/>
            <a:ext cx="1196700" cy="39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EMPLOYEE</a:t>
            </a:r>
            <a:endParaRPr/>
          </a:p>
        </p:txBody>
      </p:sp>
      <p:sp>
        <p:nvSpPr>
          <p:cNvPr id="139" name="Google Shape;139;p20"/>
          <p:cNvSpPr/>
          <p:nvPr/>
        </p:nvSpPr>
        <p:spPr>
          <a:xfrm>
            <a:off x="7329236" y="4003575"/>
            <a:ext cx="1070100" cy="39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SKILL</a:t>
            </a:r>
            <a:endParaRPr/>
          </a:p>
        </p:txBody>
      </p:sp>
      <p:sp>
        <p:nvSpPr>
          <p:cNvPr id="140" name="Google Shape;140;p20"/>
          <p:cNvSpPr txBox="1"/>
          <p:nvPr/>
        </p:nvSpPr>
        <p:spPr>
          <a:xfrm>
            <a:off x="6493288" y="3829975"/>
            <a:ext cx="709800" cy="26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t>learns</a:t>
            </a:r>
            <a:endParaRPr b="1"/>
          </a:p>
        </p:txBody>
      </p:sp>
      <p:cxnSp>
        <p:nvCxnSpPr>
          <p:cNvPr id="141" name="Google Shape;141;p20"/>
          <p:cNvCxnSpPr>
            <a:stCxn id="138" idx="3"/>
            <a:endCxn id="139" idx="1"/>
          </p:cNvCxnSpPr>
          <p:nvPr/>
        </p:nvCxnSpPr>
        <p:spPr>
          <a:xfrm flipH="1" rot="10800000">
            <a:off x="6369976" y="4198550"/>
            <a:ext cx="959400" cy="12600"/>
          </a:xfrm>
          <a:prstGeom prst="straightConnector1">
            <a:avLst/>
          </a:prstGeom>
          <a:noFill/>
          <a:ln cap="flat" cmpd="sng" w="19050">
            <a:solidFill>
              <a:srgbClr val="FF0000"/>
            </a:solidFill>
            <a:prstDash val="solid"/>
            <a:round/>
            <a:headEnd len="med" w="med" type="none"/>
            <a:tailEnd len="med" w="med" type="none"/>
          </a:ln>
        </p:spPr>
      </p:cxnSp>
      <p:cxnSp>
        <p:nvCxnSpPr>
          <p:cNvPr id="142" name="Google Shape;142;p20"/>
          <p:cNvCxnSpPr>
            <a:stCxn id="139" idx="0"/>
          </p:cNvCxnSpPr>
          <p:nvPr/>
        </p:nvCxnSpPr>
        <p:spPr>
          <a:xfrm>
            <a:off x="7864286" y="4003575"/>
            <a:ext cx="0" cy="0"/>
          </a:xfrm>
          <a:prstGeom prst="straightConnector1">
            <a:avLst/>
          </a:prstGeom>
          <a:noFill/>
          <a:ln cap="flat" cmpd="sng" w="9525">
            <a:solidFill>
              <a:schemeClr val="dk2"/>
            </a:solidFill>
            <a:prstDash val="solid"/>
            <a:round/>
            <a:headEnd len="med" w="med" type="none"/>
            <a:tailEnd len="med" w="med" type="none"/>
          </a:ln>
        </p:spPr>
      </p:cxnSp>
      <p:sp>
        <p:nvSpPr>
          <p:cNvPr id="143" name="Google Shape;143;p20"/>
          <p:cNvSpPr/>
          <p:nvPr/>
        </p:nvSpPr>
        <p:spPr>
          <a:xfrm rot="-5400000">
            <a:off x="7173206" y="4110781"/>
            <a:ext cx="201925" cy="142525"/>
          </a:xfrm>
          <a:custGeom>
            <a:rect b="b" l="l" r="r" t="t"/>
            <a:pathLst>
              <a:path extrusionOk="0" h="5701" w="8077">
                <a:moveTo>
                  <a:pt x="0" y="4751"/>
                </a:moveTo>
                <a:lnTo>
                  <a:pt x="3801" y="0"/>
                </a:lnTo>
                <a:lnTo>
                  <a:pt x="8077" y="5701"/>
                </a:lnTo>
              </a:path>
            </a:pathLst>
          </a:custGeom>
          <a:noFill/>
          <a:ln cap="flat" cmpd="sng" w="19050">
            <a:solidFill>
              <a:srgbClr val="FF0000"/>
            </a:solidFill>
            <a:prstDash val="solid"/>
            <a:round/>
            <a:headEnd len="med" w="med" type="none"/>
            <a:tailEnd len="med" w="med" type="none"/>
          </a:ln>
        </p:spPr>
      </p:sp>
      <p:cxnSp>
        <p:nvCxnSpPr>
          <p:cNvPr id="144" name="Google Shape;144;p20"/>
          <p:cNvCxnSpPr/>
          <p:nvPr/>
        </p:nvCxnSpPr>
        <p:spPr>
          <a:xfrm rot="-5400000">
            <a:off x="7122569" y="4182044"/>
            <a:ext cx="142500" cy="0"/>
          </a:xfrm>
          <a:prstGeom prst="straightConnector1">
            <a:avLst/>
          </a:prstGeom>
          <a:noFill/>
          <a:ln cap="flat" cmpd="sng" w="19050">
            <a:solidFill>
              <a:srgbClr val="FF0000"/>
            </a:solidFill>
            <a:prstDash val="solid"/>
            <a:round/>
            <a:headEnd len="med" w="med" type="none"/>
            <a:tailEnd len="med" w="med" type="none"/>
          </a:ln>
        </p:spPr>
      </p:cxnSp>
      <p:cxnSp>
        <p:nvCxnSpPr>
          <p:cNvPr id="145" name="Google Shape;145;p20"/>
          <p:cNvCxnSpPr/>
          <p:nvPr/>
        </p:nvCxnSpPr>
        <p:spPr>
          <a:xfrm rot="-5400000">
            <a:off x="7182556" y="2916319"/>
            <a:ext cx="142500" cy="0"/>
          </a:xfrm>
          <a:prstGeom prst="straightConnector1">
            <a:avLst/>
          </a:prstGeom>
          <a:noFill/>
          <a:ln cap="flat" cmpd="sng" w="19050">
            <a:solidFill>
              <a:srgbClr val="FF0000"/>
            </a:solidFill>
            <a:prstDash val="solid"/>
            <a:round/>
            <a:headEnd len="med" w="med" type="none"/>
            <a:tailEnd len="med" w="med" type="none"/>
          </a:ln>
        </p:spPr>
      </p:cxnSp>
      <p:cxnSp>
        <p:nvCxnSpPr>
          <p:cNvPr id="146" name="Google Shape;146;p20"/>
          <p:cNvCxnSpPr/>
          <p:nvPr/>
        </p:nvCxnSpPr>
        <p:spPr>
          <a:xfrm rot="-5400000">
            <a:off x="7135056" y="2916306"/>
            <a:ext cx="142500" cy="0"/>
          </a:xfrm>
          <a:prstGeom prst="straightConnector1">
            <a:avLst/>
          </a:prstGeom>
          <a:noFill/>
          <a:ln cap="flat" cmpd="sng" w="19050">
            <a:solidFill>
              <a:srgbClr val="FF0000"/>
            </a:solidFill>
            <a:prstDash val="solid"/>
            <a:round/>
            <a:headEnd len="med" w="med" type="none"/>
            <a:tailEnd len="med" w="med" type="none"/>
          </a:ln>
        </p:spPr>
      </p:cxnSp>
      <p:sp>
        <p:nvSpPr>
          <p:cNvPr id="147" name="Google Shape;147;p20"/>
          <p:cNvSpPr/>
          <p:nvPr/>
        </p:nvSpPr>
        <p:spPr>
          <a:xfrm flipH="1" rot="5400000">
            <a:off x="6325919" y="4110781"/>
            <a:ext cx="201925" cy="142525"/>
          </a:xfrm>
          <a:custGeom>
            <a:rect b="b" l="l" r="r" t="t"/>
            <a:pathLst>
              <a:path extrusionOk="0" h="5701" w="8077">
                <a:moveTo>
                  <a:pt x="0" y="4751"/>
                </a:moveTo>
                <a:lnTo>
                  <a:pt x="3801" y="0"/>
                </a:lnTo>
                <a:lnTo>
                  <a:pt x="8077" y="5701"/>
                </a:lnTo>
              </a:path>
            </a:pathLst>
          </a:custGeom>
          <a:noFill/>
          <a:ln cap="flat" cmpd="sng" w="19050">
            <a:solidFill>
              <a:srgbClr val="FF0000"/>
            </a:solidFill>
            <a:prstDash val="solid"/>
            <a:round/>
            <a:headEnd len="med" w="med" type="none"/>
            <a:tailEnd len="med" w="med" type="none"/>
          </a:ln>
        </p:spPr>
      </p:sp>
      <p:cxnSp>
        <p:nvCxnSpPr>
          <p:cNvPr id="148" name="Google Shape;148;p20"/>
          <p:cNvCxnSpPr/>
          <p:nvPr/>
        </p:nvCxnSpPr>
        <p:spPr>
          <a:xfrm rot="-5400000">
            <a:off x="6435981" y="4182044"/>
            <a:ext cx="142500" cy="0"/>
          </a:xfrm>
          <a:prstGeom prst="straightConnector1">
            <a:avLst/>
          </a:prstGeom>
          <a:noFill/>
          <a:ln cap="flat" cmpd="sng" w="19050">
            <a:solidFill>
              <a:srgbClr val="FF0000"/>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sz="3600"/>
              <a:t>ER Modeling</a:t>
            </a:r>
            <a:endParaRPr sz="3600"/>
          </a:p>
        </p:txBody>
      </p:sp>
      <p:sp>
        <p:nvSpPr>
          <p:cNvPr id="154" name="Google Shape;154;p2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sz="2400"/>
              <a:t>A </a:t>
            </a:r>
            <a:r>
              <a:rPr b="1" lang="en-GB" sz="2400">
                <a:highlight>
                  <a:srgbClr val="FFFF00"/>
                </a:highlight>
              </a:rPr>
              <a:t>deeper dive</a:t>
            </a:r>
            <a:r>
              <a:rPr lang="en-GB" sz="2400"/>
              <a:t> into building a blueprint for a relational DB</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txBox="1"/>
          <p:nvPr>
            <p:ph type="title"/>
          </p:nvPr>
        </p:nvSpPr>
        <p:spPr>
          <a:xfrm>
            <a:off x="1051350" y="2150850"/>
            <a:ext cx="7041300" cy="841800"/>
          </a:xfrm>
          <a:prstGeom prst="rect">
            <a:avLst/>
          </a:prstGeom>
        </p:spPr>
        <p:txBody>
          <a:bodyPr anchorCtr="0" anchor="ctr" bIns="91425" lIns="91425" spcFirstLastPara="1" rIns="91425" wrap="square" tIns="91425">
            <a:noAutofit/>
          </a:bodyPr>
          <a:lstStyle/>
          <a:p>
            <a:pPr indent="-457200" lvl="0" marL="457200" rtl="0" algn="ctr">
              <a:spcBef>
                <a:spcPts val="0"/>
              </a:spcBef>
              <a:spcAft>
                <a:spcPts val="0"/>
              </a:spcAft>
              <a:buSzPts val="3600"/>
              <a:buAutoNum type="arabicPeriod"/>
            </a:pPr>
            <a:r>
              <a:rPr lang="en-GB"/>
              <a:t>Characteristics of </a:t>
            </a:r>
            <a:r>
              <a:rPr b="1" lang="en-GB">
                <a:highlight>
                  <a:srgbClr val="FFFF00"/>
                </a:highlight>
              </a:rPr>
              <a:t>Attributes</a:t>
            </a:r>
            <a:endParaRPr b="1">
              <a:highlight>
                <a:srgbClr val="FFFF00"/>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Required or Optional?</a:t>
            </a:r>
            <a:endParaRPr/>
          </a:p>
        </p:txBody>
      </p:sp>
      <p:sp>
        <p:nvSpPr>
          <p:cNvPr id="165" name="Google Shape;165;p23"/>
          <p:cNvSpPr txBox="1"/>
          <p:nvPr>
            <p:ph idx="1" type="body"/>
          </p:nvPr>
        </p:nvSpPr>
        <p:spPr>
          <a:xfrm>
            <a:off x="311700" y="1152475"/>
            <a:ext cx="8520600" cy="99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GB">
                <a:highlight>
                  <a:srgbClr val="FFFF00"/>
                </a:highlight>
              </a:rPr>
              <a:t>Required</a:t>
            </a:r>
            <a:r>
              <a:rPr lang="en-GB"/>
              <a:t> or </a:t>
            </a:r>
            <a:r>
              <a:rPr b="1" lang="en-GB">
                <a:highlight>
                  <a:srgbClr val="00FFFF"/>
                </a:highlight>
              </a:rPr>
              <a:t>Optional</a:t>
            </a:r>
            <a:endParaRPr b="1">
              <a:highlight>
                <a:srgbClr val="00FFFF"/>
              </a:highlight>
            </a:endParaRPr>
          </a:p>
          <a:p>
            <a:pPr indent="-342900" lvl="0" marL="457200" rtl="0" algn="l">
              <a:spcBef>
                <a:spcPts val="0"/>
              </a:spcBef>
              <a:spcAft>
                <a:spcPts val="0"/>
              </a:spcAft>
              <a:buSzPts val="1800"/>
              <a:buChar char="-"/>
            </a:pPr>
            <a:r>
              <a:rPr b="1" lang="en-GB" sz="1800"/>
              <a:t>Bold-faced</a:t>
            </a:r>
            <a:r>
              <a:rPr lang="en-GB" sz="1800"/>
              <a:t> in CF notation</a:t>
            </a:r>
            <a:endParaRPr sz="1800"/>
          </a:p>
          <a:p>
            <a:pPr indent="0" lvl="0" marL="457200" rtl="0" algn="l">
              <a:spcBef>
                <a:spcPts val="1600"/>
              </a:spcBef>
              <a:spcAft>
                <a:spcPts val="1600"/>
              </a:spcAft>
              <a:buNone/>
            </a:pPr>
            <a:r>
              <a:t/>
            </a:r>
            <a:endParaRPr/>
          </a:p>
        </p:txBody>
      </p:sp>
      <p:pic>
        <p:nvPicPr>
          <p:cNvPr id="166" name="Google Shape;166;p23"/>
          <p:cNvPicPr preferRelativeResize="0"/>
          <p:nvPr/>
        </p:nvPicPr>
        <p:blipFill>
          <a:blip r:embed="rId3">
            <a:alphaModFix/>
          </a:blip>
          <a:stretch>
            <a:fillRect/>
          </a:stretch>
        </p:blipFill>
        <p:spPr>
          <a:xfrm>
            <a:off x="284075" y="2318625"/>
            <a:ext cx="8575839" cy="2654825"/>
          </a:xfrm>
          <a:prstGeom prst="rect">
            <a:avLst/>
          </a:prstGeom>
          <a:noFill/>
          <a:ln>
            <a:noFill/>
          </a:ln>
        </p:spPr>
      </p:pic>
      <p:cxnSp>
        <p:nvCxnSpPr>
          <p:cNvPr id="167" name="Google Shape;167;p23"/>
          <p:cNvCxnSpPr/>
          <p:nvPr/>
        </p:nvCxnSpPr>
        <p:spPr>
          <a:xfrm>
            <a:off x="2416250" y="2021525"/>
            <a:ext cx="3756000" cy="1542900"/>
          </a:xfrm>
          <a:prstGeom prst="straightConnector1">
            <a:avLst/>
          </a:prstGeom>
          <a:noFill/>
          <a:ln cap="flat" cmpd="sng" w="38100">
            <a:solidFill>
              <a:srgbClr val="FF00FF"/>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a:t>PKs</a:t>
            </a:r>
            <a:endParaRPr/>
          </a:p>
        </p:txBody>
      </p:sp>
      <p:sp>
        <p:nvSpPr>
          <p:cNvPr id="173" name="Google Shape;173;p24"/>
          <p:cNvSpPr txBox="1"/>
          <p:nvPr>
            <p:ph idx="1" type="body"/>
          </p:nvPr>
        </p:nvSpPr>
        <p:spPr>
          <a:xfrm>
            <a:off x="311700" y="1152475"/>
            <a:ext cx="8520600" cy="2316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Every entity must have an identifier</a:t>
            </a:r>
            <a:endParaRPr/>
          </a:p>
          <a:p>
            <a:pPr indent="-342900" lvl="0" marL="457200" rtl="0" algn="l">
              <a:spcBef>
                <a:spcPts val="0"/>
              </a:spcBef>
              <a:spcAft>
                <a:spcPts val="0"/>
              </a:spcAft>
              <a:buSzPts val="1800"/>
              <a:buChar char="-"/>
            </a:pPr>
            <a:r>
              <a:rPr b="1" lang="en-GB">
                <a:highlight>
                  <a:srgbClr val="00FF00"/>
                </a:highlight>
              </a:rPr>
              <a:t>Identifiers (PKs) </a:t>
            </a:r>
            <a:r>
              <a:rPr lang="en-GB"/>
              <a:t>are underlined in ERDs</a:t>
            </a:r>
            <a:endParaRPr>
              <a:highlight>
                <a:srgbClr val="00FFFF"/>
              </a:highlight>
            </a:endParaRPr>
          </a:p>
          <a:p>
            <a:pPr indent="-342900" lvl="0" marL="914400" rtl="0" algn="l">
              <a:spcBef>
                <a:spcPts val="0"/>
              </a:spcBef>
              <a:spcAft>
                <a:spcPts val="0"/>
              </a:spcAft>
              <a:buSzPts val="1800"/>
              <a:buChar char="-"/>
            </a:pPr>
            <a:r>
              <a:rPr lang="en-GB"/>
              <a:t>Pk is ideally one attribute</a:t>
            </a:r>
            <a:endParaRPr/>
          </a:p>
          <a:p>
            <a:pPr indent="-342900" lvl="0" marL="914400" rtl="0" algn="l">
              <a:spcBef>
                <a:spcPts val="0"/>
              </a:spcBef>
              <a:spcAft>
                <a:spcPts val="0"/>
              </a:spcAft>
              <a:buSzPts val="1800"/>
              <a:buChar char="-"/>
            </a:pPr>
            <a:r>
              <a:rPr lang="en-GB"/>
              <a:t>But sometimes a composite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a:t>Simple or Composite?</a:t>
            </a:r>
            <a:endParaRPr/>
          </a:p>
        </p:txBody>
      </p:sp>
      <p:sp>
        <p:nvSpPr>
          <p:cNvPr id="179" name="Google Shape;179;p25"/>
          <p:cNvSpPr txBox="1"/>
          <p:nvPr>
            <p:ph idx="1" type="body"/>
          </p:nvPr>
        </p:nvSpPr>
        <p:spPr>
          <a:xfrm>
            <a:off x="311700" y="1152475"/>
            <a:ext cx="8832300" cy="359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Attributes are either </a:t>
            </a:r>
            <a:r>
              <a:rPr b="1" lang="en-GB">
                <a:highlight>
                  <a:srgbClr val="FFFF00"/>
                </a:highlight>
              </a:rPr>
              <a:t>simple</a:t>
            </a:r>
            <a:r>
              <a:rPr lang="en-GB"/>
              <a:t> or </a:t>
            </a:r>
            <a:r>
              <a:rPr b="1" lang="en-GB">
                <a:highlight>
                  <a:srgbClr val="00FFFF"/>
                </a:highlight>
              </a:rPr>
              <a:t>composite</a:t>
            </a:r>
            <a:endParaRPr b="1">
              <a:highlight>
                <a:srgbClr val="00FFFF"/>
              </a:highlight>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GB"/>
              <a:t>Always be in the lookout for composite attributes </a:t>
            </a:r>
            <a:endParaRPr/>
          </a:p>
          <a:p>
            <a:pPr indent="457200" lvl="0" marL="0" rtl="0" algn="l">
              <a:spcBef>
                <a:spcPts val="1600"/>
              </a:spcBef>
              <a:spcAft>
                <a:spcPts val="0"/>
              </a:spcAft>
              <a:buNone/>
            </a:pPr>
            <a:r>
              <a:rPr b="1" lang="en-GB"/>
              <a:t>→</a:t>
            </a:r>
            <a:r>
              <a:rPr lang="en-GB"/>
              <a:t> Business rules talk often in terms of composite attributes</a:t>
            </a:r>
            <a:endParaRPr/>
          </a:p>
          <a:p>
            <a:pPr indent="0" lvl="0" marL="457200" rtl="0" algn="l">
              <a:spcBef>
                <a:spcPts val="1600"/>
              </a:spcBef>
              <a:spcAft>
                <a:spcPts val="1600"/>
              </a:spcAft>
              <a:buNone/>
            </a:pPr>
            <a:r>
              <a:rPr b="1" lang="en-GB"/>
              <a:t>→</a:t>
            </a:r>
            <a:r>
              <a:rPr lang="en-GB"/>
              <a:t> Designer should recognize them + determine the correct way to </a:t>
            </a:r>
            <a:r>
              <a:rPr b="1" lang="en-GB">
                <a:highlight>
                  <a:srgbClr val="00FF00"/>
                </a:highlight>
              </a:rPr>
              <a:t>decompose</a:t>
            </a:r>
            <a:endParaRPr b="1">
              <a:highlight>
                <a:srgbClr val="00FF00"/>
              </a:highlight>
            </a:endParaRPr>
          </a:p>
        </p:txBody>
      </p:sp>
      <p:sp>
        <p:nvSpPr>
          <p:cNvPr id="180" name="Google Shape;180;p25"/>
          <p:cNvSpPr txBox="1"/>
          <p:nvPr/>
        </p:nvSpPr>
        <p:spPr>
          <a:xfrm>
            <a:off x="4832500" y="1346025"/>
            <a:ext cx="3918900" cy="1297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2"/>
              </a:solidFill>
            </a:endParaRPr>
          </a:p>
          <a:p>
            <a:pPr indent="0" lvl="0" marL="0" rtl="0" algn="ctr">
              <a:lnSpc>
                <a:spcPct val="115000"/>
              </a:lnSpc>
              <a:spcBef>
                <a:spcPts val="1600"/>
              </a:spcBef>
              <a:spcAft>
                <a:spcPts val="1600"/>
              </a:spcAft>
              <a:buNone/>
            </a:pPr>
            <a:r>
              <a:rPr lang="en-GB">
                <a:solidFill>
                  <a:schemeClr val="dk2"/>
                </a:solidFill>
              </a:rPr>
              <a:t>Can be divided to yield additional attributes (e.g. ADDRESS)</a:t>
            </a:r>
            <a:endParaRPr>
              <a:solidFill>
                <a:schemeClr val="dk2"/>
              </a:solidFill>
            </a:endParaRPr>
          </a:p>
        </p:txBody>
      </p:sp>
      <p:cxnSp>
        <p:nvCxnSpPr>
          <p:cNvPr id="181" name="Google Shape;181;p25"/>
          <p:cNvCxnSpPr>
            <a:endCxn id="180" idx="1"/>
          </p:cNvCxnSpPr>
          <p:nvPr/>
        </p:nvCxnSpPr>
        <p:spPr>
          <a:xfrm>
            <a:off x="4102900" y="1526175"/>
            <a:ext cx="729600" cy="468600"/>
          </a:xfrm>
          <a:prstGeom prst="bentConnector3">
            <a:avLst>
              <a:gd fmla="val 1631" name="adj1"/>
            </a:avLst>
          </a:prstGeom>
          <a:noFill/>
          <a:ln cap="flat" cmpd="sng" w="38100">
            <a:solidFill>
              <a:schemeClr val="dk2"/>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a:t>Single-Valued or Multivalued?</a:t>
            </a:r>
            <a:endParaRPr/>
          </a:p>
        </p:txBody>
      </p:sp>
      <p:sp>
        <p:nvSpPr>
          <p:cNvPr id="187" name="Google Shape;187;p26"/>
          <p:cNvSpPr txBox="1"/>
          <p:nvPr>
            <p:ph idx="1" type="body"/>
          </p:nvPr>
        </p:nvSpPr>
        <p:spPr>
          <a:xfrm>
            <a:off x="311700" y="1152475"/>
            <a:ext cx="8520600" cy="689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a:t>Attributes can be </a:t>
            </a:r>
            <a:r>
              <a:rPr b="1" lang="en-GB">
                <a:highlight>
                  <a:srgbClr val="FFFF00"/>
                </a:highlight>
              </a:rPr>
              <a:t>single-valued</a:t>
            </a:r>
            <a:r>
              <a:rPr lang="en-GB"/>
              <a:t> or </a:t>
            </a:r>
            <a:r>
              <a:rPr b="1" lang="en-GB">
                <a:highlight>
                  <a:srgbClr val="00FFFF"/>
                </a:highlight>
              </a:rPr>
              <a:t>multivalued</a:t>
            </a:r>
            <a:endParaRPr/>
          </a:p>
        </p:txBody>
      </p:sp>
      <p:sp>
        <p:nvSpPr>
          <p:cNvPr id="188" name="Google Shape;188;p26"/>
          <p:cNvSpPr txBox="1"/>
          <p:nvPr/>
        </p:nvSpPr>
        <p:spPr>
          <a:xfrm>
            <a:off x="311700" y="2177100"/>
            <a:ext cx="4774800" cy="1370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2"/>
              </a:buClr>
              <a:buSzPts val="1800"/>
              <a:buChar char="-"/>
            </a:pPr>
            <a:r>
              <a:rPr lang="en-GB" sz="1800">
                <a:solidFill>
                  <a:schemeClr val="dk2"/>
                </a:solidFill>
              </a:rPr>
              <a:t>Can have only a single value, e.g.</a:t>
            </a:r>
            <a:endParaRPr sz="1800">
              <a:solidFill>
                <a:schemeClr val="dk2"/>
              </a:solidFill>
            </a:endParaRPr>
          </a:p>
          <a:p>
            <a:pPr indent="-342900" lvl="1" marL="914400" rtl="0" algn="l">
              <a:lnSpc>
                <a:spcPct val="115000"/>
              </a:lnSpc>
              <a:spcBef>
                <a:spcPts val="0"/>
              </a:spcBef>
              <a:spcAft>
                <a:spcPts val="0"/>
              </a:spcAft>
              <a:buClr>
                <a:schemeClr val="dk2"/>
              </a:buClr>
              <a:buSzPts val="1800"/>
              <a:buChar char="-"/>
            </a:pPr>
            <a:r>
              <a:rPr lang="en-GB" sz="1800">
                <a:solidFill>
                  <a:schemeClr val="dk2"/>
                </a:solidFill>
              </a:rPr>
              <a:t>SIN for person </a:t>
            </a:r>
            <a:endParaRPr sz="1800">
              <a:solidFill>
                <a:schemeClr val="dk2"/>
              </a:solidFill>
            </a:endParaRPr>
          </a:p>
          <a:p>
            <a:pPr indent="-342900" lvl="1" marL="914400" rtl="0" algn="l">
              <a:lnSpc>
                <a:spcPct val="115000"/>
              </a:lnSpc>
              <a:spcBef>
                <a:spcPts val="0"/>
              </a:spcBef>
              <a:spcAft>
                <a:spcPts val="0"/>
              </a:spcAft>
              <a:buClr>
                <a:schemeClr val="dk2"/>
              </a:buClr>
              <a:buSzPts val="1800"/>
              <a:buChar char="-"/>
            </a:pPr>
            <a:r>
              <a:rPr lang="en-GB" sz="1800">
                <a:solidFill>
                  <a:schemeClr val="dk2"/>
                </a:solidFill>
              </a:rPr>
              <a:t>Serial# of manufactured parts</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n-GB" sz="1800">
                <a:solidFill>
                  <a:schemeClr val="dk2"/>
                </a:solidFill>
              </a:rPr>
              <a:t>Single-valued is </a:t>
            </a:r>
            <a:r>
              <a:rPr b="1" lang="en-GB" sz="1800">
                <a:solidFill>
                  <a:schemeClr val="dk2"/>
                </a:solidFill>
                <a:highlight>
                  <a:srgbClr val="D9EAD3"/>
                </a:highlight>
              </a:rPr>
              <a:t>not necessarily simple</a:t>
            </a:r>
            <a:endParaRPr b="1" sz="1800">
              <a:solidFill>
                <a:schemeClr val="dk2"/>
              </a:solidFill>
              <a:highlight>
                <a:srgbClr val="D9EAD3"/>
              </a:highlight>
            </a:endParaRPr>
          </a:p>
          <a:p>
            <a:pPr indent="-342900" lvl="1" marL="914400" rtl="0" algn="l">
              <a:lnSpc>
                <a:spcPct val="115000"/>
              </a:lnSpc>
              <a:spcBef>
                <a:spcPts val="0"/>
              </a:spcBef>
              <a:spcAft>
                <a:spcPts val="0"/>
              </a:spcAft>
              <a:buClr>
                <a:schemeClr val="dk2"/>
              </a:buClr>
              <a:buSzPts val="1800"/>
              <a:buChar char="-"/>
            </a:pPr>
            <a:r>
              <a:rPr lang="en-GB" sz="1800">
                <a:solidFill>
                  <a:schemeClr val="dk2"/>
                </a:solidFill>
              </a:rPr>
              <a:t>SE-08-02-189935</a:t>
            </a:r>
            <a:endParaRPr sz="1800">
              <a:solidFill>
                <a:schemeClr val="dk2"/>
              </a:solidFill>
            </a:endParaRPr>
          </a:p>
        </p:txBody>
      </p:sp>
      <p:cxnSp>
        <p:nvCxnSpPr>
          <p:cNvPr id="189" name="Google Shape;189;p26"/>
          <p:cNvCxnSpPr/>
          <p:nvPr/>
        </p:nvCxnSpPr>
        <p:spPr>
          <a:xfrm flipH="1" rot="-5400000">
            <a:off x="2346450" y="1900650"/>
            <a:ext cx="704700" cy="600"/>
          </a:xfrm>
          <a:prstGeom prst="bentConnector3">
            <a:avLst>
              <a:gd fmla="val 50000" name="adj1"/>
            </a:avLst>
          </a:prstGeom>
          <a:noFill/>
          <a:ln cap="flat" cmpd="sng" w="38100">
            <a:solidFill>
              <a:schemeClr val="dk2"/>
            </a:solidFill>
            <a:prstDash val="solid"/>
            <a:round/>
            <a:headEnd len="med" w="med" type="none"/>
            <a:tailEnd len="med" w="med" type="triangle"/>
          </a:ln>
        </p:spPr>
      </p:cxnSp>
      <p:sp>
        <p:nvSpPr>
          <p:cNvPr id="190" name="Google Shape;190;p26"/>
          <p:cNvSpPr txBox="1"/>
          <p:nvPr/>
        </p:nvSpPr>
        <p:spPr>
          <a:xfrm>
            <a:off x="4838375" y="2374225"/>
            <a:ext cx="4178400" cy="1370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2"/>
              </a:buClr>
              <a:buSzPts val="1800"/>
              <a:buChar char="-"/>
            </a:pPr>
            <a:r>
              <a:rPr lang="en-GB" sz="1800">
                <a:solidFill>
                  <a:schemeClr val="dk2"/>
                </a:solidFill>
              </a:rPr>
              <a:t>Can have many values, e.g.</a:t>
            </a:r>
            <a:endParaRPr sz="1800">
              <a:solidFill>
                <a:schemeClr val="dk2"/>
              </a:solidFill>
            </a:endParaRPr>
          </a:p>
          <a:p>
            <a:pPr indent="-342900" lvl="1" marL="914400" marR="0" rtl="0" algn="l">
              <a:lnSpc>
                <a:spcPct val="115000"/>
              </a:lnSpc>
              <a:spcBef>
                <a:spcPts val="0"/>
              </a:spcBef>
              <a:spcAft>
                <a:spcPts val="0"/>
              </a:spcAft>
              <a:buClr>
                <a:schemeClr val="dk2"/>
              </a:buClr>
              <a:buSzPts val="1800"/>
              <a:buFont typeface="Arial"/>
              <a:buChar char="-"/>
            </a:pPr>
            <a:r>
              <a:rPr lang="en-GB" sz="1800">
                <a:solidFill>
                  <a:schemeClr val="dk2"/>
                </a:solidFill>
              </a:rPr>
              <a:t>Person → several degrees</a:t>
            </a:r>
            <a:endParaRPr sz="1800">
              <a:solidFill>
                <a:schemeClr val="dk2"/>
              </a:solidFill>
            </a:endParaRPr>
          </a:p>
          <a:p>
            <a:pPr indent="-342900" lvl="1" marL="914400" marR="0" rtl="0" algn="l">
              <a:lnSpc>
                <a:spcPct val="115000"/>
              </a:lnSpc>
              <a:spcBef>
                <a:spcPts val="0"/>
              </a:spcBef>
              <a:spcAft>
                <a:spcPts val="0"/>
              </a:spcAft>
              <a:buClr>
                <a:schemeClr val="dk2"/>
              </a:buClr>
              <a:buSzPts val="1800"/>
              <a:buChar char="-"/>
            </a:pPr>
            <a:r>
              <a:rPr lang="en-GB" sz="1800">
                <a:solidFill>
                  <a:schemeClr val="dk2"/>
                </a:solidFill>
              </a:rPr>
              <a:t>Household → several phones</a:t>
            </a:r>
            <a:endParaRPr sz="1800">
              <a:solidFill>
                <a:schemeClr val="dk2"/>
              </a:solidFill>
            </a:endParaRPr>
          </a:p>
          <a:p>
            <a:pPr indent="-342900" lvl="1" marL="914400" marR="0" rtl="0" algn="l">
              <a:lnSpc>
                <a:spcPct val="115000"/>
              </a:lnSpc>
              <a:spcBef>
                <a:spcPts val="0"/>
              </a:spcBef>
              <a:spcAft>
                <a:spcPts val="0"/>
              </a:spcAft>
              <a:buClr>
                <a:schemeClr val="dk2"/>
              </a:buClr>
              <a:buSzPts val="1800"/>
              <a:buChar char="-"/>
            </a:pPr>
            <a:r>
              <a:rPr lang="en-GB" sz="1800">
                <a:solidFill>
                  <a:schemeClr val="dk2"/>
                </a:solidFill>
              </a:rPr>
              <a:t>Car’s color -&gt; roof / trim / body</a:t>
            </a:r>
            <a:endParaRPr sz="1800">
              <a:solidFill>
                <a:schemeClr val="dk2"/>
              </a:solidFill>
            </a:endParaRPr>
          </a:p>
        </p:txBody>
      </p:sp>
      <p:cxnSp>
        <p:nvCxnSpPr>
          <p:cNvPr id="191" name="Google Shape;191;p26"/>
          <p:cNvCxnSpPr>
            <a:endCxn id="190" idx="0"/>
          </p:cNvCxnSpPr>
          <p:nvPr/>
        </p:nvCxnSpPr>
        <p:spPr>
          <a:xfrm>
            <a:off x="5325875" y="1377625"/>
            <a:ext cx="1601700" cy="996600"/>
          </a:xfrm>
          <a:prstGeom prst="bentConnector2">
            <a:avLst/>
          </a:prstGeom>
          <a:noFill/>
          <a:ln cap="flat" cmpd="sng" w="38100">
            <a:solidFill>
              <a:schemeClr val="dk2"/>
            </a:solidFill>
            <a:prstDash val="solid"/>
            <a:round/>
            <a:headEnd len="med" w="med" type="none"/>
            <a:tailEnd len="med" w="med" type="triangle"/>
          </a:ln>
        </p:spPr>
      </p:cxnSp>
      <p:sp>
        <p:nvSpPr>
          <p:cNvPr id="192" name="Google Shape;192;p26"/>
          <p:cNvSpPr txBox="1"/>
          <p:nvPr/>
        </p:nvSpPr>
        <p:spPr>
          <a:xfrm>
            <a:off x="1052500" y="4175213"/>
            <a:ext cx="801300" cy="39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Region</a:t>
            </a:r>
            <a:endParaRPr/>
          </a:p>
        </p:txBody>
      </p:sp>
      <p:sp>
        <p:nvSpPr>
          <p:cNvPr id="193" name="Google Shape;193;p26"/>
          <p:cNvSpPr txBox="1"/>
          <p:nvPr/>
        </p:nvSpPr>
        <p:spPr>
          <a:xfrm>
            <a:off x="1913600" y="4175225"/>
            <a:ext cx="801300" cy="39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Plant</a:t>
            </a:r>
            <a:endParaRPr/>
          </a:p>
        </p:txBody>
      </p:sp>
      <p:sp>
        <p:nvSpPr>
          <p:cNvPr id="194" name="Google Shape;194;p26"/>
          <p:cNvSpPr txBox="1"/>
          <p:nvPr/>
        </p:nvSpPr>
        <p:spPr>
          <a:xfrm>
            <a:off x="2529550" y="4175225"/>
            <a:ext cx="801300" cy="39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Shift</a:t>
            </a:r>
            <a:endParaRPr/>
          </a:p>
        </p:txBody>
      </p:sp>
      <p:sp>
        <p:nvSpPr>
          <p:cNvPr id="195" name="Google Shape;195;p26"/>
          <p:cNvSpPr txBox="1"/>
          <p:nvPr/>
        </p:nvSpPr>
        <p:spPr>
          <a:xfrm>
            <a:off x="3112550" y="4175225"/>
            <a:ext cx="801300" cy="39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Part #</a:t>
            </a:r>
            <a:endParaRPr/>
          </a:p>
        </p:txBody>
      </p:sp>
      <p:cxnSp>
        <p:nvCxnSpPr>
          <p:cNvPr id="196" name="Google Shape;196;p26"/>
          <p:cNvCxnSpPr>
            <a:endCxn id="192" idx="0"/>
          </p:cNvCxnSpPr>
          <p:nvPr/>
        </p:nvCxnSpPr>
        <p:spPr>
          <a:xfrm flipH="1">
            <a:off x="1453150" y="3882413"/>
            <a:ext cx="137700" cy="292800"/>
          </a:xfrm>
          <a:prstGeom prst="straightConnector1">
            <a:avLst/>
          </a:prstGeom>
          <a:noFill/>
          <a:ln cap="flat" cmpd="sng" w="9525">
            <a:solidFill>
              <a:schemeClr val="dk2"/>
            </a:solidFill>
            <a:prstDash val="solid"/>
            <a:round/>
            <a:headEnd len="med" w="med" type="none"/>
            <a:tailEnd len="med" w="med" type="triangle"/>
          </a:ln>
        </p:spPr>
      </p:cxnSp>
      <p:cxnSp>
        <p:nvCxnSpPr>
          <p:cNvPr id="197" name="Google Shape;197;p26"/>
          <p:cNvCxnSpPr/>
          <p:nvPr/>
        </p:nvCxnSpPr>
        <p:spPr>
          <a:xfrm>
            <a:off x="1841975" y="3882475"/>
            <a:ext cx="179400" cy="263100"/>
          </a:xfrm>
          <a:prstGeom prst="straightConnector1">
            <a:avLst/>
          </a:prstGeom>
          <a:noFill/>
          <a:ln cap="flat" cmpd="sng" w="9525">
            <a:solidFill>
              <a:schemeClr val="dk2"/>
            </a:solidFill>
            <a:prstDash val="solid"/>
            <a:round/>
            <a:headEnd len="med" w="med" type="none"/>
            <a:tailEnd len="med" w="med" type="triangle"/>
          </a:ln>
        </p:spPr>
      </p:cxnSp>
      <p:cxnSp>
        <p:nvCxnSpPr>
          <p:cNvPr id="198" name="Google Shape;198;p26"/>
          <p:cNvCxnSpPr/>
          <p:nvPr/>
        </p:nvCxnSpPr>
        <p:spPr>
          <a:xfrm>
            <a:off x="2200825" y="3918350"/>
            <a:ext cx="454500" cy="227400"/>
          </a:xfrm>
          <a:prstGeom prst="straightConnector1">
            <a:avLst/>
          </a:prstGeom>
          <a:noFill/>
          <a:ln cap="flat" cmpd="sng" w="9525">
            <a:solidFill>
              <a:schemeClr val="dk2"/>
            </a:solidFill>
            <a:prstDash val="solid"/>
            <a:round/>
            <a:headEnd len="med" w="med" type="none"/>
            <a:tailEnd len="med" w="med" type="triangle"/>
          </a:ln>
        </p:spPr>
      </p:cxnSp>
      <p:cxnSp>
        <p:nvCxnSpPr>
          <p:cNvPr id="199" name="Google Shape;199;p26"/>
          <p:cNvCxnSpPr/>
          <p:nvPr/>
        </p:nvCxnSpPr>
        <p:spPr>
          <a:xfrm>
            <a:off x="2842525" y="3978100"/>
            <a:ext cx="291300" cy="143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p27"/>
          <p:cNvPicPr preferRelativeResize="0"/>
          <p:nvPr/>
        </p:nvPicPr>
        <p:blipFill>
          <a:blip r:embed="rId3">
            <a:alphaModFix/>
          </a:blip>
          <a:stretch>
            <a:fillRect/>
          </a:stretch>
        </p:blipFill>
        <p:spPr>
          <a:xfrm>
            <a:off x="2585731" y="2540525"/>
            <a:ext cx="6246569" cy="1915450"/>
          </a:xfrm>
          <a:prstGeom prst="rect">
            <a:avLst/>
          </a:prstGeom>
          <a:noFill/>
          <a:ln>
            <a:noFill/>
          </a:ln>
        </p:spPr>
      </p:pic>
      <p:sp>
        <p:nvSpPr>
          <p:cNvPr id="205" name="Google Shape;205;p27"/>
          <p:cNvSpPr txBox="1"/>
          <p:nvPr/>
        </p:nvSpPr>
        <p:spPr>
          <a:xfrm>
            <a:off x="6869250" y="4540026"/>
            <a:ext cx="1494000" cy="501900"/>
          </a:xfrm>
          <a:prstGeom prst="rect">
            <a:avLst/>
          </a:prstGeom>
          <a:noFill/>
          <a:ln>
            <a:noFill/>
          </a:ln>
        </p:spPr>
        <p:txBody>
          <a:bodyPr anchorCtr="0" anchor="t" bIns="47250" lIns="47250" spcFirstLastPara="1" rIns="47250" wrap="square" tIns="47250">
            <a:noAutofit/>
          </a:bodyPr>
          <a:lstStyle/>
          <a:p>
            <a:pPr indent="0" lvl="0" marL="0" rtl="0" algn="ctr">
              <a:spcBef>
                <a:spcPts val="0"/>
              </a:spcBef>
              <a:spcAft>
                <a:spcPts val="0"/>
              </a:spcAft>
              <a:buNone/>
            </a:pPr>
            <a:r>
              <a:rPr b="1" lang="en-GB">
                <a:highlight>
                  <a:srgbClr val="FFFF00"/>
                </a:highlight>
              </a:rPr>
              <a:t>Multivalued Attribute</a:t>
            </a:r>
            <a:endParaRPr b="1">
              <a:highlight>
                <a:srgbClr val="FFFF00"/>
              </a:highlight>
            </a:endParaRPr>
          </a:p>
        </p:txBody>
      </p:sp>
      <p:cxnSp>
        <p:nvCxnSpPr>
          <p:cNvPr id="206" name="Google Shape;206;p27"/>
          <p:cNvCxnSpPr/>
          <p:nvPr/>
        </p:nvCxnSpPr>
        <p:spPr>
          <a:xfrm rot="10800000">
            <a:off x="7613247" y="4088824"/>
            <a:ext cx="6000" cy="451200"/>
          </a:xfrm>
          <a:prstGeom prst="straightConnector1">
            <a:avLst/>
          </a:prstGeom>
          <a:noFill/>
          <a:ln cap="flat" cmpd="sng" w="19675">
            <a:solidFill>
              <a:srgbClr val="FF00FF"/>
            </a:solidFill>
            <a:prstDash val="solid"/>
            <a:round/>
            <a:headEnd len="med" w="med" type="none"/>
            <a:tailEnd len="med" w="med" type="triangle"/>
          </a:ln>
        </p:spPr>
      </p:cxnSp>
      <p:cxnSp>
        <p:nvCxnSpPr>
          <p:cNvPr id="207" name="Google Shape;207;p27"/>
          <p:cNvCxnSpPr/>
          <p:nvPr/>
        </p:nvCxnSpPr>
        <p:spPr>
          <a:xfrm rot="10800000">
            <a:off x="6533406" y="4091974"/>
            <a:ext cx="809700" cy="444900"/>
          </a:xfrm>
          <a:prstGeom prst="straightConnector1">
            <a:avLst/>
          </a:prstGeom>
          <a:noFill/>
          <a:ln cap="flat" cmpd="sng" w="19675">
            <a:solidFill>
              <a:srgbClr val="FF00FF"/>
            </a:solidFill>
            <a:prstDash val="solid"/>
            <a:round/>
            <a:headEnd len="med" w="med" type="none"/>
            <a:tailEnd len="med" w="med" type="triangle"/>
          </a:ln>
        </p:spPr>
      </p:cxnSp>
      <p:sp>
        <p:nvSpPr>
          <p:cNvPr id="208" name="Google Shape;208;p27"/>
          <p:cNvSpPr txBox="1"/>
          <p:nvPr>
            <p:ph idx="4294967295"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a:t>Modeling Multivalued Attributes</a:t>
            </a:r>
            <a:endParaRPr/>
          </a:p>
        </p:txBody>
      </p:sp>
      <p:sp>
        <p:nvSpPr>
          <p:cNvPr id="209" name="Google Shape;209;p27"/>
          <p:cNvSpPr txBox="1"/>
          <p:nvPr>
            <p:ph idx="4294967295" type="body"/>
          </p:nvPr>
        </p:nvSpPr>
        <p:spPr>
          <a:xfrm>
            <a:off x="311700" y="1152475"/>
            <a:ext cx="8486100" cy="1388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GB" sz="1400">
                <a:solidFill>
                  <a:schemeClr val="dk1"/>
                </a:solidFill>
              </a:rPr>
              <a:t>in </a:t>
            </a:r>
            <a:r>
              <a:rPr b="1" lang="en-GB" sz="1400">
                <a:solidFill>
                  <a:schemeClr val="dk1"/>
                </a:solidFill>
              </a:rPr>
              <a:t>ER modeling</a:t>
            </a:r>
            <a:r>
              <a:rPr lang="en-GB" sz="1400">
                <a:solidFill>
                  <a:schemeClr val="dk1"/>
                </a:solidFill>
              </a:rPr>
              <a:t>, attributes can be </a:t>
            </a:r>
            <a:r>
              <a:rPr b="1" lang="en-GB" sz="1400">
                <a:solidFill>
                  <a:schemeClr val="dk1"/>
                </a:solidFill>
              </a:rPr>
              <a:t>multi-valued</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In the </a:t>
            </a:r>
            <a:r>
              <a:rPr b="1" lang="en-GB" sz="1400">
                <a:solidFill>
                  <a:schemeClr val="dk1"/>
                </a:solidFill>
              </a:rPr>
              <a:t>relational model</a:t>
            </a:r>
            <a:r>
              <a:rPr lang="en-GB" sz="1400">
                <a:solidFill>
                  <a:schemeClr val="dk1"/>
                </a:solidFill>
              </a:rPr>
              <a:t>, </a:t>
            </a:r>
            <a:r>
              <a:rPr b="1" lang="en-GB" sz="1400">
                <a:solidFill>
                  <a:schemeClr val="dk1"/>
                </a:solidFill>
              </a:rPr>
              <a:t>multi-valued attributes are not allowed</a:t>
            </a:r>
            <a:endParaRPr b="1"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They must be </a:t>
            </a:r>
            <a:r>
              <a:rPr b="1" lang="en-GB" sz="1400">
                <a:solidFill>
                  <a:schemeClr val="dk1"/>
                </a:solidFill>
              </a:rPr>
              <a:t>transformed</a:t>
            </a:r>
            <a:r>
              <a:rPr lang="en-GB" sz="1400">
                <a:solidFill>
                  <a:schemeClr val="dk1"/>
                </a:solidFill>
              </a:rPr>
              <a:t> before implementation</a:t>
            </a:r>
            <a:endParaRPr sz="1400">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(Details → Module 3: Mapping ER → Relational Schema)</a:t>
            </a:r>
            <a:endParaRPr>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For now: just </a:t>
            </a:r>
            <a:r>
              <a:rPr b="1" lang="en-GB" sz="1400">
                <a:solidFill>
                  <a:schemeClr val="dk1"/>
                </a:solidFill>
              </a:rPr>
              <a:t>recognize them in ERDs</a:t>
            </a:r>
            <a:r>
              <a:rPr lang="en-GB" sz="1400">
                <a:solidFill>
                  <a:schemeClr val="dk1"/>
                </a:solidFill>
              </a:rPr>
              <a:t> and know they will require special handling</a:t>
            </a:r>
            <a:endParaRPr sz="1400">
              <a:solidFill>
                <a:schemeClr val="dk1"/>
              </a:solidFill>
            </a:endParaRPr>
          </a:p>
          <a:p>
            <a:pPr indent="0" lvl="0" marL="0" rtl="0" algn="l">
              <a:spcBef>
                <a:spcPts val="1600"/>
              </a:spcBef>
              <a:spcAft>
                <a:spcPts val="1600"/>
              </a:spcAft>
              <a:buNone/>
            </a:pPr>
            <a:r>
              <a:t/>
            </a:r>
            <a:endParaRPr sz="1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Derived (Computed) Attributes</a:t>
            </a:r>
            <a:endParaRPr/>
          </a:p>
        </p:txBody>
      </p:sp>
      <p:sp>
        <p:nvSpPr>
          <p:cNvPr id="215" name="Google Shape;215;p28"/>
          <p:cNvSpPr txBox="1"/>
          <p:nvPr>
            <p:ph idx="1" type="body"/>
          </p:nvPr>
        </p:nvSpPr>
        <p:spPr>
          <a:xfrm>
            <a:off x="311700" y="1152475"/>
            <a:ext cx="8520600" cy="8235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GB"/>
              <a:t>The value of the attribute is </a:t>
            </a:r>
            <a:r>
              <a:rPr b="1" lang="en-GB">
                <a:highlight>
                  <a:srgbClr val="FFFF00"/>
                </a:highlight>
              </a:rPr>
              <a:t>derived from other attributes</a:t>
            </a:r>
            <a:r>
              <a:rPr lang="en-GB"/>
              <a:t> </a:t>
            </a:r>
            <a:endParaRPr/>
          </a:p>
          <a:p>
            <a:pPr indent="0" lvl="0" marL="0" rtl="0" algn="ctr">
              <a:lnSpc>
                <a:spcPct val="100000"/>
              </a:lnSpc>
              <a:spcBef>
                <a:spcPts val="1600"/>
              </a:spcBef>
              <a:spcAft>
                <a:spcPts val="1600"/>
              </a:spcAft>
              <a:buNone/>
            </a:pPr>
            <a:r>
              <a:rPr lang="en-GB"/>
              <a:t>e.g. </a:t>
            </a:r>
            <a:r>
              <a:rPr lang="en-GB" sz="1800"/>
              <a:t>Age</a:t>
            </a:r>
            <a:r>
              <a:rPr lang="en-GB"/>
              <a:t>, </a:t>
            </a:r>
            <a:r>
              <a:rPr lang="en-GB" sz="1800"/>
              <a:t>Total Cost of Orders</a:t>
            </a:r>
            <a:r>
              <a:rPr lang="en-GB"/>
              <a:t>, </a:t>
            </a:r>
            <a:r>
              <a:rPr lang="en-GB" sz="1800"/>
              <a:t>Avg Speed</a:t>
            </a:r>
            <a:endParaRPr sz="2400"/>
          </a:p>
        </p:txBody>
      </p:sp>
      <p:pic>
        <p:nvPicPr>
          <p:cNvPr id="216" name="Google Shape;216;p28"/>
          <p:cNvPicPr preferRelativeResize="0"/>
          <p:nvPr/>
        </p:nvPicPr>
        <p:blipFill>
          <a:blip r:embed="rId3">
            <a:alphaModFix/>
          </a:blip>
          <a:stretch>
            <a:fillRect/>
          </a:stretch>
        </p:blipFill>
        <p:spPr>
          <a:xfrm>
            <a:off x="137063" y="2252075"/>
            <a:ext cx="8869875" cy="28064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29"/>
          <p:cNvPicPr preferRelativeResize="0"/>
          <p:nvPr/>
        </p:nvPicPr>
        <p:blipFill>
          <a:blip r:embed="rId3">
            <a:alphaModFix/>
          </a:blip>
          <a:stretch>
            <a:fillRect/>
          </a:stretch>
        </p:blipFill>
        <p:spPr>
          <a:xfrm>
            <a:off x="96863" y="2090725"/>
            <a:ext cx="8950275" cy="2954300"/>
          </a:xfrm>
          <a:prstGeom prst="rect">
            <a:avLst/>
          </a:prstGeom>
          <a:noFill/>
          <a:ln>
            <a:noFill/>
          </a:ln>
        </p:spPr>
      </p:pic>
      <p:sp>
        <p:nvSpPr>
          <p:cNvPr id="222" name="Google Shape;222;p29"/>
          <p:cNvSpPr txBox="1"/>
          <p:nvPr>
            <p:ph idx="4294967295" type="body"/>
          </p:nvPr>
        </p:nvSpPr>
        <p:spPr>
          <a:xfrm>
            <a:off x="253575" y="1017725"/>
            <a:ext cx="8520600" cy="9978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GB"/>
              <a:t>Designer should be aware of </a:t>
            </a:r>
            <a:r>
              <a:rPr b="1" lang="en-GB">
                <a:highlight>
                  <a:srgbClr val="D9EAD3"/>
                </a:highlight>
              </a:rPr>
              <a:t>advantages &amp; disadvantages </a:t>
            </a:r>
            <a:r>
              <a:rPr lang="en-GB"/>
              <a:t>of storing derived attributes</a:t>
            </a:r>
            <a:endParaRPr/>
          </a:p>
        </p:txBody>
      </p:sp>
      <p:sp>
        <p:nvSpPr>
          <p:cNvPr id="223" name="Google Shape;223;p29"/>
          <p:cNvSpPr txBox="1"/>
          <p:nvPr>
            <p:ph idx="4294967295"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Implementing Derived Attributes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Attributes Dive In Checklist </a:t>
            </a:r>
            <a:endParaRPr/>
          </a:p>
        </p:txBody>
      </p:sp>
      <p:sp>
        <p:nvSpPr>
          <p:cNvPr id="229" name="Google Shape;229;p30"/>
          <p:cNvSpPr txBox="1"/>
          <p:nvPr>
            <p:ph idx="1" type="body"/>
          </p:nvPr>
        </p:nvSpPr>
        <p:spPr>
          <a:xfrm>
            <a:off x="311700" y="1152475"/>
            <a:ext cx="8520600" cy="3591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Specify </a:t>
            </a:r>
            <a:r>
              <a:rPr b="1" lang="en-GB">
                <a:highlight>
                  <a:srgbClr val="FFFF00"/>
                </a:highlight>
              </a:rPr>
              <a:t>required</a:t>
            </a:r>
            <a:r>
              <a:rPr lang="en-GB"/>
              <a:t> attributes</a:t>
            </a:r>
            <a:endParaRPr/>
          </a:p>
          <a:p>
            <a:pPr indent="-342900" lvl="0" marL="457200" rtl="0" algn="l">
              <a:spcBef>
                <a:spcPts val="0"/>
              </a:spcBef>
              <a:spcAft>
                <a:spcPts val="0"/>
              </a:spcAft>
              <a:buSzPts val="1800"/>
              <a:buChar char="-"/>
            </a:pPr>
            <a:r>
              <a:rPr lang="en-GB"/>
              <a:t>Specify </a:t>
            </a:r>
            <a:r>
              <a:rPr b="1" lang="en-GB">
                <a:highlight>
                  <a:srgbClr val="D9EAD3"/>
                </a:highlight>
              </a:rPr>
              <a:t>identifiers</a:t>
            </a:r>
            <a:r>
              <a:rPr lang="en-GB"/>
              <a:t> (PKs)</a:t>
            </a:r>
            <a:endParaRPr/>
          </a:p>
          <a:p>
            <a:pPr indent="-342900" lvl="0" marL="457200" rtl="0" algn="l">
              <a:spcBef>
                <a:spcPts val="0"/>
              </a:spcBef>
              <a:spcAft>
                <a:spcPts val="0"/>
              </a:spcAft>
              <a:buSzPts val="1800"/>
              <a:buChar char="-"/>
            </a:pPr>
            <a:r>
              <a:rPr lang="en-GB"/>
              <a:t>Are there any </a:t>
            </a:r>
            <a:r>
              <a:rPr b="1" lang="en-GB">
                <a:highlight>
                  <a:srgbClr val="FFE599"/>
                </a:highlight>
              </a:rPr>
              <a:t>composite attributes</a:t>
            </a:r>
            <a:r>
              <a:rPr lang="en-GB"/>
              <a:t>?</a:t>
            </a:r>
            <a:endParaRPr/>
          </a:p>
          <a:p>
            <a:pPr indent="-317500" lvl="1" marL="914400" rtl="0" algn="l">
              <a:spcBef>
                <a:spcPts val="0"/>
              </a:spcBef>
              <a:spcAft>
                <a:spcPts val="0"/>
              </a:spcAft>
              <a:buSzPts val="1400"/>
              <a:buChar char="-"/>
            </a:pPr>
            <a:r>
              <a:rPr lang="en-GB"/>
              <a:t>Do we need to decompose?</a:t>
            </a:r>
            <a:endParaRPr/>
          </a:p>
          <a:p>
            <a:pPr indent="-342900" lvl="0" marL="457200" rtl="0" algn="l">
              <a:spcBef>
                <a:spcPts val="0"/>
              </a:spcBef>
              <a:spcAft>
                <a:spcPts val="0"/>
              </a:spcAft>
              <a:buSzPts val="1800"/>
              <a:buChar char="-"/>
            </a:pPr>
            <a:r>
              <a:rPr lang="en-GB"/>
              <a:t>Specify </a:t>
            </a:r>
            <a:r>
              <a:rPr b="1" lang="en-GB">
                <a:highlight>
                  <a:srgbClr val="C9DAF8"/>
                </a:highlight>
              </a:rPr>
              <a:t>multivalued</a:t>
            </a:r>
            <a:r>
              <a:rPr lang="en-GB"/>
              <a:t> attributes</a:t>
            </a:r>
            <a:endParaRPr/>
          </a:p>
          <a:p>
            <a:pPr indent="-317500" lvl="1" marL="914400" rtl="0" algn="l">
              <a:spcBef>
                <a:spcPts val="0"/>
              </a:spcBef>
              <a:spcAft>
                <a:spcPts val="0"/>
              </a:spcAft>
              <a:buSzPts val="1400"/>
              <a:buChar char="-"/>
            </a:pPr>
            <a:r>
              <a:rPr lang="en-GB"/>
              <a:t>What is the best way to implement them?</a:t>
            </a:r>
            <a:endParaRPr/>
          </a:p>
          <a:p>
            <a:pPr indent="-342900" lvl="0" marL="457200" rtl="0" algn="l">
              <a:spcBef>
                <a:spcPts val="0"/>
              </a:spcBef>
              <a:spcAft>
                <a:spcPts val="0"/>
              </a:spcAft>
              <a:buSzPts val="1800"/>
              <a:buChar char="-"/>
            </a:pPr>
            <a:r>
              <a:rPr lang="en-GB"/>
              <a:t>Should we define any </a:t>
            </a:r>
            <a:r>
              <a:rPr b="1" lang="en-GB">
                <a:highlight>
                  <a:srgbClr val="F4CCCC"/>
                </a:highlight>
              </a:rPr>
              <a:t>derived attributes</a:t>
            </a:r>
            <a:r>
              <a:rPr lang="en-GB"/>
              <a:t>?</a:t>
            </a:r>
            <a:endParaRPr/>
          </a:p>
          <a:p>
            <a:pPr indent="0" lvl="0" marL="457200" rtl="0" algn="l">
              <a:spcBef>
                <a:spcPts val="1600"/>
              </a:spcBef>
              <a:spcAft>
                <a:spcPts val="16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1"/>
          <p:cNvSpPr txBox="1"/>
          <p:nvPr>
            <p:ph type="title"/>
          </p:nvPr>
        </p:nvSpPr>
        <p:spPr>
          <a:xfrm>
            <a:off x="1051350" y="2150850"/>
            <a:ext cx="70413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a:t>2. Characteristics of </a:t>
            </a:r>
            <a:r>
              <a:rPr b="1" lang="en-GB">
                <a:highlight>
                  <a:srgbClr val="FFFF00"/>
                </a:highlight>
              </a:rPr>
              <a:t>Relationships</a:t>
            </a:r>
            <a:endParaRPr b="1">
              <a:highlight>
                <a:srgbClr val="FFFF00"/>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Relationships</a:t>
            </a:r>
            <a:endParaRPr/>
          </a:p>
        </p:txBody>
      </p:sp>
      <p:sp>
        <p:nvSpPr>
          <p:cNvPr id="240" name="Google Shape;240;p32"/>
          <p:cNvSpPr txBox="1"/>
          <p:nvPr>
            <p:ph idx="1" type="body"/>
          </p:nvPr>
        </p:nvSpPr>
        <p:spPr>
          <a:xfrm>
            <a:off x="311700" y="1152475"/>
            <a:ext cx="8520600" cy="3591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GB">
                <a:highlight>
                  <a:srgbClr val="FFFF00"/>
                </a:highlight>
              </a:rPr>
              <a:t>Participants: </a:t>
            </a:r>
            <a:r>
              <a:rPr lang="en-GB"/>
              <a:t>entities in relationships </a:t>
            </a:r>
            <a:endParaRPr/>
          </a:p>
          <a:p>
            <a:pPr indent="-342900" lvl="0" marL="457200" rtl="0" algn="l">
              <a:spcBef>
                <a:spcPts val="0"/>
              </a:spcBef>
              <a:spcAft>
                <a:spcPts val="0"/>
              </a:spcAft>
              <a:buSzPts val="1800"/>
              <a:buChar char="-"/>
            </a:pPr>
            <a:r>
              <a:rPr b="1" lang="en-GB">
                <a:highlight>
                  <a:srgbClr val="00FFFF"/>
                </a:highlight>
              </a:rPr>
              <a:t>Name</a:t>
            </a:r>
            <a:r>
              <a:rPr lang="en-GB"/>
              <a:t> of the relationship → Active or passive verb</a:t>
            </a:r>
            <a:endParaRPr/>
          </a:p>
          <a:p>
            <a:pPr indent="-342900" lvl="0" marL="457200" rtl="0" algn="l">
              <a:spcBef>
                <a:spcPts val="0"/>
              </a:spcBef>
              <a:spcAft>
                <a:spcPts val="0"/>
              </a:spcAft>
              <a:buSzPts val="1800"/>
              <a:buChar char="-"/>
            </a:pPr>
            <a:r>
              <a:rPr lang="en-GB"/>
              <a:t>Always </a:t>
            </a:r>
            <a:r>
              <a:rPr b="1" lang="en-GB">
                <a:highlight>
                  <a:srgbClr val="00FF00"/>
                </a:highlight>
              </a:rPr>
              <a:t>bidirectional</a:t>
            </a:r>
            <a:r>
              <a:rPr lang="en-GB"/>
              <a:t> → you should know both sides to be able to detect the type of the relationship</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Connectivity &amp; Cardinality</a:t>
            </a:r>
            <a:endParaRPr/>
          </a:p>
        </p:txBody>
      </p:sp>
      <p:sp>
        <p:nvSpPr>
          <p:cNvPr id="246" name="Google Shape;246;p33"/>
          <p:cNvSpPr txBox="1"/>
          <p:nvPr>
            <p:ph idx="1" type="body"/>
          </p:nvPr>
        </p:nvSpPr>
        <p:spPr>
          <a:xfrm>
            <a:off x="311700" y="1152475"/>
            <a:ext cx="8520600" cy="1324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GB">
                <a:highlight>
                  <a:srgbClr val="FFFF00"/>
                </a:highlight>
              </a:rPr>
              <a:t>Connectivity</a:t>
            </a:r>
            <a:r>
              <a:rPr b="1" lang="en-GB"/>
              <a:t>: </a:t>
            </a:r>
            <a:r>
              <a:rPr lang="en-GB"/>
              <a:t>Relationship Classification (1:1, 1:M, M:N)</a:t>
            </a:r>
            <a:endParaRPr/>
          </a:p>
          <a:p>
            <a:pPr indent="-342900" lvl="0" marL="457200" rtl="0" algn="l">
              <a:spcBef>
                <a:spcPts val="0"/>
              </a:spcBef>
              <a:spcAft>
                <a:spcPts val="0"/>
              </a:spcAft>
              <a:buSzPts val="1800"/>
              <a:buChar char="-"/>
            </a:pPr>
            <a:r>
              <a:rPr b="1" lang="en-GB">
                <a:highlight>
                  <a:srgbClr val="00FF00"/>
                </a:highlight>
              </a:rPr>
              <a:t>Cardinality</a:t>
            </a:r>
            <a:r>
              <a:rPr lang="en-GB"/>
              <a:t>: Expresses </a:t>
            </a:r>
            <a:r>
              <a:rPr b="1" lang="en-GB">
                <a:highlight>
                  <a:srgbClr val="00FFFF"/>
                </a:highlight>
              </a:rPr>
              <a:t>min &amp; max</a:t>
            </a:r>
            <a:r>
              <a:rPr lang="en-GB"/>
              <a:t> number of instances in relationship</a:t>
            </a:r>
            <a:endParaRPr/>
          </a:p>
          <a:p>
            <a:pPr indent="-317500" lvl="1" marL="914400" rtl="0" algn="l">
              <a:spcBef>
                <a:spcPts val="0"/>
              </a:spcBef>
              <a:spcAft>
                <a:spcPts val="0"/>
              </a:spcAft>
              <a:buSzPts val="1400"/>
              <a:buChar char="-"/>
            </a:pPr>
            <a:r>
              <a:rPr lang="en-GB"/>
              <a:t>Cardinality cannot be implemented in the DBMS directly </a:t>
            </a:r>
            <a:endParaRPr/>
          </a:p>
          <a:p>
            <a:pPr indent="-317500" lvl="1" marL="914400" rtl="0" algn="l">
              <a:spcBef>
                <a:spcPts val="0"/>
              </a:spcBef>
              <a:spcAft>
                <a:spcPts val="0"/>
              </a:spcAft>
              <a:buSzPts val="1400"/>
              <a:buChar char="-"/>
            </a:pPr>
            <a:r>
              <a:rPr lang="en-GB"/>
              <a:t>Application software or triggers can handle cardinality</a:t>
            </a:r>
            <a:endParaRPr/>
          </a:p>
        </p:txBody>
      </p:sp>
      <p:pic>
        <p:nvPicPr>
          <p:cNvPr id="247" name="Google Shape;247;p33"/>
          <p:cNvPicPr preferRelativeResize="0"/>
          <p:nvPr/>
        </p:nvPicPr>
        <p:blipFill>
          <a:blip r:embed="rId3">
            <a:alphaModFix/>
          </a:blip>
          <a:stretch>
            <a:fillRect/>
          </a:stretch>
        </p:blipFill>
        <p:spPr>
          <a:xfrm>
            <a:off x="726350" y="2476875"/>
            <a:ext cx="7691300" cy="25612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Existence Dependence</a:t>
            </a:r>
            <a:endParaRPr/>
          </a:p>
        </p:txBody>
      </p:sp>
      <p:sp>
        <p:nvSpPr>
          <p:cNvPr id="253" name="Google Shape;253;p34"/>
          <p:cNvSpPr txBox="1"/>
          <p:nvPr>
            <p:ph idx="1" type="body"/>
          </p:nvPr>
        </p:nvSpPr>
        <p:spPr>
          <a:xfrm>
            <a:off x="311700" y="1152475"/>
            <a:ext cx="8520600" cy="18858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2"/>
              </a:buClr>
              <a:buSzPts val="1800"/>
              <a:buFont typeface="Arial"/>
              <a:buChar char="-"/>
            </a:pPr>
            <a:r>
              <a:rPr lang="en-GB"/>
              <a:t>Some entities, we should keep in the database, only if they are related to another entity in our system</a:t>
            </a:r>
            <a:endParaRPr/>
          </a:p>
          <a:p>
            <a:pPr indent="-342900" lvl="0" marL="457200" marR="0" rtl="0" algn="l">
              <a:lnSpc>
                <a:spcPct val="115000"/>
              </a:lnSpc>
              <a:spcBef>
                <a:spcPts val="0"/>
              </a:spcBef>
              <a:spcAft>
                <a:spcPts val="0"/>
              </a:spcAft>
              <a:buSzPts val="1800"/>
              <a:buChar char="-"/>
            </a:pPr>
            <a:r>
              <a:rPr lang="en-GB"/>
              <a:t>Example: “</a:t>
            </a:r>
            <a:r>
              <a:rPr b="1" lang="en-GB">
                <a:highlight>
                  <a:srgbClr val="FFFF00"/>
                </a:highlight>
              </a:rPr>
              <a:t>EMPLOYEE Claims DEPENDENT</a:t>
            </a:r>
            <a:r>
              <a:rPr lang="en-GB"/>
              <a:t>”</a:t>
            </a:r>
            <a:endParaRPr/>
          </a:p>
          <a:p>
            <a:pPr indent="-342900" lvl="0" marL="457200" marR="0" rtl="0" algn="l">
              <a:lnSpc>
                <a:spcPct val="115000"/>
              </a:lnSpc>
              <a:spcBef>
                <a:spcPts val="0"/>
              </a:spcBef>
              <a:spcAft>
                <a:spcPts val="0"/>
              </a:spcAft>
              <a:buSzPts val="1800"/>
              <a:buChar char="-"/>
            </a:pPr>
            <a:r>
              <a:rPr lang="en-GB"/>
              <a:t>If the employee is removed from the database, we clearly should remove his dependents from the database as well.</a:t>
            </a:r>
            <a:endParaRPr/>
          </a:p>
          <a:p>
            <a:pPr indent="0" lvl="0" marL="0" marR="0" rtl="0" algn="l">
              <a:lnSpc>
                <a:spcPct val="115000"/>
              </a:lnSpc>
              <a:spcBef>
                <a:spcPts val="1600"/>
              </a:spcBef>
              <a:spcAft>
                <a:spcPts val="16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type="title"/>
          </p:nvPr>
        </p:nvSpPr>
        <p:spPr>
          <a:xfrm>
            <a:off x="1051350" y="2150850"/>
            <a:ext cx="70413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a:t>3. Relationship </a:t>
            </a:r>
            <a:r>
              <a:rPr b="1" lang="en-GB">
                <a:highlight>
                  <a:srgbClr val="FFFF00"/>
                </a:highlight>
              </a:rPr>
              <a:t>Strength</a:t>
            </a:r>
            <a:endParaRPr b="1">
              <a:highlight>
                <a:srgbClr val="FFFF00"/>
              </a:high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Strong Relationships</a:t>
            </a:r>
            <a:endParaRPr/>
          </a:p>
        </p:txBody>
      </p:sp>
      <p:sp>
        <p:nvSpPr>
          <p:cNvPr id="264" name="Google Shape;264;p36"/>
          <p:cNvSpPr txBox="1"/>
          <p:nvPr>
            <p:ph idx="1" type="body"/>
          </p:nvPr>
        </p:nvSpPr>
        <p:spPr>
          <a:xfrm>
            <a:off x="1609950" y="3456900"/>
            <a:ext cx="5924100" cy="13038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None/>
            </a:pPr>
            <a:r>
              <a:rPr lang="en-GB"/>
              <a:t>Sometimes the primary key of the child entity includes the primary key of the parent. This kind of parent-child relationships are called </a:t>
            </a:r>
            <a:r>
              <a:rPr b="1" lang="en-GB">
                <a:highlight>
                  <a:srgbClr val="FFFF00"/>
                </a:highlight>
              </a:rPr>
              <a:t>strong relationships.</a:t>
            </a:r>
            <a:endParaRPr b="1">
              <a:highlight>
                <a:srgbClr val="FFFF00"/>
              </a:highlight>
            </a:endParaRPr>
          </a:p>
        </p:txBody>
      </p:sp>
      <p:pic>
        <p:nvPicPr>
          <p:cNvPr id="265" name="Google Shape;265;p36"/>
          <p:cNvPicPr preferRelativeResize="0"/>
          <p:nvPr/>
        </p:nvPicPr>
        <p:blipFill>
          <a:blip r:embed="rId3">
            <a:alphaModFix/>
          </a:blip>
          <a:stretch>
            <a:fillRect/>
          </a:stretch>
        </p:blipFill>
        <p:spPr>
          <a:xfrm>
            <a:off x="1609950" y="1194050"/>
            <a:ext cx="5924100" cy="23634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Modeling Strong Relationships</a:t>
            </a:r>
            <a:endParaRPr/>
          </a:p>
        </p:txBody>
      </p:sp>
      <p:sp>
        <p:nvSpPr>
          <p:cNvPr id="271" name="Google Shape;271;p37"/>
          <p:cNvSpPr txBox="1"/>
          <p:nvPr>
            <p:ph idx="1" type="body"/>
          </p:nvPr>
        </p:nvSpPr>
        <p:spPr>
          <a:xfrm>
            <a:off x="1609950" y="3456900"/>
            <a:ext cx="5924100" cy="13038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None/>
            </a:pPr>
            <a:r>
              <a:rPr lang="en-GB"/>
              <a:t>Strong relationships (also called </a:t>
            </a:r>
            <a:r>
              <a:rPr b="1" lang="en-GB">
                <a:highlight>
                  <a:srgbClr val="00FFFF"/>
                </a:highlight>
              </a:rPr>
              <a:t>identifying relationships</a:t>
            </a:r>
            <a:r>
              <a:rPr lang="en-GB"/>
              <a:t>) are specified with </a:t>
            </a:r>
            <a:r>
              <a:rPr b="1" lang="en-GB">
                <a:highlight>
                  <a:srgbClr val="FFFF00"/>
                </a:highlight>
              </a:rPr>
              <a:t>solid lines</a:t>
            </a:r>
            <a:r>
              <a:rPr lang="en-GB"/>
              <a:t> in Crow’s Foot ERDs.</a:t>
            </a:r>
            <a:endParaRPr/>
          </a:p>
        </p:txBody>
      </p:sp>
      <p:pic>
        <p:nvPicPr>
          <p:cNvPr id="272" name="Google Shape;272;p37"/>
          <p:cNvPicPr preferRelativeResize="0"/>
          <p:nvPr/>
        </p:nvPicPr>
        <p:blipFill>
          <a:blip r:embed="rId3">
            <a:alphaModFix/>
          </a:blip>
          <a:stretch>
            <a:fillRect/>
          </a:stretch>
        </p:blipFill>
        <p:spPr>
          <a:xfrm>
            <a:off x="886750" y="1170125"/>
            <a:ext cx="7370503" cy="21343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8"/>
          <p:cNvSpPr txBox="1"/>
          <p:nvPr>
            <p:ph type="title"/>
          </p:nvPr>
        </p:nvSpPr>
        <p:spPr>
          <a:xfrm>
            <a:off x="4712875" y="445025"/>
            <a:ext cx="4119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Weak Relationships</a:t>
            </a:r>
            <a:endParaRPr/>
          </a:p>
        </p:txBody>
      </p:sp>
      <p:sp>
        <p:nvSpPr>
          <p:cNvPr id="278" name="Google Shape;278;p38"/>
          <p:cNvSpPr txBox="1"/>
          <p:nvPr>
            <p:ph idx="1" type="body"/>
          </p:nvPr>
        </p:nvSpPr>
        <p:spPr>
          <a:xfrm>
            <a:off x="4712550" y="1152475"/>
            <a:ext cx="4119600" cy="3838500"/>
          </a:xfrm>
          <a:prstGeom prst="rect">
            <a:avLst/>
          </a:prstGeom>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GB"/>
              <a:t>The PK of the child </a:t>
            </a:r>
            <a:r>
              <a:rPr b="1" lang="en-GB">
                <a:highlight>
                  <a:srgbClr val="FFFF00"/>
                </a:highlight>
              </a:rPr>
              <a:t>does not inherit</a:t>
            </a:r>
            <a:r>
              <a:rPr lang="en-GB"/>
              <a:t> a component from the parent PK</a:t>
            </a:r>
            <a:endParaRPr/>
          </a:p>
          <a:p>
            <a:pPr indent="0" lvl="0" marL="0" marR="0" rtl="0" algn="ctr">
              <a:lnSpc>
                <a:spcPct val="115000"/>
              </a:lnSpc>
              <a:spcBef>
                <a:spcPts val="1600"/>
              </a:spcBef>
              <a:spcAft>
                <a:spcPts val="0"/>
              </a:spcAft>
              <a:buNone/>
            </a:pPr>
            <a:r>
              <a:rPr lang="en-GB"/>
              <a:t>The parent’s PK is only a foreign key in the child table (and not part of child’s primary key)</a:t>
            </a:r>
            <a:endParaRPr/>
          </a:p>
          <a:p>
            <a:pPr indent="0" lvl="0" marL="0" marR="0" rtl="0" algn="ctr">
              <a:lnSpc>
                <a:spcPct val="115000"/>
              </a:lnSpc>
              <a:spcBef>
                <a:spcPts val="1600"/>
              </a:spcBef>
              <a:spcAft>
                <a:spcPts val="0"/>
              </a:spcAft>
              <a:buNone/>
            </a:pPr>
            <a:r>
              <a:t/>
            </a:r>
            <a:endParaRPr/>
          </a:p>
          <a:p>
            <a:pPr indent="0" lvl="0" marL="0" marR="0" rtl="0" algn="ctr">
              <a:lnSpc>
                <a:spcPct val="115000"/>
              </a:lnSpc>
              <a:spcBef>
                <a:spcPts val="1600"/>
              </a:spcBef>
              <a:spcAft>
                <a:spcPts val="0"/>
              </a:spcAft>
              <a:buNone/>
            </a:pPr>
            <a:r>
              <a:rPr lang="en-GB"/>
              <a:t>Weak relationships are specified by </a:t>
            </a:r>
            <a:r>
              <a:rPr b="1" lang="en-GB">
                <a:highlight>
                  <a:srgbClr val="00FFFF"/>
                </a:highlight>
              </a:rPr>
              <a:t>dashed lines</a:t>
            </a:r>
            <a:r>
              <a:rPr lang="en-GB"/>
              <a:t> in Crow’s Foot ERDs.</a:t>
            </a:r>
            <a:endParaRPr/>
          </a:p>
          <a:p>
            <a:pPr indent="0" lvl="0" marL="0" marR="0" rtl="0" algn="ctr">
              <a:lnSpc>
                <a:spcPct val="115000"/>
              </a:lnSpc>
              <a:spcBef>
                <a:spcPts val="1600"/>
              </a:spcBef>
              <a:spcAft>
                <a:spcPts val="1600"/>
              </a:spcAft>
              <a:buNone/>
            </a:pPr>
            <a:r>
              <a:t/>
            </a:r>
            <a:endParaRPr/>
          </a:p>
        </p:txBody>
      </p:sp>
      <p:pic>
        <p:nvPicPr>
          <p:cNvPr id="279" name="Google Shape;279;p38"/>
          <p:cNvPicPr preferRelativeResize="0"/>
          <p:nvPr/>
        </p:nvPicPr>
        <p:blipFill>
          <a:blip r:embed="rId3">
            <a:alphaModFix/>
          </a:blip>
          <a:stretch>
            <a:fillRect/>
          </a:stretch>
        </p:blipFill>
        <p:spPr>
          <a:xfrm>
            <a:off x="152400" y="80825"/>
            <a:ext cx="4309275" cy="49102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Relationship Participation</a:t>
            </a:r>
            <a:endParaRPr/>
          </a:p>
        </p:txBody>
      </p:sp>
      <p:sp>
        <p:nvSpPr>
          <p:cNvPr id="285" name="Google Shape;285;p39"/>
          <p:cNvSpPr txBox="1"/>
          <p:nvPr>
            <p:ph idx="1" type="body"/>
          </p:nvPr>
        </p:nvSpPr>
        <p:spPr>
          <a:xfrm>
            <a:off x="311700" y="1152475"/>
            <a:ext cx="8520600" cy="22023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GB"/>
              <a:t>An entity’s participation in a relationship might be </a:t>
            </a:r>
            <a:r>
              <a:rPr b="1" lang="en-GB">
                <a:highlight>
                  <a:srgbClr val="00FFFF"/>
                </a:highlight>
              </a:rPr>
              <a:t>optional</a:t>
            </a:r>
            <a:r>
              <a:rPr b="1" lang="en-GB"/>
              <a:t> </a:t>
            </a:r>
            <a:r>
              <a:rPr lang="en-GB"/>
              <a:t>or</a:t>
            </a:r>
            <a:r>
              <a:rPr b="1" lang="en-GB"/>
              <a:t> </a:t>
            </a:r>
            <a:r>
              <a:rPr b="1" lang="en-GB">
                <a:highlight>
                  <a:srgbClr val="FFFF00"/>
                </a:highlight>
              </a:rPr>
              <a:t>mandatory</a:t>
            </a:r>
            <a:endParaRPr b="1">
              <a:highlight>
                <a:srgbClr val="00FFFF"/>
              </a:highlight>
            </a:endParaRPr>
          </a:p>
          <a:p>
            <a:pPr indent="0" lvl="0" marL="0" marR="0" rtl="0" algn="l">
              <a:lnSpc>
                <a:spcPct val="115000"/>
              </a:lnSpc>
              <a:spcBef>
                <a:spcPts val="1600"/>
              </a:spcBef>
              <a:spcAft>
                <a:spcPts val="1600"/>
              </a:spcAft>
              <a:buNone/>
            </a:pPr>
            <a:r>
              <a:t/>
            </a:r>
            <a:endParaRPr/>
          </a:p>
        </p:txBody>
      </p:sp>
      <p:sp>
        <p:nvSpPr>
          <p:cNvPr id="286" name="Google Shape;286;p39"/>
          <p:cNvSpPr txBox="1"/>
          <p:nvPr/>
        </p:nvSpPr>
        <p:spPr>
          <a:xfrm>
            <a:off x="861225" y="3127950"/>
            <a:ext cx="7356300" cy="1596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400"/>
              <a:t>Relationship Participation ≠ Relationship Strength</a:t>
            </a:r>
            <a:endParaRPr sz="2400"/>
          </a:p>
          <a:p>
            <a:pPr indent="-342900" lvl="0" marL="457200" rtl="0" algn="l">
              <a:spcBef>
                <a:spcPts val="0"/>
              </a:spcBef>
              <a:spcAft>
                <a:spcPts val="0"/>
              </a:spcAft>
              <a:buSzPts val="1800"/>
              <a:buChar char="-"/>
            </a:pPr>
            <a:r>
              <a:rPr lang="en-GB" sz="1800"/>
              <a:t>Possible to have strong but optional relationships </a:t>
            </a:r>
            <a:endParaRPr sz="1800"/>
          </a:p>
          <a:p>
            <a:pPr indent="-317500" lvl="1" marL="914400" rtl="0" algn="l">
              <a:spcBef>
                <a:spcPts val="0"/>
              </a:spcBef>
              <a:spcAft>
                <a:spcPts val="0"/>
              </a:spcAft>
              <a:buSzPts val="1400"/>
              <a:buChar char="-"/>
            </a:pPr>
            <a:r>
              <a:rPr lang="en-GB"/>
              <a:t>e.g. Employee claims Dependent</a:t>
            </a:r>
            <a:endParaRPr/>
          </a:p>
          <a:p>
            <a:pPr indent="-342900" lvl="0" marL="457200" rtl="0" algn="l">
              <a:spcBef>
                <a:spcPts val="0"/>
              </a:spcBef>
              <a:spcAft>
                <a:spcPts val="0"/>
              </a:spcAft>
              <a:buSzPts val="1800"/>
              <a:buChar char="-"/>
            </a:pPr>
            <a:r>
              <a:rPr lang="en-GB" sz="1800"/>
              <a:t>Possible to have weak but mandatory relationships</a:t>
            </a:r>
            <a:endParaRPr sz="1800"/>
          </a:p>
        </p:txBody>
      </p:sp>
      <p:sp>
        <p:nvSpPr>
          <p:cNvPr id="287" name="Google Shape;287;p39"/>
          <p:cNvSpPr txBox="1"/>
          <p:nvPr/>
        </p:nvSpPr>
        <p:spPr>
          <a:xfrm>
            <a:off x="3923425" y="2045450"/>
            <a:ext cx="2284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288" name="Google Shape;288;p39"/>
          <p:cNvPicPr preferRelativeResize="0"/>
          <p:nvPr/>
        </p:nvPicPr>
        <p:blipFill>
          <a:blip r:embed="rId3">
            <a:alphaModFix/>
          </a:blip>
          <a:stretch>
            <a:fillRect/>
          </a:stretch>
        </p:blipFill>
        <p:spPr>
          <a:xfrm>
            <a:off x="1410375" y="2015550"/>
            <a:ext cx="3833644" cy="1112400"/>
          </a:xfrm>
          <a:prstGeom prst="rect">
            <a:avLst/>
          </a:prstGeom>
          <a:noFill/>
          <a:ln>
            <a:noFill/>
          </a:ln>
        </p:spPr>
      </p:pic>
      <p:cxnSp>
        <p:nvCxnSpPr>
          <p:cNvPr id="289" name="Google Shape;289;p39"/>
          <p:cNvCxnSpPr/>
          <p:nvPr/>
        </p:nvCxnSpPr>
        <p:spPr>
          <a:xfrm rot="5400000">
            <a:off x="5328850" y="1716450"/>
            <a:ext cx="657900" cy="502500"/>
          </a:xfrm>
          <a:prstGeom prst="bentConnector3">
            <a:avLst>
              <a:gd fmla="val 103633" name="adj1"/>
            </a:avLst>
          </a:prstGeom>
          <a:noFill/>
          <a:ln cap="flat" cmpd="sng" w="38100">
            <a:solidFill>
              <a:srgbClr val="FF00FF"/>
            </a:solidFill>
            <a:prstDash val="solid"/>
            <a:round/>
            <a:headEnd len="med" w="med" type="none"/>
            <a:tailEnd len="med" w="med" type="triangle"/>
          </a:ln>
        </p:spPr>
      </p:cxnSp>
      <p:cxnSp>
        <p:nvCxnSpPr>
          <p:cNvPr id="290" name="Google Shape;290;p39"/>
          <p:cNvCxnSpPr/>
          <p:nvPr/>
        </p:nvCxnSpPr>
        <p:spPr>
          <a:xfrm flipH="1">
            <a:off x="5490350" y="1638750"/>
            <a:ext cx="1755300" cy="1220100"/>
          </a:xfrm>
          <a:prstGeom prst="bentConnector3">
            <a:avLst>
              <a:gd fmla="val 1186" name="adj1"/>
            </a:avLst>
          </a:prstGeom>
          <a:noFill/>
          <a:ln cap="flat" cmpd="sng" w="38100">
            <a:solidFill>
              <a:srgbClr val="FF00FF"/>
            </a:solidFill>
            <a:prstDash val="solid"/>
            <a:round/>
            <a:headEnd len="med" w="med"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id="295" name="Google Shape;295;p40"/>
          <p:cNvPicPr preferRelativeResize="0"/>
          <p:nvPr/>
        </p:nvPicPr>
        <p:blipFill>
          <a:blip r:embed="rId3">
            <a:alphaModFix/>
          </a:blip>
          <a:stretch>
            <a:fillRect/>
          </a:stretch>
        </p:blipFill>
        <p:spPr>
          <a:xfrm>
            <a:off x="152400" y="2372237"/>
            <a:ext cx="8839201" cy="2606874"/>
          </a:xfrm>
          <a:prstGeom prst="rect">
            <a:avLst/>
          </a:prstGeom>
          <a:noFill/>
          <a:ln>
            <a:noFill/>
          </a:ln>
        </p:spPr>
      </p:pic>
      <p:sp>
        <p:nvSpPr>
          <p:cNvPr id="296" name="Google Shape;296;p40"/>
          <p:cNvSpPr txBox="1"/>
          <p:nvPr>
            <p:ph idx="4294967295"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Relationship Participation</a:t>
            </a:r>
            <a:endParaRPr/>
          </a:p>
        </p:txBody>
      </p:sp>
      <p:sp>
        <p:nvSpPr>
          <p:cNvPr id="297" name="Google Shape;297;p40"/>
          <p:cNvSpPr txBox="1"/>
          <p:nvPr>
            <p:ph idx="4294967295" type="body"/>
          </p:nvPr>
        </p:nvSpPr>
        <p:spPr>
          <a:xfrm>
            <a:off x="311700" y="1139235"/>
            <a:ext cx="8520600" cy="11115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2"/>
              </a:buClr>
              <a:buSzPts val="1800"/>
              <a:buFont typeface="Arial"/>
              <a:buChar char="-"/>
            </a:pPr>
            <a:r>
              <a:rPr lang="en-GB"/>
              <a:t>Class is </a:t>
            </a:r>
            <a:r>
              <a:rPr b="1" lang="en-GB">
                <a:highlight>
                  <a:srgbClr val="FFFF00"/>
                </a:highlight>
              </a:rPr>
              <a:t>optional to</a:t>
            </a:r>
            <a:r>
              <a:rPr lang="en-GB"/>
              <a:t> professor</a:t>
            </a:r>
            <a:endParaRPr/>
          </a:p>
          <a:p>
            <a:pPr indent="-317500" lvl="1" marL="914400" marR="0" rtl="0" algn="l">
              <a:lnSpc>
                <a:spcPct val="115000"/>
              </a:lnSpc>
              <a:spcBef>
                <a:spcPts val="0"/>
              </a:spcBef>
              <a:spcAft>
                <a:spcPts val="0"/>
              </a:spcAft>
              <a:buSzPts val="1400"/>
              <a:buChar char="-"/>
            </a:pPr>
            <a:r>
              <a:rPr lang="en-GB"/>
              <a:t>professors who conduct research without teaching classes</a:t>
            </a:r>
            <a:endParaRPr/>
          </a:p>
          <a:p>
            <a:pPr indent="-342900" lvl="0" marL="457200" marR="0" rtl="0" algn="l">
              <a:lnSpc>
                <a:spcPct val="115000"/>
              </a:lnSpc>
              <a:spcBef>
                <a:spcPts val="0"/>
              </a:spcBef>
              <a:spcAft>
                <a:spcPts val="0"/>
              </a:spcAft>
              <a:buSzPts val="1800"/>
              <a:buChar char="-"/>
            </a:pPr>
            <a:r>
              <a:rPr lang="en-GB"/>
              <a:t>Professor is </a:t>
            </a:r>
            <a:r>
              <a:rPr b="1" lang="en-GB">
                <a:highlight>
                  <a:srgbClr val="00FFFF"/>
                </a:highlight>
              </a:rPr>
              <a:t>mandatory to</a:t>
            </a:r>
            <a:r>
              <a:rPr lang="en-GB"/>
              <a:t> class</a:t>
            </a:r>
            <a:endParaRPr/>
          </a:p>
          <a:p>
            <a:pPr indent="0" lvl="0" marL="457200" marR="0" rtl="0" algn="l">
              <a:lnSpc>
                <a:spcPct val="115000"/>
              </a:lnSpc>
              <a:spcBef>
                <a:spcPts val="1600"/>
              </a:spcBef>
              <a:spcAft>
                <a:spcPts val="16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41"/>
          <p:cNvPicPr preferRelativeResize="0"/>
          <p:nvPr/>
        </p:nvPicPr>
        <p:blipFill>
          <a:blip r:embed="rId3">
            <a:alphaModFix/>
          </a:blip>
          <a:stretch>
            <a:fillRect/>
          </a:stretch>
        </p:blipFill>
        <p:spPr>
          <a:xfrm>
            <a:off x="161775" y="530762"/>
            <a:ext cx="5575401" cy="1818525"/>
          </a:xfrm>
          <a:prstGeom prst="rect">
            <a:avLst/>
          </a:prstGeom>
          <a:noFill/>
          <a:ln>
            <a:noFill/>
          </a:ln>
        </p:spPr>
      </p:pic>
      <p:sp>
        <p:nvSpPr>
          <p:cNvPr id="303" name="Google Shape;303;p41"/>
          <p:cNvSpPr txBox="1"/>
          <p:nvPr>
            <p:ph idx="4294967295" type="title"/>
          </p:nvPr>
        </p:nvSpPr>
        <p:spPr>
          <a:xfrm>
            <a:off x="5884525" y="530763"/>
            <a:ext cx="2947800" cy="1153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Relationship Participation</a:t>
            </a:r>
            <a:endParaRPr/>
          </a:p>
        </p:txBody>
      </p:sp>
      <p:pic>
        <p:nvPicPr>
          <p:cNvPr id="304" name="Google Shape;304;p41"/>
          <p:cNvPicPr preferRelativeResize="0"/>
          <p:nvPr/>
        </p:nvPicPr>
        <p:blipFill>
          <a:blip r:embed="rId4">
            <a:alphaModFix/>
          </a:blip>
          <a:stretch>
            <a:fillRect/>
          </a:stretch>
        </p:blipFill>
        <p:spPr>
          <a:xfrm>
            <a:off x="161775" y="2657038"/>
            <a:ext cx="5575401" cy="1736874"/>
          </a:xfrm>
          <a:prstGeom prst="rect">
            <a:avLst/>
          </a:prstGeom>
          <a:noFill/>
          <a:ln>
            <a:noFill/>
          </a:ln>
        </p:spPr>
      </p:pic>
      <p:sp>
        <p:nvSpPr>
          <p:cNvPr id="305" name="Google Shape;305;p41"/>
          <p:cNvSpPr txBox="1"/>
          <p:nvPr>
            <p:ph idx="4294967295" type="body"/>
          </p:nvPr>
        </p:nvSpPr>
        <p:spPr>
          <a:xfrm>
            <a:off x="6131725" y="1872838"/>
            <a:ext cx="2700600" cy="27399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GB"/>
              <a:t>COURSE is mandatory in the relationship. But the participation of the CLASS entity might be </a:t>
            </a:r>
            <a:r>
              <a:rPr b="1" lang="en-GB"/>
              <a:t>optional or mandatory</a:t>
            </a:r>
            <a:r>
              <a:rPr lang="en-GB"/>
              <a:t>.  </a:t>
            </a:r>
            <a:endParaRPr/>
          </a:p>
          <a:p>
            <a:pPr indent="0" lvl="0" marL="0" marR="0" rtl="0" algn="ctr">
              <a:lnSpc>
                <a:spcPct val="115000"/>
              </a:lnSpc>
              <a:spcBef>
                <a:spcPts val="1600"/>
              </a:spcBef>
              <a:spcAft>
                <a:spcPts val="0"/>
              </a:spcAft>
              <a:buNone/>
            </a:pPr>
            <a:r>
              <a:rPr b="1" lang="en-GB" sz="2400">
                <a:highlight>
                  <a:srgbClr val="FFFF00"/>
                </a:highlight>
              </a:rPr>
              <a:t>Optionality Reflects Practice</a:t>
            </a:r>
            <a:endParaRPr b="1" sz="2400">
              <a:highlight>
                <a:srgbClr val="FFFF00"/>
              </a:highlight>
            </a:endParaRPr>
          </a:p>
          <a:p>
            <a:pPr indent="0" lvl="0" marL="0" marR="0" rtl="0" algn="l">
              <a:lnSpc>
                <a:spcPct val="115000"/>
              </a:lnSpc>
              <a:spcBef>
                <a:spcPts val="1600"/>
              </a:spcBef>
              <a:spcAft>
                <a:spcPts val="1600"/>
              </a:spcAft>
              <a:buNone/>
            </a:pPr>
            <a:r>
              <a:t/>
            </a:r>
            <a:endParaRPr b="1"/>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2"/>
          <p:cNvSpPr txBox="1"/>
          <p:nvPr>
            <p:ph type="title"/>
          </p:nvPr>
        </p:nvSpPr>
        <p:spPr>
          <a:xfrm>
            <a:off x="4258350" y="445025"/>
            <a:ext cx="4573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Relationship Degree</a:t>
            </a:r>
            <a:endParaRPr/>
          </a:p>
        </p:txBody>
      </p:sp>
      <p:sp>
        <p:nvSpPr>
          <p:cNvPr id="311" name="Google Shape;311;p42"/>
          <p:cNvSpPr txBox="1"/>
          <p:nvPr>
            <p:ph idx="1" type="body"/>
          </p:nvPr>
        </p:nvSpPr>
        <p:spPr>
          <a:xfrm>
            <a:off x="5564700" y="1343875"/>
            <a:ext cx="1961100" cy="18261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b="1" lang="en-GB">
                <a:highlight>
                  <a:srgbClr val="FFFF00"/>
                </a:highlight>
              </a:rPr>
              <a:t>Unary</a:t>
            </a:r>
            <a:endParaRPr b="1">
              <a:highlight>
                <a:srgbClr val="FFFF00"/>
              </a:highlight>
            </a:endParaRPr>
          </a:p>
          <a:p>
            <a:pPr indent="-342900" lvl="0" marL="457200" marR="0" rtl="0" algn="l">
              <a:lnSpc>
                <a:spcPct val="115000"/>
              </a:lnSpc>
              <a:spcBef>
                <a:spcPts val="0"/>
              </a:spcBef>
              <a:spcAft>
                <a:spcPts val="0"/>
              </a:spcAft>
              <a:buSzPts val="1800"/>
              <a:buChar char="-"/>
            </a:pPr>
            <a:r>
              <a:rPr b="1" lang="en-GB">
                <a:highlight>
                  <a:srgbClr val="00FFFF"/>
                </a:highlight>
              </a:rPr>
              <a:t>Binary</a:t>
            </a:r>
            <a:endParaRPr b="1">
              <a:highlight>
                <a:srgbClr val="00FFFF"/>
              </a:highlight>
            </a:endParaRPr>
          </a:p>
          <a:p>
            <a:pPr indent="-342900" lvl="0" marL="457200" marR="0" rtl="0" algn="l">
              <a:lnSpc>
                <a:spcPct val="115000"/>
              </a:lnSpc>
              <a:spcBef>
                <a:spcPts val="0"/>
              </a:spcBef>
              <a:spcAft>
                <a:spcPts val="0"/>
              </a:spcAft>
              <a:buSzPts val="1800"/>
              <a:buChar char="-"/>
            </a:pPr>
            <a:r>
              <a:rPr b="1" lang="en-GB">
                <a:highlight>
                  <a:srgbClr val="00FF00"/>
                </a:highlight>
              </a:rPr>
              <a:t>Ternary</a:t>
            </a:r>
            <a:endParaRPr b="1">
              <a:highlight>
                <a:srgbClr val="00FF00"/>
              </a:highlight>
            </a:endParaRPr>
          </a:p>
          <a:p>
            <a:pPr indent="0" lvl="0" marL="457200" marR="0" rtl="0" algn="l">
              <a:lnSpc>
                <a:spcPct val="115000"/>
              </a:lnSpc>
              <a:spcBef>
                <a:spcPts val="1600"/>
              </a:spcBef>
              <a:spcAft>
                <a:spcPts val="1600"/>
              </a:spcAft>
              <a:buNone/>
            </a:pPr>
            <a:r>
              <a:t/>
            </a:r>
            <a:endParaRPr/>
          </a:p>
        </p:txBody>
      </p:sp>
      <p:sp>
        <p:nvSpPr>
          <p:cNvPr id="312" name="Google Shape;312;p42"/>
          <p:cNvSpPr txBox="1"/>
          <p:nvPr/>
        </p:nvSpPr>
        <p:spPr>
          <a:xfrm>
            <a:off x="3923425" y="2045450"/>
            <a:ext cx="2284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313" name="Google Shape;313;p42"/>
          <p:cNvPicPr preferRelativeResize="0"/>
          <p:nvPr/>
        </p:nvPicPr>
        <p:blipFill>
          <a:blip r:embed="rId3">
            <a:alphaModFix/>
          </a:blip>
          <a:stretch>
            <a:fillRect/>
          </a:stretch>
        </p:blipFill>
        <p:spPr>
          <a:xfrm>
            <a:off x="442575" y="71775"/>
            <a:ext cx="4055950" cy="499995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Recursive Relationships</a:t>
            </a:r>
            <a:endParaRPr/>
          </a:p>
        </p:txBody>
      </p:sp>
      <p:sp>
        <p:nvSpPr>
          <p:cNvPr id="319" name="Google Shape;319;p43"/>
          <p:cNvSpPr txBox="1"/>
          <p:nvPr>
            <p:ph idx="1" type="body"/>
          </p:nvPr>
        </p:nvSpPr>
        <p:spPr>
          <a:xfrm>
            <a:off x="311700" y="1152475"/>
            <a:ext cx="8520600" cy="857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Naturally occurs </a:t>
            </a:r>
            <a:r>
              <a:rPr b="1" lang="en-GB">
                <a:highlight>
                  <a:srgbClr val="FFFF00"/>
                </a:highlight>
              </a:rPr>
              <a:t>in unary relationships</a:t>
            </a:r>
            <a:endParaRPr b="1">
              <a:highlight>
                <a:srgbClr val="FFFF00"/>
              </a:highlight>
            </a:endParaRPr>
          </a:p>
          <a:p>
            <a:pPr indent="-342900" lvl="0" marL="457200" rtl="0" algn="l">
              <a:spcBef>
                <a:spcPts val="0"/>
              </a:spcBef>
              <a:spcAft>
                <a:spcPts val="0"/>
              </a:spcAft>
              <a:buSzPts val="1800"/>
              <a:buChar char="-"/>
            </a:pPr>
            <a:r>
              <a:rPr lang="en-GB"/>
              <a:t>A recursive relationship might be </a:t>
            </a:r>
            <a:r>
              <a:rPr b="1" lang="en-GB">
                <a:highlight>
                  <a:srgbClr val="00FFFF"/>
                </a:highlight>
              </a:rPr>
              <a:t>1:1, 1:M or M:N</a:t>
            </a:r>
            <a:endParaRPr b="1">
              <a:highlight>
                <a:srgbClr val="00FFFF"/>
              </a:highlight>
            </a:endParaRPr>
          </a:p>
        </p:txBody>
      </p:sp>
      <p:pic>
        <p:nvPicPr>
          <p:cNvPr id="320" name="Google Shape;320;p43"/>
          <p:cNvPicPr preferRelativeResize="0"/>
          <p:nvPr/>
        </p:nvPicPr>
        <p:blipFill>
          <a:blip r:embed="rId3">
            <a:alphaModFix/>
          </a:blip>
          <a:stretch>
            <a:fillRect/>
          </a:stretch>
        </p:blipFill>
        <p:spPr>
          <a:xfrm>
            <a:off x="385550" y="2090225"/>
            <a:ext cx="8372902" cy="28291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4"/>
          <p:cNvSpPr txBox="1"/>
          <p:nvPr>
            <p:ph type="title"/>
          </p:nvPr>
        </p:nvSpPr>
        <p:spPr>
          <a:xfrm>
            <a:off x="1051350" y="2150850"/>
            <a:ext cx="70413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a:t>3. Characteristics of </a:t>
            </a:r>
            <a:r>
              <a:rPr b="1" lang="en-GB">
                <a:highlight>
                  <a:srgbClr val="FFFF00"/>
                </a:highlight>
              </a:rPr>
              <a:t>Entities</a:t>
            </a:r>
            <a:endParaRPr b="1">
              <a:highlight>
                <a:srgbClr val="FFFF00"/>
              </a:high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Weak Entities</a:t>
            </a:r>
            <a:endParaRPr/>
          </a:p>
        </p:txBody>
      </p:sp>
      <p:sp>
        <p:nvSpPr>
          <p:cNvPr id="331" name="Google Shape;331;p45"/>
          <p:cNvSpPr txBox="1"/>
          <p:nvPr>
            <p:ph idx="1" type="body"/>
          </p:nvPr>
        </p:nvSpPr>
        <p:spPr>
          <a:xfrm>
            <a:off x="311700" y="1152475"/>
            <a:ext cx="8520600" cy="2202300"/>
          </a:xfrm>
          <a:prstGeom prst="rect">
            <a:avLst/>
          </a:prstGeom>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GB">
                <a:highlight>
                  <a:srgbClr val="FFFF00"/>
                </a:highlight>
              </a:rPr>
              <a:t>!DO NOT CONFUSE WITH WEAK RELATIONSHIPS!</a:t>
            </a:r>
            <a:endParaRPr>
              <a:highlight>
                <a:srgbClr val="FFFF00"/>
              </a:highlight>
            </a:endParaRPr>
          </a:p>
          <a:p>
            <a:pPr indent="0" lvl="0" marL="0" marR="0" rtl="0" algn="l">
              <a:lnSpc>
                <a:spcPct val="115000"/>
              </a:lnSpc>
              <a:spcBef>
                <a:spcPts val="1600"/>
              </a:spcBef>
              <a:spcAft>
                <a:spcPts val="0"/>
              </a:spcAft>
              <a:buNone/>
            </a:pPr>
            <a:r>
              <a:rPr lang="en-GB"/>
              <a:t>Two Conditions - Both are required for an entity to be weak:</a:t>
            </a:r>
            <a:endParaRPr/>
          </a:p>
          <a:p>
            <a:pPr indent="-342900" lvl="0" marL="457200" marR="0" rtl="0" algn="l">
              <a:lnSpc>
                <a:spcPct val="115000"/>
              </a:lnSpc>
              <a:spcBef>
                <a:spcPts val="1600"/>
              </a:spcBef>
              <a:spcAft>
                <a:spcPts val="0"/>
              </a:spcAft>
              <a:buSzPts val="1800"/>
              <a:buAutoNum type="arabicPeriod"/>
            </a:pPr>
            <a:r>
              <a:rPr lang="en-GB"/>
              <a:t>Existence Dependent → Entity </a:t>
            </a:r>
            <a:r>
              <a:rPr b="1" lang="en-GB">
                <a:highlight>
                  <a:srgbClr val="00FFFF"/>
                </a:highlight>
              </a:rPr>
              <a:t>cannot exist without the parent</a:t>
            </a:r>
            <a:r>
              <a:rPr lang="en-GB"/>
              <a:t> entity</a:t>
            </a:r>
            <a:endParaRPr/>
          </a:p>
          <a:p>
            <a:pPr indent="-342900" lvl="0" marL="457200" marR="0" rtl="0" algn="l">
              <a:lnSpc>
                <a:spcPct val="115000"/>
              </a:lnSpc>
              <a:spcBef>
                <a:spcPts val="0"/>
              </a:spcBef>
              <a:spcAft>
                <a:spcPts val="0"/>
              </a:spcAft>
              <a:buSzPts val="1800"/>
              <a:buAutoNum type="arabicPeriod"/>
            </a:pPr>
            <a:r>
              <a:rPr lang="en-GB"/>
              <a:t>Has a Primary Key that is partially or totally derived from the parent key (</a:t>
            </a:r>
            <a:r>
              <a:rPr b="1" lang="en-GB">
                <a:highlight>
                  <a:srgbClr val="00FF00"/>
                </a:highlight>
              </a:rPr>
              <a:t>Strong relationship with the parent</a:t>
            </a:r>
            <a:r>
              <a:rPr lang="en-GB"/>
              <a:t>)</a:t>
            </a:r>
            <a:endParaRPr/>
          </a:p>
        </p:txBody>
      </p:sp>
      <p:sp>
        <p:nvSpPr>
          <p:cNvPr id="332" name="Google Shape;332;p45"/>
          <p:cNvSpPr txBox="1"/>
          <p:nvPr/>
        </p:nvSpPr>
        <p:spPr>
          <a:xfrm>
            <a:off x="1311000" y="3596575"/>
            <a:ext cx="6522000" cy="1112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2400"/>
              <a:t>In other words, an entity can be existence-dependent but not weak </a:t>
            </a:r>
            <a:endParaRPr sz="24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p46"/>
          <p:cNvPicPr preferRelativeResize="0"/>
          <p:nvPr/>
        </p:nvPicPr>
        <p:blipFill>
          <a:blip r:embed="rId3">
            <a:alphaModFix/>
          </a:blip>
          <a:stretch>
            <a:fillRect/>
          </a:stretch>
        </p:blipFill>
        <p:spPr>
          <a:xfrm>
            <a:off x="152400" y="152400"/>
            <a:ext cx="6186983" cy="4838700"/>
          </a:xfrm>
          <a:prstGeom prst="rect">
            <a:avLst/>
          </a:prstGeom>
          <a:noFill/>
          <a:ln>
            <a:noFill/>
          </a:ln>
        </p:spPr>
      </p:pic>
      <p:sp>
        <p:nvSpPr>
          <p:cNvPr id="338" name="Google Shape;338;p46"/>
          <p:cNvSpPr txBox="1"/>
          <p:nvPr/>
        </p:nvSpPr>
        <p:spPr>
          <a:xfrm>
            <a:off x="6423375" y="1445100"/>
            <a:ext cx="2637000" cy="6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highlight>
                  <a:srgbClr val="FFFF00"/>
                </a:highlight>
              </a:rPr>
              <a:t>Double walled</a:t>
            </a:r>
            <a:r>
              <a:rPr lang="en-GB"/>
              <a:t> → Weak Entity</a:t>
            </a:r>
            <a:endParaRPr/>
          </a:p>
        </p:txBody>
      </p:sp>
      <p:cxnSp>
        <p:nvCxnSpPr>
          <p:cNvPr id="339" name="Google Shape;339;p46"/>
          <p:cNvCxnSpPr>
            <a:stCxn id="338" idx="1"/>
          </p:cNvCxnSpPr>
          <p:nvPr/>
        </p:nvCxnSpPr>
        <p:spPr>
          <a:xfrm rot="10800000">
            <a:off x="5550075" y="1248450"/>
            <a:ext cx="873300" cy="525600"/>
          </a:xfrm>
          <a:prstGeom prst="straightConnector1">
            <a:avLst/>
          </a:prstGeom>
          <a:noFill/>
          <a:ln cap="flat" cmpd="sng" w="38100">
            <a:solidFill>
              <a:srgbClr val="FF00FF"/>
            </a:solidFill>
            <a:prstDash val="solid"/>
            <a:round/>
            <a:headEnd len="med" w="med" type="none"/>
            <a:tailEnd len="med" w="med" type="triangle"/>
          </a:ln>
        </p:spPr>
      </p:cxnSp>
      <p:sp>
        <p:nvSpPr>
          <p:cNvPr id="340" name="Google Shape;340;p46"/>
          <p:cNvSpPr txBox="1"/>
          <p:nvPr/>
        </p:nvSpPr>
        <p:spPr>
          <a:xfrm>
            <a:off x="6423375" y="2799025"/>
            <a:ext cx="2637000" cy="219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In Crow’s Foot, weak entities are recognizable by noticing the </a:t>
            </a:r>
            <a:r>
              <a:rPr b="1" lang="en-GB">
                <a:highlight>
                  <a:srgbClr val="00FFFF"/>
                </a:highlight>
              </a:rPr>
              <a:t>strong relationship they have with parent entity</a:t>
            </a:r>
            <a:r>
              <a:rPr lang="en-GB"/>
              <a:t> and the fact that the child’s PK includes parent’s PK</a:t>
            </a:r>
            <a:endParaRPr/>
          </a:p>
        </p:txBody>
      </p:sp>
      <p:cxnSp>
        <p:nvCxnSpPr>
          <p:cNvPr id="341" name="Google Shape;341;p46"/>
          <p:cNvCxnSpPr/>
          <p:nvPr/>
        </p:nvCxnSpPr>
        <p:spPr>
          <a:xfrm flipH="1">
            <a:off x="5550075" y="3930725"/>
            <a:ext cx="873300" cy="6000"/>
          </a:xfrm>
          <a:prstGeom prst="straightConnector1">
            <a:avLst/>
          </a:prstGeom>
          <a:noFill/>
          <a:ln cap="flat" cmpd="sng" w="38100">
            <a:solidFill>
              <a:srgbClr val="FF00FF"/>
            </a:solidFill>
            <a:prstDash val="solid"/>
            <a:round/>
            <a:headEnd len="med" w="med" type="none"/>
            <a:tailEnd len="med" w="med" type="triangle"/>
          </a:ln>
        </p:spPr>
      </p:cxnSp>
      <p:sp>
        <p:nvSpPr>
          <p:cNvPr id="342" name="Google Shape;342;p46"/>
          <p:cNvSpPr txBox="1"/>
          <p:nvPr>
            <p:ph idx="4294967295" type="title"/>
          </p:nvPr>
        </p:nvSpPr>
        <p:spPr>
          <a:xfrm>
            <a:off x="6267975" y="291888"/>
            <a:ext cx="2947800" cy="1153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Modeling Weak Entities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Associative (Composite) Entities</a:t>
            </a:r>
            <a:endParaRPr/>
          </a:p>
        </p:txBody>
      </p:sp>
      <p:sp>
        <p:nvSpPr>
          <p:cNvPr id="348" name="Google Shape;348;p47"/>
          <p:cNvSpPr txBox="1"/>
          <p:nvPr>
            <p:ph idx="1" type="body"/>
          </p:nvPr>
        </p:nvSpPr>
        <p:spPr>
          <a:xfrm>
            <a:off x="6375600" y="1170125"/>
            <a:ext cx="2643600" cy="382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ENROLL is </a:t>
            </a:r>
            <a:r>
              <a:rPr b="1" lang="en-GB">
                <a:highlight>
                  <a:srgbClr val="FFFF00"/>
                </a:highlight>
              </a:rPr>
              <a:t>existence-dependent </a:t>
            </a:r>
            <a:r>
              <a:rPr lang="en-GB"/>
              <a:t>on the two other entities</a:t>
            </a:r>
            <a:endParaRPr/>
          </a:p>
          <a:p>
            <a:pPr indent="0" lvl="0" marL="0" rtl="0" algn="l">
              <a:spcBef>
                <a:spcPts val="1600"/>
              </a:spcBef>
              <a:spcAft>
                <a:spcPts val="0"/>
              </a:spcAft>
              <a:buNone/>
            </a:pPr>
            <a:r>
              <a:rPr lang="en-GB"/>
              <a:t>No nulls in ENROL’s PK</a:t>
            </a:r>
            <a:endParaRPr/>
          </a:p>
          <a:p>
            <a:pPr indent="0" lvl="0" marL="0" rtl="0" algn="ctr">
              <a:spcBef>
                <a:spcPts val="1600"/>
              </a:spcBef>
              <a:spcAft>
                <a:spcPts val="0"/>
              </a:spcAft>
              <a:buNone/>
            </a:pPr>
            <a:r>
              <a:t/>
            </a:r>
            <a:endParaRPr sz="2400"/>
          </a:p>
          <a:p>
            <a:pPr indent="0" lvl="0" marL="0" rtl="0" algn="ctr">
              <a:spcBef>
                <a:spcPts val="1600"/>
              </a:spcBef>
              <a:spcAft>
                <a:spcPts val="0"/>
              </a:spcAft>
              <a:buNone/>
            </a:pPr>
            <a:r>
              <a:rPr lang="en-GB" sz="2400"/>
              <a:t>“Optionality reflects practice”</a:t>
            </a:r>
            <a:endParaRPr sz="2400"/>
          </a:p>
          <a:p>
            <a:pPr indent="0" lvl="0" marL="0" rtl="0" algn="l">
              <a:spcBef>
                <a:spcPts val="1600"/>
              </a:spcBef>
              <a:spcAft>
                <a:spcPts val="1600"/>
              </a:spcAft>
              <a:buNone/>
            </a:pPr>
            <a:r>
              <a:t/>
            </a:r>
            <a:endParaRPr/>
          </a:p>
        </p:txBody>
      </p:sp>
      <p:pic>
        <p:nvPicPr>
          <p:cNvPr id="349" name="Google Shape;349;p47"/>
          <p:cNvPicPr preferRelativeResize="0"/>
          <p:nvPr/>
        </p:nvPicPr>
        <p:blipFill>
          <a:blip r:embed="rId3">
            <a:alphaModFix/>
          </a:blip>
          <a:stretch>
            <a:fillRect/>
          </a:stretch>
        </p:blipFill>
        <p:spPr>
          <a:xfrm>
            <a:off x="152400" y="1170125"/>
            <a:ext cx="6075587" cy="382097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EERD</a:t>
            </a:r>
            <a:endParaRPr/>
          </a:p>
        </p:txBody>
      </p:sp>
      <p:sp>
        <p:nvSpPr>
          <p:cNvPr id="355" name="Google Shape;355;p48"/>
          <p:cNvSpPr txBox="1"/>
          <p:nvPr>
            <p:ph idx="1" type="body"/>
          </p:nvPr>
        </p:nvSpPr>
        <p:spPr>
          <a:xfrm>
            <a:off x="311700" y="1152475"/>
            <a:ext cx="8520600" cy="326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342900" lvl="0" marL="457200" rtl="0" algn="l">
              <a:spcBef>
                <a:spcPts val="1600"/>
              </a:spcBef>
              <a:spcAft>
                <a:spcPts val="0"/>
              </a:spcAft>
              <a:buSzPts val="1800"/>
              <a:buChar char="-"/>
            </a:pPr>
            <a:r>
              <a:rPr lang="en-GB"/>
              <a:t>EERD builds on ER and adds support for entity </a:t>
            </a:r>
            <a:r>
              <a:rPr b="1" lang="en-GB">
                <a:highlight>
                  <a:srgbClr val="FFFF00"/>
                </a:highlight>
              </a:rPr>
              <a:t>supertypes</a:t>
            </a:r>
            <a:r>
              <a:rPr lang="en-GB"/>
              <a:t>, </a:t>
            </a:r>
            <a:r>
              <a:rPr b="1" lang="en-GB">
                <a:highlight>
                  <a:srgbClr val="FFFF00"/>
                </a:highlight>
              </a:rPr>
              <a:t>subtypes</a:t>
            </a:r>
            <a:r>
              <a:rPr lang="en-GB"/>
              <a:t> and </a:t>
            </a:r>
            <a:r>
              <a:rPr b="1" lang="en-GB">
                <a:highlight>
                  <a:srgbClr val="FFFF00"/>
                </a:highlight>
              </a:rPr>
              <a:t>clusters</a:t>
            </a:r>
            <a:r>
              <a:rPr lang="en-GB"/>
              <a:t>. </a:t>
            </a:r>
            <a:endParaRPr/>
          </a:p>
          <a:p>
            <a:pPr indent="-342900" lvl="0" marL="457200" rtl="0" algn="l">
              <a:spcBef>
                <a:spcPts val="0"/>
              </a:spcBef>
              <a:spcAft>
                <a:spcPts val="0"/>
              </a:spcAft>
              <a:buSzPts val="1800"/>
              <a:buChar char="-"/>
            </a:pPr>
            <a:r>
              <a:rPr lang="en-GB"/>
              <a:t>Sometimes referred to as </a:t>
            </a:r>
            <a:r>
              <a:rPr b="1" lang="en-GB">
                <a:highlight>
                  <a:srgbClr val="D9EAD3"/>
                </a:highlight>
              </a:rPr>
              <a:t>Enhanced</a:t>
            </a:r>
            <a:r>
              <a:rPr lang="en-GB"/>
              <a:t> ER Model. </a:t>
            </a:r>
            <a:endParaRPr/>
          </a:p>
          <a:p>
            <a:pPr indent="-342900" lvl="0" marL="457200" rtl="0" algn="l">
              <a:spcBef>
                <a:spcPts val="0"/>
              </a:spcBef>
              <a:spcAft>
                <a:spcPts val="0"/>
              </a:spcAft>
              <a:buSzPts val="1800"/>
              <a:buChar char="-"/>
            </a:pPr>
            <a:r>
              <a:rPr lang="en-GB"/>
              <a:t>EERM adds </a:t>
            </a:r>
            <a:r>
              <a:rPr b="1" lang="en-GB">
                <a:highlight>
                  <a:srgbClr val="FFF2CC"/>
                </a:highlight>
              </a:rPr>
              <a:t>more semantic constructs</a:t>
            </a:r>
            <a:r>
              <a:rPr lang="en-GB"/>
              <a:t> to the original ER Model.</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Supertypes &amp; Subtypes</a:t>
            </a:r>
            <a:endParaRPr/>
          </a:p>
        </p:txBody>
      </p:sp>
      <p:sp>
        <p:nvSpPr>
          <p:cNvPr id="361" name="Google Shape;361;p49"/>
          <p:cNvSpPr txBox="1"/>
          <p:nvPr>
            <p:ph idx="1" type="body"/>
          </p:nvPr>
        </p:nvSpPr>
        <p:spPr>
          <a:xfrm>
            <a:off x="311700" y="1152475"/>
            <a:ext cx="8520600" cy="859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GB" sz="1400"/>
              <a:t>The following is example data for </a:t>
            </a:r>
            <a:r>
              <a:rPr b="1" lang="en-GB" sz="1400"/>
              <a:t>all employees</a:t>
            </a:r>
            <a:r>
              <a:rPr lang="en-GB" sz="1400"/>
              <a:t> hired by an aviation business: pilots, mechanics, accountants, DB designers, etc. </a:t>
            </a:r>
            <a:endParaRPr sz="1400"/>
          </a:p>
        </p:txBody>
      </p:sp>
      <p:pic>
        <p:nvPicPr>
          <p:cNvPr id="362" name="Google Shape;362;p49"/>
          <p:cNvPicPr preferRelativeResize="0"/>
          <p:nvPr/>
        </p:nvPicPr>
        <p:blipFill>
          <a:blip r:embed="rId3">
            <a:alphaModFix/>
          </a:blip>
          <a:stretch>
            <a:fillRect/>
          </a:stretch>
        </p:blipFill>
        <p:spPr>
          <a:xfrm>
            <a:off x="804637" y="2011877"/>
            <a:ext cx="7534726" cy="260659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Supertypes &amp; Subtypes</a:t>
            </a:r>
            <a:endParaRPr/>
          </a:p>
        </p:txBody>
      </p:sp>
      <p:sp>
        <p:nvSpPr>
          <p:cNvPr id="368" name="Google Shape;368;p50"/>
          <p:cNvSpPr txBox="1"/>
          <p:nvPr>
            <p:ph idx="1" type="body"/>
          </p:nvPr>
        </p:nvSpPr>
        <p:spPr>
          <a:xfrm>
            <a:off x="311700" y="1152475"/>
            <a:ext cx="8520600" cy="898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GB" sz="1400"/>
              <a:t>The following is example data for </a:t>
            </a:r>
            <a:r>
              <a:rPr b="1" lang="en-GB" sz="1400"/>
              <a:t>all employees</a:t>
            </a:r>
            <a:r>
              <a:rPr lang="en-GB" sz="1400"/>
              <a:t> hired an aviation business: pilots, mechanics, accountants, DB designers, etc. </a:t>
            </a:r>
            <a:endParaRPr sz="1400"/>
          </a:p>
          <a:p>
            <a:pPr indent="-317500" lvl="0" marL="457200" rtl="0" algn="l">
              <a:spcBef>
                <a:spcPts val="0"/>
              </a:spcBef>
              <a:spcAft>
                <a:spcPts val="0"/>
              </a:spcAft>
              <a:buSzPts val="1400"/>
              <a:buChar char="-"/>
            </a:pPr>
            <a:r>
              <a:rPr lang="en-GB" sz="1400"/>
              <a:t>But these attributes only apply to pilots not accountant or mechanics. </a:t>
            </a:r>
            <a:endParaRPr sz="1400"/>
          </a:p>
        </p:txBody>
      </p:sp>
      <p:pic>
        <p:nvPicPr>
          <p:cNvPr id="369" name="Google Shape;369;p50"/>
          <p:cNvPicPr preferRelativeResize="0"/>
          <p:nvPr/>
        </p:nvPicPr>
        <p:blipFill>
          <a:blip r:embed="rId3">
            <a:alphaModFix/>
          </a:blip>
          <a:stretch>
            <a:fillRect/>
          </a:stretch>
        </p:blipFill>
        <p:spPr>
          <a:xfrm>
            <a:off x="804637" y="2011877"/>
            <a:ext cx="7534726" cy="2606598"/>
          </a:xfrm>
          <a:prstGeom prst="rect">
            <a:avLst/>
          </a:prstGeom>
          <a:noFill/>
          <a:ln>
            <a:noFill/>
          </a:ln>
        </p:spPr>
      </p:pic>
      <p:sp>
        <p:nvSpPr>
          <p:cNvPr id="370" name="Google Shape;370;p50"/>
          <p:cNvSpPr/>
          <p:nvPr/>
        </p:nvSpPr>
        <p:spPr>
          <a:xfrm>
            <a:off x="4209289" y="2613264"/>
            <a:ext cx="2873700" cy="247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1" name="Google Shape;371;p50"/>
          <p:cNvCxnSpPr/>
          <p:nvPr/>
        </p:nvCxnSpPr>
        <p:spPr>
          <a:xfrm>
            <a:off x="3239150" y="1984425"/>
            <a:ext cx="925500" cy="542700"/>
          </a:xfrm>
          <a:prstGeom prst="straightConnector1">
            <a:avLst/>
          </a:prstGeom>
          <a:noFill/>
          <a:ln cap="flat" cmpd="sng" w="28575">
            <a:solidFill>
              <a:srgbClr val="FF0000"/>
            </a:solidFill>
            <a:prstDash val="solid"/>
            <a:round/>
            <a:headEnd len="med" w="med" type="none"/>
            <a:tailEnd len="med" w="med" type="triangl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Supertypes &amp; Subtypes</a:t>
            </a:r>
            <a:endParaRPr/>
          </a:p>
        </p:txBody>
      </p:sp>
      <p:pic>
        <p:nvPicPr>
          <p:cNvPr id="377" name="Google Shape;377;p51"/>
          <p:cNvPicPr preferRelativeResize="0"/>
          <p:nvPr/>
        </p:nvPicPr>
        <p:blipFill>
          <a:blip r:embed="rId3">
            <a:alphaModFix/>
          </a:blip>
          <a:stretch>
            <a:fillRect/>
          </a:stretch>
        </p:blipFill>
        <p:spPr>
          <a:xfrm>
            <a:off x="804637" y="2011877"/>
            <a:ext cx="7534726" cy="2606598"/>
          </a:xfrm>
          <a:prstGeom prst="rect">
            <a:avLst/>
          </a:prstGeom>
          <a:noFill/>
          <a:ln>
            <a:noFill/>
          </a:ln>
        </p:spPr>
      </p:pic>
      <p:sp>
        <p:nvSpPr>
          <p:cNvPr id="378" name="Google Shape;378;p51"/>
          <p:cNvSpPr txBox="1"/>
          <p:nvPr>
            <p:ph idx="1" type="body"/>
          </p:nvPr>
        </p:nvSpPr>
        <p:spPr>
          <a:xfrm>
            <a:off x="311700" y="1152475"/>
            <a:ext cx="8520600" cy="898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GB" sz="1400"/>
              <a:t>When some employees have characteristics that are not shared by other employees, we see </a:t>
            </a:r>
            <a:r>
              <a:rPr b="1" lang="en-GB" sz="1400">
                <a:highlight>
                  <a:srgbClr val="FFFF00"/>
                </a:highlight>
              </a:rPr>
              <a:t>unnecessary nulls</a:t>
            </a:r>
            <a:r>
              <a:rPr lang="en-GB" sz="1400"/>
              <a:t> in the table. </a:t>
            </a:r>
            <a:endParaRPr sz="1400"/>
          </a:p>
        </p:txBody>
      </p:sp>
      <p:sp>
        <p:nvSpPr>
          <p:cNvPr id="379" name="Google Shape;379;p51"/>
          <p:cNvSpPr/>
          <p:nvPr/>
        </p:nvSpPr>
        <p:spPr>
          <a:xfrm>
            <a:off x="4209289" y="2613264"/>
            <a:ext cx="2873700" cy="247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51"/>
          <p:cNvSpPr/>
          <p:nvPr/>
        </p:nvSpPr>
        <p:spPr>
          <a:xfrm>
            <a:off x="4209289" y="3120535"/>
            <a:ext cx="2873700" cy="247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51"/>
          <p:cNvSpPr/>
          <p:nvPr/>
        </p:nvSpPr>
        <p:spPr>
          <a:xfrm>
            <a:off x="4209289" y="3833893"/>
            <a:ext cx="2873700" cy="247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51"/>
          <p:cNvSpPr/>
          <p:nvPr/>
        </p:nvSpPr>
        <p:spPr>
          <a:xfrm>
            <a:off x="4209289" y="4272962"/>
            <a:ext cx="2873700" cy="247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3" name="Google Shape;383;p51"/>
          <p:cNvCxnSpPr/>
          <p:nvPr/>
        </p:nvCxnSpPr>
        <p:spPr>
          <a:xfrm>
            <a:off x="2580650" y="1779750"/>
            <a:ext cx="1326000" cy="1566300"/>
          </a:xfrm>
          <a:prstGeom prst="straightConnector1">
            <a:avLst/>
          </a:prstGeom>
          <a:noFill/>
          <a:ln cap="flat" cmpd="sng" w="28575">
            <a:solidFill>
              <a:srgbClr val="FF0000"/>
            </a:solidFill>
            <a:prstDash val="solid"/>
            <a:round/>
            <a:headEnd len="med" w="med" type="none"/>
            <a:tailEnd len="med" w="med" type="triangl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pic>
        <p:nvPicPr>
          <p:cNvPr id="388" name="Google Shape;388;p52"/>
          <p:cNvPicPr preferRelativeResize="0"/>
          <p:nvPr/>
        </p:nvPicPr>
        <p:blipFill>
          <a:blip r:embed="rId3">
            <a:alphaModFix/>
          </a:blip>
          <a:stretch>
            <a:fillRect/>
          </a:stretch>
        </p:blipFill>
        <p:spPr>
          <a:xfrm>
            <a:off x="152400" y="152400"/>
            <a:ext cx="7168444" cy="4838700"/>
          </a:xfrm>
          <a:prstGeom prst="rect">
            <a:avLst/>
          </a:prstGeom>
          <a:noFill/>
          <a:ln>
            <a:noFill/>
          </a:ln>
        </p:spPr>
      </p:pic>
      <p:sp>
        <p:nvSpPr>
          <p:cNvPr id="389" name="Google Shape;389;p52"/>
          <p:cNvSpPr txBox="1"/>
          <p:nvPr>
            <p:ph idx="4294967295" type="body"/>
          </p:nvPr>
        </p:nvSpPr>
        <p:spPr>
          <a:xfrm>
            <a:off x="7320850" y="152400"/>
            <a:ext cx="1824300" cy="4838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b="1" sz="14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pic>
        <p:nvPicPr>
          <p:cNvPr id="394" name="Google Shape;394;p53"/>
          <p:cNvPicPr preferRelativeResize="0"/>
          <p:nvPr/>
        </p:nvPicPr>
        <p:blipFill>
          <a:blip r:embed="rId3">
            <a:alphaModFix/>
          </a:blip>
          <a:stretch>
            <a:fillRect/>
          </a:stretch>
        </p:blipFill>
        <p:spPr>
          <a:xfrm>
            <a:off x="152400" y="152400"/>
            <a:ext cx="7168444" cy="4838700"/>
          </a:xfrm>
          <a:prstGeom prst="rect">
            <a:avLst/>
          </a:prstGeom>
          <a:noFill/>
          <a:ln>
            <a:noFill/>
          </a:ln>
        </p:spPr>
      </p:pic>
      <p:sp>
        <p:nvSpPr>
          <p:cNvPr id="395" name="Google Shape;395;p53"/>
          <p:cNvSpPr txBox="1"/>
          <p:nvPr>
            <p:ph idx="4294967295" type="body"/>
          </p:nvPr>
        </p:nvSpPr>
        <p:spPr>
          <a:xfrm>
            <a:off x="7320850" y="152400"/>
            <a:ext cx="1824300" cy="483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400"/>
              <a:t>Supertype: </a:t>
            </a:r>
            <a:r>
              <a:rPr lang="en-GB" sz="1400"/>
              <a:t>a </a:t>
            </a:r>
            <a:r>
              <a:rPr b="1" lang="en-GB" sz="1400">
                <a:highlight>
                  <a:srgbClr val="FFFF00"/>
                </a:highlight>
              </a:rPr>
              <a:t>generic</a:t>
            </a:r>
            <a:r>
              <a:rPr lang="en-GB" sz="1400"/>
              <a:t> entity type that is related to one or more </a:t>
            </a:r>
            <a:r>
              <a:rPr b="1" lang="en-GB" sz="1400"/>
              <a:t>subtypes</a:t>
            </a:r>
            <a:endParaRPr b="1" sz="1400"/>
          </a:p>
          <a:p>
            <a:pPr indent="0" lvl="0" marL="0" rtl="0" algn="l">
              <a:spcBef>
                <a:spcPts val="1600"/>
              </a:spcBef>
              <a:spcAft>
                <a:spcPts val="1600"/>
              </a:spcAft>
              <a:buNone/>
            </a:pPr>
            <a:r>
              <a:t/>
            </a:r>
            <a:endParaRPr b="1" sz="1400">
              <a:highlight>
                <a:srgbClr val="D9EAD3"/>
              </a:highlight>
            </a:endParaRPr>
          </a:p>
        </p:txBody>
      </p:sp>
      <p:sp>
        <p:nvSpPr>
          <p:cNvPr id="396" name="Google Shape;396;p53"/>
          <p:cNvSpPr/>
          <p:nvPr/>
        </p:nvSpPr>
        <p:spPr>
          <a:xfrm>
            <a:off x="2848725" y="560625"/>
            <a:ext cx="863400" cy="276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53"/>
          <p:cNvSpPr/>
          <p:nvPr/>
        </p:nvSpPr>
        <p:spPr>
          <a:xfrm>
            <a:off x="1264750" y="3064525"/>
            <a:ext cx="863400" cy="276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53"/>
          <p:cNvSpPr/>
          <p:nvPr/>
        </p:nvSpPr>
        <p:spPr>
          <a:xfrm>
            <a:off x="2848725" y="3064525"/>
            <a:ext cx="863400" cy="276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3"/>
          <p:cNvSpPr/>
          <p:nvPr/>
        </p:nvSpPr>
        <p:spPr>
          <a:xfrm>
            <a:off x="4506125" y="3064525"/>
            <a:ext cx="863400" cy="276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pic>
        <p:nvPicPr>
          <p:cNvPr id="404" name="Google Shape;404;p54"/>
          <p:cNvPicPr preferRelativeResize="0"/>
          <p:nvPr/>
        </p:nvPicPr>
        <p:blipFill>
          <a:blip r:embed="rId3">
            <a:alphaModFix/>
          </a:blip>
          <a:stretch>
            <a:fillRect/>
          </a:stretch>
        </p:blipFill>
        <p:spPr>
          <a:xfrm>
            <a:off x="152400" y="152400"/>
            <a:ext cx="7168444" cy="4838700"/>
          </a:xfrm>
          <a:prstGeom prst="rect">
            <a:avLst/>
          </a:prstGeom>
          <a:noFill/>
          <a:ln>
            <a:noFill/>
          </a:ln>
        </p:spPr>
      </p:pic>
      <p:sp>
        <p:nvSpPr>
          <p:cNvPr id="405" name="Google Shape;405;p54"/>
          <p:cNvSpPr txBox="1"/>
          <p:nvPr>
            <p:ph idx="4294967295" type="body"/>
          </p:nvPr>
        </p:nvSpPr>
        <p:spPr>
          <a:xfrm>
            <a:off x="7320850" y="152400"/>
            <a:ext cx="1824300" cy="483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400"/>
              <a:t>Supertype: </a:t>
            </a:r>
            <a:r>
              <a:rPr lang="en-GB" sz="1400"/>
              <a:t>a </a:t>
            </a:r>
            <a:r>
              <a:rPr b="1" lang="en-GB" sz="1400">
                <a:highlight>
                  <a:srgbClr val="FFFF00"/>
                </a:highlight>
              </a:rPr>
              <a:t>generic</a:t>
            </a:r>
            <a:r>
              <a:rPr lang="en-GB" sz="1400"/>
              <a:t> entity type that is related to one or more </a:t>
            </a:r>
            <a:r>
              <a:rPr b="1" lang="en-GB" sz="1400"/>
              <a:t>subtypes</a:t>
            </a:r>
            <a:endParaRPr b="1" sz="1400"/>
          </a:p>
          <a:p>
            <a:pPr indent="0" lvl="0" marL="0" rtl="0" algn="l">
              <a:spcBef>
                <a:spcPts val="1600"/>
              </a:spcBef>
              <a:spcAft>
                <a:spcPts val="0"/>
              </a:spcAft>
              <a:buClr>
                <a:schemeClr val="dk1"/>
              </a:buClr>
              <a:buSzPts val="1100"/>
              <a:buFont typeface="Arial"/>
              <a:buNone/>
            </a:pPr>
            <a:r>
              <a:rPr lang="en-GB" sz="1400"/>
              <a:t>supertype contains </a:t>
            </a:r>
            <a:r>
              <a:rPr b="1" lang="en-GB" sz="1400">
                <a:highlight>
                  <a:srgbClr val="D9EAD3"/>
                </a:highlight>
              </a:rPr>
              <a:t>common characteristics</a:t>
            </a:r>
            <a:endParaRPr b="1" sz="1400">
              <a:highlight>
                <a:srgbClr val="D9EAD3"/>
              </a:highlight>
            </a:endParaRPr>
          </a:p>
          <a:p>
            <a:pPr indent="0" lvl="0" marL="0" rtl="0" algn="l">
              <a:spcBef>
                <a:spcPts val="1600"/>
              </a:spcBef>
              <a:spcAft>
                <a:spcPts val="1600"/>
              </a:spcAft>
              <a:buNone/>
            </a:pPr>
            <a:r>
              <a:t/>
            </a:r>
            <a:endParaRPr b="1" sz="1400">
              <a:highlight>
                <a:srgbClr val="D9EAD3"/>
              </a:highlight>
            </a:endParaRPr>
          </a:p>
        </p:txBody>
      </p:sp>
      <p:sp>
        <p:nvSpPr>
          <p:cNvPr id="406" name="Google Shape;406;p54"/>
          <p:cNvSpPr/>
          <p:nvPr/>
        </p:nvSpPr>
        <p:spPr>
          <a:xfrm>
            <a:off x="2848725" y="560625"/>
            <a:ext cx="863400" cy="276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4"/>
          <p:cNvSpPr/>
          <p:nvPr/>
        </p:nvSpPr>
        <p:spPr>
          <a:xfrm>
            <a:off x="1264750" y="3064525"/>
            <a:ext cx="863400" cy="276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4"/>
          <p:cNvSpPr/>
          <p:nvPr/>
        </p:nvSpPr>
        <p:spPr>
          <a:xfrm>
            <a:off x="2848725" y="3064525"/>
            <a:ext cx="863400" cy="276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4"/>
          <p:cNvSpPr/>
          <p:nvPr/>
        </p:nvSpPr>
        <p:spPr>
          <a:xfrm>
            <a:off x="4506125" y="3064525"/>
            <a:ext cx="863400" cy="276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4"/>
          <p:cNvSpPr/>
          <p:nvPr/>
        </p:nvSpPr>
        <p:spPr>
          <a:xfrm>
            <a:off x="2929950" y="820900"/>
            <a:ext cx="1003200" cy="961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pic>
        <p:nvPicPr>
          <p:cNvPr id="415" name="Google Shape;415;p55"/>
          <p:cNvPicPr preferRelativeResize="0"/>
          <p:nvPr/>
        </p:nvPicPr>
        <p:blipFill>
          <a:blip r:embed="rId3">
            <a:alphaModFix/>
          </a:blip>
          <a:stretch>
            <a:fillRect/>
          </a:stretch>
        </p:blipFill>
        <p:spPr>
          <a:xfrm>
            <a:off x="152400" y="152400"/>
            <a:ext cx="7168444" cy="4838700"/>
          </a:xfrm>
          <a:prstGeom prst="rect">
            <a:avLst/>
          </a:prstGeom>
          <a:noFill/>
          <a:ln>
            <a:noFill/>
          </a:ln>
        </p:spPr>
      </p:pic>
      <p:sp>
        <p:nvSpPr>
          <p:cNvPr id="416" name="Google Shape;416;p55"/>
          <p:cNvSpPr txBox="1"/>
          <p:nvPr>
            <p:ph idx="4294967295" type="body"/>
          </p:nvPr>
        </p:nvSpPr>
        <p:spPr>
          <a:xfrm>
            <a:off x="7320850" y="152400"/>
            <a:ext cx="1824300" cy="483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400"/>
              <a:t>Supertype: </a:t>
            </a:r>
            <a:r>
              <a:rPr lang="en-GB" sz="1400"/>
              <a:t>a </a:t>
            </a:r>
            <a:r>
              <a:rPr b="1" lang="en-GB" sz="1400">
                <a:highlight>
                  <a:srgbClr val="FFFF00"/>
                </a:highlight>
              </a:rPr>
              <a:t>generic</a:t>
            </a:r>
            <a:r>
              <a:rPr lang="en-GB" sz="1400"/>
              <a:t> entity type that is related to one or more </a:t>
            </a:r>
            <a:r>
              <a:rPr b="1" lang="en-GB" sz="1400"/>
              <a:t>subtypes</a:t>
            </a:r>
            <a:endParaRPr b="1" sz="1400"/>
          </a:p>
          <a:p>
            <a:pPr indent="0" lvl="0" marL="0" rtl="0" algn="l">
              <a:spcBef>
                <a:spcPts val="1600"/>
              </a:spcBef>
              <a:spcAft>
                <a:spcPts val="0"/>
              </a:spcAft>
              <a:buNone/>
            </a:pPr>
            <a:r>
              <a:rPr lang="en-GB" sz="1400"/>
              <a:t>supertype contains </a:t>
            </a:r>
            <a:r>
              <a:rPr b="1" lang="en-GB" sz="1400">
                <a:highlight>
                  <a:srgbClr val="D9EAD3"/>
                </a:highlight>
              </a:rPr>
              <a:t>common characteristics</a:t>
            </a:r>
            <a:endParaRPr b="1" sz="1400">
              <a:highlight>
                <a:srgbClr val="D9EAD3"/>
              </a:highlight>
            </a:endParaRPr>
          </a:p>
          <a:p>
            <a:pPr indent="0" lvl="0" marL="0" rtl="0" algn="l">
              <a:spcBef>
                <a:spcPts val="1600"/>
              </a:spcBef>
              <a:spcAft>
                <a:spcPts val="1600"/>
              </a:spcAft>
              <a:buNone/>
            </a:pPr>
            <a:r>
              <a:rPr lang="en-GB" sz="1400"/>
              <a:t>subtypes each contain their own </a:t>
            </a:r>
            <a:r>
              <a:rPr b="1" lang="en-GB" sz="1400">
                <a:highlight>
                  <a:srgbClr val="FFF2CC"/>
                </a:highlight>
              </a:rPr>
              <a:t>unique characteristics</a:t>
            </a:r>
            <a:endParaRPr b="1" sz="1400">
              <a:highlight>
                <a:srgbClr val="FFF2CC"/>
              </a:highlight>
            </a:endParaRPr>
          </a:p>
        </p:txBody>
      </p:sp>
      <p:sp>
        <p:nvSpPr>
          <p:cNvPr id="417" name="Google Shape;417;p55"/>
          <p:cNvSpPr/>
          <p:nvPr/>
        </p:nvSpPr>
        <p:spPr>
          <a:xfrm>
            <a:off x="2848725" y="560625"/>
            <a:ext cx="863400" cy="276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55"/>
          <p:cNvSpPr/>
          <p:nvPr/>
        </p:nvSpPr>
        <p:spPr>
          <a:xfrm>
            <a:off x="1264750" y="3064525"/>
            <a:ext cx="863400" cy="276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5"/>
          <p:cNvSpPr/>
          <p:nvPr/>
        </p:nvSpPr>
        <p:spPr>
          <a:xfrm>
            <a:off x="2848725" y="3064525"/>
            <a:ext cx="863400" cy="276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55"/>
          <p:cNvSpPr/>
          <p:nvPr/>
        </p:nvSpPr>
        <p:spPr>
          <a:xfrm>
            <a:off x="4506125" y="3064525"/>
            <a:ext cx="863400" cy="276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55"/>
          <p:cNvSpPr/>
          <p:nvPr/>
        </p:nvSpPr>
        <p:spPr>
          <a:xfrm>
            <a:off x="2929950" y="820900"/>
            <a:ext cx="1003200" cy="985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55"/>
          <p:cNvSpPr/>
          <p:nvPr/>
        </p:nvSpPr>
        <p:spPr>
          <a:xfrm>
            <a:off x="1470550" y="3590675"/>
            <a:ext cx="933300" cy="485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55"/>
          <p:cNvSpPr/>
          <p:nvPr/>
        </p:nvSpPr>
        <p:spPr>
          <a:xfrm>
            <a:off x="3180250" y="3590675"/>
            <a:ext cx="708600" cy="360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55"/>
          <p:cNvSpPr/>
          <p:nvPr/>
        </p:nvSpPr>
        <p:spPr>
          <a:xfrm>
            <a:off x="4735150" y="3590675"/>
            <a:ext cx="933300" cy="360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6"/>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400"/>
              <a:t>Use subtypes/supertypes </a:t>
            </a:r>
            <a:r>
              <a:rPr b="1" lang="en-GB" sz="2400">
                <a:highlight>
                  <a:srgbClr val="FFFF00"/>
                </a:highlight>
              </a:rPr>
              <a:t>when</a:t>
            </a:r>
            <a:r>
              <a:rPr lang="en-GB" sz="2400"/>
              <a:t> there are different kinds/types of the entity in the user environment </a:t>
            </a:r>
            <a:r>
              <a:rPr b="1" i="1" lang="en-GB" sz="2400">
                <a:highlight>
                  <a:srgbClr val="FFFF00"/>
                </a:highlight>
              </a:rPr>
              <a:t>AND</a:t>
            </a:r>
            <a:r>
              <a:rPr i="1" lang="en-GB" sz="2400"/>
              <a:t> </a:t>
            </a:r>
            <a:r>
              <a:rPr lang="en-GB" sz="2400"/>
              <a:t>each type has one or more attributes that is unique to its kind. </a:t>
            </a:r>
            <a:endParaRPr sz="24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Specialization Hierarchy</a:t>
            </a:r>
            <a:endParaRPr/>
          </a:p>
        </p:txBody>
      </p:sp>
      <p:sp>
        <p:nvSpPr>
          <p:cNvPr id="435" name="Google Shape;435;p57"/>
          <p:cNvSpPr txBox="1"/>
          <p:nvPr>
            <p:ph idx="1" type="body"/>
          </p:nvPr>
        </p:nvSpPr>
        <p:spPr>
          <a:xfrm>
            <a:off x="5839250" y="1152475"/>
            <a:ext cx="3304800" cy="383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p>
          <a:p>
            <a:pPr indent="0" lvl="0" marL="0" rtl="0" algn="l">
              <a:spcBef>
                <a:spcPts val="1600"/>
              </a:spcBef>
              <a:spcAft>
                <a:spcPts val="0"/>
              </a:spcAft>
              <a:buNone/>
            </a:pPr>
            <a:r>
              <a:rPr lang="en-GB" sz="1400"/>
              <a:t>A specialization hierarchy enable the data model to capture </a:t>
            </a:r>
            <a:r>
              <a:rPr b="1" lang="en-GB" sz="1400"/>
              <a:t>additional semantic content</a:t>
            </a:r>
            <a:r>
              <a:rPr lang="en-GB" sz="1400"/>
              <a:t>:</a:t>
            </a:r>
            <a:endParaRPr sz="1400"/>
          </a:p>
          <a:p>
            <a:pPr indent="-317500" lvl="0" marL="457200" rtl="0" algn="l">
              <a:spcBef>
                <a:spcPts val="1600"/>
              </a:spcBef>
              <a:spcAft>
                <a:spcPts val="0"/>
              </a:spcAft>
              <a:buSzPts val="1400"/>
              <a:buChar char="-"/>
            </a:pPr>
            <a:r>
              <a:rPr lang="en-GB" sz="1400"/>
              <a:t>attribute </a:t>
            </a:r>
            <a:r>
              <a:rPr b="1" lang="en-GB" sz="1400">
                <a:highlight>
                  <a:srgbClr val="FFFF00"/>
                </a:highlight>
              </a:rPr>
              <a:t>inheritance</a:t>
            </a:r>
            <a:endParaRPr b="1" sz="1400">
              <a:highlight>
                <a:srgbClr val="FFFF00"/>
              </a:highlight>
            </a:endParaRPr>
          </a:p>
          <a:p>
            <a:pPr indent="-317500" lvl="0" marL="457200" rtl="0" algn="l">
              <a:spcBef>
                <a:spcPts val="0"/>
              </a:spcBef>
              <a:spcAft>
                <a:spcPts val="0"/>
              </a:spcAft>
              <a:buSzPts val="1400"/>
              <a:buChar char="-"/>
            </a:pPr>
            <a:r>
              <a:rPr lang="en-GB" sz="1400"/>
              <a:t>a special supertype attribute known as </a:t>
            </a:r>
            <a:r>
              <a:rPr b="1" lang="en-GB" sz="1400">
                <a:highlight>
                  <a:srgbClr val="D9EAD3"/>
                </a:highlight>
              </a:rPr>
              <a:t>subtype discriminator</a:t>
            </a:r>
            <a:endParaRPr b="1" sz="1400">
              <a:highlight>
                <a:srgbClr val="D9EAD3"/>
              </a:highlight>
            </a:endParaRPr>
          </a:p>
          <a:p>
            <a:pPr indent="-317500" lvl="0" marL="457200" rtl="0" algn="l">
              <a:spcBef>
                <a:spcPts val="0"/>
              </a:spcBef>
              <a:spcAft>
                <a:spcPts val="0"/>
              </a:spcAft>
              <a:buSzPts val="1400"/>
              <a:buChar char="-"/>
            </a:pPr>
            <a:r>
              <a:rPr b="1" lang="en-GB" sz="1400">
                <a:highlight>
                  <a:srgbClr val="FFF2CC"/>
                </a:highlight>
              </a:rPr>
              <a:t>disjoint or overlapping</a:t>
            </a:r>
            <a:r>
              <a:rPr lang="en-GB" sz="1400"/>
              <a:t> constraints</a:t>
            </a:r>
            <a:endParaRPr sz="1400"/>
          </a:p>
          <a:p>
            <a:pPr indent="-317500" lvl="0" marL="457200" rtl="0" algn="l">
              <a:spcBef>
                <a:spcPts val="0"/>
              </a:spcBef>
              <a:spcAft>
                <a:spcPts val="0"/>
              </a:spcAft>
              <a:buSzPts val="1400"/>
              <a:buChar char="-"/>
            </a:pPr>
            <a:r>
              <a:rPr b="1" lang="en-GB" sz="1400">
                <a:highlight>
                  <a:srgbClr val="F4CCCC"/>
                </a:highlight>
              </a:rPr>
              <a:t>complete or partial</a:t>
            </a:r>
            <a:r>
              <a:rPr lang="en-GB" sz="1400">
                <a:highlight>
                  <a:srgbClr val="F4CCCC"/>
                </a:highlight>
              </a:rPr>
              <a:t> </a:t>
            </a:r>
            <a:r>
              <a:rPr lang="en-GB" sz="1400"/>
              <a:t>constraints</a:t>
            </a:r>
            <a:endParaRPr sz="1400"/>
          </a:p>
        </p:txBody>
      </p:sp>
      <p:pic>
        <p:nvPicPr>
          <p:cNvPr id="436" name="Google Shape;436;p57"/>
          <p:cNvPicPr preferRelativeResize="0"/>
          <p:nvPr/>
        </p:nvPicPr>
        <p:blipFill>
          <a:blip r:embed="rId3">
            <a:alphaModFix/>
          </a:blip>
          <a:stretch>
            <a:fillRect/>
          </a:stretch>
        </p:blipFill>
        <p:spPr>
          <a:xfrm>
            <a:off x="152400" y="1152475"/>
            <a:ext cx="5686854" cy="38386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Inheritance</a:t>
            </a:r>
            <a:endParaRPr/>
          </a:p>
        </p:txBody>
      </p:sp>
      <p:sp>
        <p:nvSpPr>
          <p:cNvPr id="442" name="Google Shape;442;p58"/>
          <p:cNvSpPr txBox="1"/>
          <p:nvPr>
            <p:ph idx="1" type="body"/>
          </p:nvPr>
        </p:nvSpPr>
        <p:spPr>
          <a:xfrm>
            <a:off x="311700" y="1152475"/>
            <a:ext cx="8520600" cy="898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GB" sz="1400"/>
              <a:t>the entity subtype inherits the </a:t>
            </a:r>
            <a:r>
              <a:rPr b="1" lang="en-GB" sz="1400">
                <a:highlight>
                  <a:srgbClr val="FFFF00"/>
                </a:highlight>
              </a:rPr>
              <a:t>attributes and relationships</a:t>
            </a:r>
            <a:r>
              <a:rPr lang="en-GB" sz="1400"/>
              <a:t> of the supertype</a:t>
            </a:r>
            <a:endParaRPr sz="1400"/>
          </a:p>
          <a:p>
            <a:pPr indent="-317500" lvl="0" marL="457200" rtl="0" algn="l">
              <a:spcBef>
                <a:spcPts val="0"/>
              </a:spcBef>
              <a:spcAft>
                <a:spcPts val="0"/>
              </a:spcAft>
              <a:buSzPts val="1400"/>
              <a:buChar char="-"/>
            </a:pPr>
            <a:r>
              <a:rPr lang="en-GB" sz="1400"/>
              <a:t>all subtypes inherit their </a:t>
            </a:r>
            <a:r>
              <a:rPr b="1" lang="en-GB" sz="1400">
                <a:highlight>
                  <a:srgbClr val="D9EAD3"/>
                </a:highlight>
              </a:rPr>
              <a:t>primary key</a:t>
            </a:r>
            <a:r>
              <a:rPr lang="en-GB" sz="1400"/>
              <a:t> attribute from their supertype</a:t>
            </a:r>
            <a:endParaRPr sz="1400"/>
          </a:p>
          <a:p>
            <a:pPr indent="-317500" lvl="0" marL="457200" rtl="0" algn="l">
              <a:spcBef>
                <a:spcPts val="0"/>
              </a:spcBef>
              <a:spcAft>
                <a:spcPts val="0"/>
              </a:spcAft>
              <a:buSzPts val="1400"/>
              <a:buChar char="-"/>
            </a:pPr>
            <a:r>
              <a:rPr lang="en-GB" sz="1400"/>
              <a:t>Subtype and supertype have a </a:t>
            </a:r>
            <a:r>
              <a:rPr b="1" lang="en-GB" sz="1400">
                <a:highlight>
                  <a:srgbClr val="FFF2CC"/>
                </a:highlight>
              </a:rPr>
              <a:t>1:1 relationship</a:t>
            </a:r>
            <a:r>
              <a:rPr lang="en-GB" sz="1400"/>
              <a:t> in implementation level</a:t>
            </a:r>
            <a:endParaRPr sz="1400"/>
          </a:p>
        </p:txBody>
      </p:sp>
      <p:pic>
        <p:nvPicPr>
          <p:cNvPr id="443" name="Google Shape;443;p58"/>
          <p:cNvPicPr preferRelativeResize="0"/>
          <p:nvPr/>
        </p:nvPicPr>
        <p:blipFill>
          <a:blip r:embed="rId3">
            <a:alphaModFix/>
          </a:blip>
          <a:stretch>
            <a:fillRect/>
          </a:stretch>
        </p:blipFill>
        <p:spPr>
          <a:xfrm>
            <a:off x="811300" y="2186025"/>
            <a:ext cx="7521401" cy="23739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pic>
        <p:nvPicPr>
          <p:cNvPr id="448" name="Google Shape;448;p59"/>
          <p:cNvPicPr preferRelativeResize="0"/>
          <p:nvPr/>
        </p:nvPicPr>
        <p:blipFill>
          <a:blip r:embed="rId3">
            <a:alphaModFix/>
          </a:blip>
          <a:stretch>
            <a:fillRect/>
          </a:stretch>
        </p:blipFill>
        <p:spPr>
          <a:xfrm>
            <a:off x="152400" y="152400"/>
            <a:ext cx="7168444" cy="4838700"/>
          </a:xfrm>
          <a:prstGeom prst="rect">
            <a:avLst/>
          </a:prstGeom>
          <a:noFill/>
          <a:ln>
            <a:noFill/>
          </a:ln>
        </p:spPr>
      </p:pic>
      <p:sp>
        <p:nvSpPr>
          <p:cNvPr id="449" name="Google Shape;449;p59"/>
          <p:cNvSpPr txBox="1"/>
          <p:nvPr>
            <p:ph idx="4294967295" type="body"/>
          </p:nvPr>
        </p:nvSpPr>
        <p:spPr>
          <a:xfrm>
            <a:off x="7320850" y="152400"/>
            <a:ext cx="1824300" cy="483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400"/>
              <a:t>Supertype: </a:t>
            </a:r>
            <a:r>
              <a:rPr lang="en-GB" sz="1400"/>
              <a:t>a </a:t>
            </a:r>
            <a:r>
              <a:rPr b="1" lang="en-GB" sz="1400">
                <a:highlight>
                  <a:srgbClr val="FFFF00"/>
                </a:highlight>
              </a:rPr>
              <a:t>generic</a:t>
            </a:r>
            <a:r>
              <a:rPr lang="en-GB" sz="1400"/>
              <a:t> entity type that is related to one or more </a:t>
            </a:r>
            <a:r>
              <a:rPr b="1" lang="en-GB" sz="1400"/>
              <a:t>subtypes</a:t>
            </a:r>
            <a:endParaRPr b="1" sz="1400"/>
          </a:p>
          <a:p>
            <a:pPr indent="0" lvl="0" marL="0" rtl="0" algn="l">
              <a:spcBef>
                <a:spcPts val="1600"/>
              </a:spcBef>
              <a:spcAft>
                <a:spcPts val="0"/>
              </a:spcAft>
              <a:buNone/>
            </a:pPr>
            <a:r>
              <a:rPr lang="en-GB" sz="1400"/>
              <a:t>Supertype contains </a:t>
            </a:r>
            <a:r>
              <a:rPr b="1" lang="en-GB" sz="1400">
                <a:highlight>
                  <a:srgbClr val="D9EAD3"/>
                </a:highlight>
              </a:rPr>
              <a:t>common characteristics</a:t>
            </a:r>
            <a:endParaRPr b="1" sz="1400">
              <a:highlight>
                <a:srgbClr val="D9EAD3"/>
              </a:highlight>
            </a:endParaRPr>
          </a:p>
          <a:p>
            <a:pPr indent="0" lvl="0" marL="0" rtl="0" algn="l">
              <a:spcBef>
                <a:spcPts val="1600"/>
              </a:spcBef>
              <a:spcAft>
                <a:spcPts val="1600"/>
              </a:spcAft>
              <a:buNone/>
            </a:pPr>
            <a:r>
              <a:rPr lang="en-GB" sz="1400"/>
              <a:t>Subtypes each contain their own </a:t>
            </a:r>
            <a:r>
              <a:rPr b="1" lang="en-GB" sz="1400">
                <a:highlight>
                  <a:srgbClr val="FFF2CC"/>
                </a:highlight>
              </a:rPr>
              <a:t>unique characteristics</a:t>
            </a:r>
            <a:endParaRPr b="1" sz="1400">
              <a:highlight>
                <a:srgbClr val="FFF2CC"/>
              </a:highlight>
            </a:endParaRPr>
          </a:p>
        </p:txBody>
      </p:sp>
      <p:sp>
        <p:nvSpPr>
          <p:cNvPr id="450" name="Google Shape;450;p59"/>
          <p:cNvSpPr/>
          <p:nvPr/>
        </p:nvSpPr>
        <p:spPr>
          <a:xfrm>
            <a:off x="2848725" y="560625"/>
            <a:ext cx="863400" cy="276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59"/>
          <p:cNvSpPr/>
          <p:nvPr/>
        </p:nvSpPr>
        <p:spPr>
          <a:xfrm>
            <a:off x="1264750" y="3064525"/>
            <a:ext cx="863400" cy="276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59"/>
          <p:cNvSpPr/>
          <p:nvPr/>
        </p:nvSpPr>
        <p:spPr>
          <a:xfrm>
            <a:off x="2848725" y="3064525"/>
            <a:ext cx="863400" cy="276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59"/>
          <p:cNvSpPr/>
          <p:nvPr/>
        </p:nvSpPr>
        <p:spPr>
          <a:xfrm>
            <a:off x="4506125" y="3064525"/>
            <a:ext cx="863400" cy="276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9"/>
          <p:cNvSpPr/>
          <p:nvPr/>
        </p:nvSpPr>
        <p:spPr>
          <a:xfrm>
            <a:off x="2929950" y="820900"/>
            <a:ext cx="1003200" cy="985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59"/>
          <p:cNvSpPr/>
          <p:nvPr/>
        </p:nvSpPr>
        <p:spPr>
          <a:xfrm>
            <a:off x="1470550" y="3590675"/>
            <a:ext cx="933300" cy="485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59"/>
          <p:cNvSpPr/>
          <p:nvPr/>
        </p:nvSpPr>
        <p:spPr>
          <a:xfrm>
            <a:off x="3180250" y="3590675"/>
            <a:ext cx="708600" cy="360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59"/>
          <p:cNvSpPr/>
          <p:nvPr/>
        </p:nvSpPr>
        <p:spPr>
          <a:xfrm>
            <a:off x="4735150" y="3590675"/>
            <a:ext cx="933300" cy="360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pic>
        <p:nvPicPr>
          <p:cNvPr id="462" name="Google Shape;462;p60"/>
          <p:cNvPicPr preferRelativeResize="0"/>
          <p:nvPr/>
        </p:nvPicPr>
        <p:blipFill>
          <a:blip r:embed="rId3">
            <a:alphaModFix/>
          </a:blip>
          <a:stretch>
            <a:fillRect/>
          </a:stretch>
        </p:blipFill>
        <p:spPr>
          <a:xfrm>
            <a:off x="152400" y="152400"/>
            <a:ext cx="7168444" cy="4838700"/>
          </a:xfrm>
          <a:prstGeom prst="rect">
            <a:avLst/>
          </a:prstGeom>
          <a:noFill/>
          <a:ln>
            <a:noFill/>
          </a:ln>
        </p:spPr>
      </p:pic>
      <p:sp>
        <p:nvSpPr>
          <p:cNvPr id="463" name="Google Shape;463;p60"/>
          <p:cNvSpPr txBox="1"/>
          <p:nvPr>
            <p:ph idx="4294967295" type="body"/>
          </p:nvPr>
        </p:nvSpPr>
        <p:spPr>
          <a:xfrm>
            <a:off x="7320850" y="152400"/>
            <a:ext cx="1824300" cy="483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400"/>
              <a:t>Supertype: </a:t>
            </a:r>
            <a:r>
              <a:rPr lang="en-GB" sz="1400"/>
              <a:t>a </a:t>
            </a:r>
            <a:r>
              <a:rPr b="1" lang="en-GB" sz="1400">
                <a:highlight>
                  <a:srgbClr val="FFFF00"/>
                </a:highlight>
              </a:rPr>
              <a:t>generic</a:t>
            </a:r>
            <a:r>
              <a:rPr lang="en-GB" sz="1400"/>
              <a:t> entity type that is related to one or more </a:t>
            </a:r>
            <a:r>
              <a:rPr b="1" lang="en-GB" sz="1400"/>
              <a:t>subtypes</a:t>
            </a:r>
            <a:endParaRPr b="1" sz="1400"/>
          </a:p>
          <a:p>
            <a:pPr indent="0" lvl="0" marL="0" rtl="0" algn="l">
              <a:spcBef>
                <a:spcPts val="1600"/>
              </a:spcBef>
              <a:spcAft>
                <a:spcPts val="0"/>
              </a:spcAft>
              <a:buNone/>
            </a:pPr>
            <a:r>
              <a:rPr lang="en-GB" sz="1400"/>
              <a:t>Supertype contains </a:t>
            </a:r>
            <a:r>
              <a:rPr b="1" lang="en-GB" sz="1400">
                <a:highlight>
                  <a:srgbClr val="D9EAD3"/>
                </a:highlight>
              </a:rPr>
              <a:t>common characteristics</a:t>
            </a:r>
            <a:endParaRPr b="1" sz="1400">
              <a:highlight>
                <a:srgbClr val="D9EAD3"/>
              </a:highlight>
            </a:endParaRPr>
          </a:p>
          <a:p>
            <a:pPr indent="0" lvl="0" marL="0" rtl="0" algn="l">
              <a:spcBef>
                <a:spcPts val="1600"/>
              </a:spcBef>
              <a:spcAft>
                <a:spcPts val="0"/>
              </a:spcAft>
              <a:buNone/>
            </a:pPr>
            <a:r>
              <a:rPr lang="en-GB" sz="1400"/>
              <a:t>Subtypes each contain their own </a:t>
            </a:r>
            <a:r>
              <a:rPr b="1" lang="en-GB" sz="1400">
                <a:highlight>
                  <a:srgbClr val="FFF2CC"/>
                </a:highlight>
              </a:rPr>
              <a:t>unique characteristics</a:t>
            </a:r>
            <a:endParaRPr b="1" sz="1400">
              <a:highlight>
                <a:srgbClr val="FFF2CC"/>
              </a:highlight>
            </a:endParaRPr>
          </a:p>
          <a:p>
            <a:pPr indent="0" lvl="0" marL="0" rtl="0" algn="l">
              <a:spcBef>
                <a:spcPts val="1600"/>
              </a:spcBef>
              <a:spcAft>
                <a:spcPts val="1600"/>
              </a:spcAft>
              <a:buNone/>
            </a:pPr>
            <a:r>
              <a:rPr lang="en-GB" sz="1400"/>
              <a:t>Entity subtypes </a:t>
            </a:r>
            <a:r>
              <a:rPr b="1" lang="en-GB" sz="1400">
                <a:highlight>
                  <a:srgbClr val="F4CCCC"/>
                </a:highlight>
              </a:rPr>
              <a:t>inherit all relationships</a:t>
            </a:r>
            <a:r>
              <a:rPr lang="en-GB" sz="1400"/>
              <a:t> in which the supertype participates</a:t>
            </a:r>
            <a:endParaRPr b="1" sz="1400">
              <a:highlight>
                <a:srgbClr val="FFF2CC"/>
              </a:highlight>
            </a:endParaRPr>
          </a:p>
        </p:txBody>
      </p:sp>
      <p:sp>
        <p:nvSpPr>
          <p:cNvPr id="464" name="Google Shape;464;p60"/>
          <p:cNvSpPr/>
          <p:nvPr/>
        </p:nvSpPr>
        <p:spPr>
          <a:xfrm>
            <a:off x="2848725" y="560625"/>
            <a:ext cx="863400" cy="276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60"/>
          <p:cNvSpPr/>
          <p:nvPr/>
        </p:nvSpPr>
        <p:spPr>
          <a:xfrm>
            <a:off x="1264750" y="3064525"/>
            <a:ext cx="863400" cy="276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60"/>
          <p:cNvSpPr/>
          <p:nvPr/>
        </p:nvSpPr>
        <p:spPr>
          <a:xfrm>
            <a:off x="2848725" y="3064525"/>
            <a:ext cx="863400" cy="276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60"/>
          <p:cNvSpPr/>
          <p:nvPr/>
        </p:nvSpPr>
        <p:spPr>
          <a:xfrm>
            <a:off x="4506125" y="3064525"/>
            <a:ext cx="863400" cy="276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60"/>
          <p:cNvSpPr/>
          <p:nvPr/>
        </p:nvSpPr>
        <p:spPr>
          <a:xfrm>
            <a:off x="2929950" y="820900"/>
            <a:ext cx="1003200" cy="985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60"/>
          <p:cNvSpPr/>
          <p:nvPr/>
        </p:nvSpPr>
        <p:spPr>
          <a:xfrm>
            <a:off x="1470550" y="3590675"/>
            <a:ext cx="933300" cy="485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60"/>
          <p:cNvSpPr/>
          <p:nvPr/>
        </p:nvSpPr>
        <p:spPr>
          <a:xfrm>
            <a:off x="3180250" y="3590675"/>
            <a:ext cx="708600" cy="360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60"/>
          <p:cNvSpPr/>
          <p:nvPr/>
        </p:nvSpPr>
        <p:spPr>
          <a:xfrm>
            <a:off x="4735150" y="3590675"/>
            <a:ext cx="933300" cy="360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60"/>
          <p:cNvSpPr/>
          <p:nvPr/>
        </p:nvSpPr>
        <p:spPr>
          <a:xfrm>
            <a:off x="4262200" y="955475"/>
            <a:ext cx="708600" cy="985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pic>
        <p:nvPicPr>
          <p:cNvPr id="477" name="Google Shape;477;p61"/>
          <p:cNvPicPr preferRelativeResize="0"/>
          <p:nvPr/>
        </p:nvPicPr>
        <p:blipFill>
          <a:blip r:embed="rId3">
            <a:alphaModFix/>
          </a:blip>
          <a:stretch>
            <a:fillRect/>
          </a:stretch>
        </p:blipFill>
        <p:spPr>
          <a:xfrm>
            <a:off x="1824300" y="266751"/>
            <a:ext cx="6549501" cy="4344899"/>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pic>
        <p:nvPicPr>
          <p:cNvPr id="482" name="Google Shape;482;p62"/>
          <p:cNvPicPr preferRelativeResize="0"/>
          <p:nvPr/>
        </p:nvPicPr>
        <p:blipFill>
          <a:blip r:embed="rId3">
            <a:alphaModFix/>
          </a:blip>
          <a:stretch>
            <a:fillRect/>
          </a:stretch>
        </p:blipFill>
        <p:spPr>
          <a:xfrm>
            <a:off x="1824300" y="266751"/>
            <a:ext cx="6549501" cy="4344899"/>
          </a:xfrm>
          <a:prstGeom prst="rect">
            <a:avLst/>
          </a:prstGeom>
          <a:noFill/>
          <a:ln>
            <a:noFill/>
          </a:ln>
        </p:spPr>
      </p:pic>
      <p:sp>
        <p:nvSpPr>
          <p:cNvPr id="483" name="Google Shape;483;p62"/>
          <p:cNvSpPr txBox="1"/>
          <p:nvPr>
            <p:ph idx="4294967295" type="body"/>
          </p:nvPr>
        </p:nvSpPr>
        <p:spPr>
          <a:xfrm>
            <a:off x="0" y="152400"/>
            <a:ext cx="1824300" cy="483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chemeClr val="dk1"/>
              </a:solidFill>
            </a:endParaRPr>
          </a:p>
          <a:p>
            <a:pPr indent="0" lvl="0" marL="0" rtl="0" algn="l">
              <a:spcBef>
                <a:spcPts val="1600"/>
              </a:spcBef>
              <a:spcAft>
                <a:spcPts val="0"/>
              </a:spcAft>
              <a:buNone/>
            </a:pPr>
            <a:r>
              <a:t/>
            </a:r>
            <a:endParaRPr sz="1400">
              <a:solidFill>
                <a:schemeClr val="dk1"/>
              </a:solidFill>
            </a:endParaRPr>
          </a:p>
          <a:p>
            <a:pPr indent="0" lvl="0" marL="0" rtl="0" algn="l">
              <a:spcBef>
                <a:spcPts val="1600"/>
              </a:spcBef>
              <a:spcAft>
                <a:spcPts val="0"/>
              </a:spcAft>
              <a:buNone/>
            </a:pPr>
            <a:r>
              <a:t/>
            </a:r>
            <a:endParaRPr sz="1400">
              <a:solidFill>
                <a:schemeClr val="dk1"/>
              </a:solidFill>
            </a:endParaRPr>
          </a:p>
          <a:p>
            <a:pPr indent="0" lvl="0" marL="0" rtl="0" algn="l">
              <a:spcBef>
                <a:spcPts val="1600"/>
              </a:spcBef>
              <a:spcAft>
                <a:spcPts val="0"/>
              </a:spcAft>
              <a:buNone/>
            </a:pPr>
            <a:r>
              <a:t/>
            </a:r>
            <a:endParaRPr sz="1400">
              <a:solidFill>
                <a:schemeClr val="dk1"/>
              </a:solidFill>
            </a:endParaRPr>
          </a:p>
          <a:p>
            <a:pPr indent="0" lvl="0" marL="0" rtl="0" algn="l">
              <a:spcBef>
                <a:spcPts val="1600"/>
              </a:spcBef>
              <a:spcAft>
                <a:spcPts val="1600"/>
              </a:spcAft>
              <a:buNone/>
            </a:pPr>
            <a:r>
              <a:rPr lang="en-GB" sz="1400">
                <a:solidFill>
                  <a:schemeClr val="dk1"/>
                </a:solidFill>
              </a:rPr>
              <a:t>Subtypes can have</a:t>
            </a:r>
            <a:r>
              <a:rPr b="1" lang="en-GB" sz="1400">
                <a:solidFill>
                  <a:schemeClr val="dk1"/>
                </a:solidFill>
              </a:rPr>
              <a:t> </a:t>
            </a:r>
            <a:r>
              <a:rPr b="1" lang="en-GB" sz="1400">
                <a:solidFill>
                  <a:schemeClr val="dk1"/>
                </a:solidFill>
                <a:highlight>
                  <a:srgbClr val="FFFF00"/>
                </a:highlight>
              </a:rPr>
              <a:t>relationships of their own.</a:t>
            </a:r>
            <a:endParaRPr b="1" sz="1400">
              <a:highlight>
                <a:srgbClr val="FFFF00"/>
              </a:highlight>
            </a:endParaRPr>
          </a:p>
        </p:txBody>
      </p:sp>
      <p:cxnSp>
        <p:nvCxnSpPr>
          <p:cNvPr id="484" name="Google Shape;484;p62"/>
          <p:cNvCxnSpPr/>
          <p:nvPr/>
        </p:nvCxnSpPr>
        <p:spPr>
          <a:xfrm flipH="1" rot="10800000">
            <a:off x="1512800" y="2215550"/>
            <a:ext cx="1993200" cy="285000"/>
          </a:xfrm>
          <a:prstGeom prst="straightConnector1">
            <a:avLst/>
          </a:prstGeom>
          <a:noFill/>
          <a:ln cap="flat" cmpd="sng" w="28575">
            <a:solidFill>
              <a:srgbClr val="FF0000"/>
            </a:solidFill>
            <a:prstDash val="solid"/>
            <a:round/>
            <a:headEnd len="med" w="med" type="none"/>
            <a:tailEnd len="med" w="med" type="triangle"/>
          </a:ln>
        </p:spPr>
      </p:cxn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Subtype Discriminator</a:t>
            </a:r>
            <a:endParaRPr/>
          </a:p>
        </p:txBody>
      </p:sp>
      <p:pic>
        <p:nvPicPr>
          <p:cNvPr id="490" name="Google Shape;490;p63"/>
          <p:cNvPicPr preferRelativeResize="0"/>
          <p:nvPr/>
        </p:nvPicPr>
        <p:blipFill>
          <a:blip r:embed="rId3">
            <a:alphaModFix/>
          </a:blip>
          <a:stretch>
            <a:fillRect/>
          </a:stretch>
        </p:blipFill>
        <p:spPr>
          <a:xfrm>
            <a:off x="152400" y="1152475"/>
            <a:ext cx="5686860" cy="38386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Subtype Discriminator</a:t>
            </a:r>
            <a:endParaRPr/>
          </a:p>
        </p:txBody>
      </p:sp>
      <p:sp>
        <p:nvSpPr>
          <p:cNvPr id="496" name="Google Shape;496;p64"/>
          <p:cNvSpPr txBox="1"/>
          <p:nvPr>
            <p:ph idx="1" type="body"/>
          </p:nvPr>
        </p:nvSpPr>
        <p:spPr>
          <a:xfrm>
            <a:off x="5839250" y="1152475"/>
            <a:ext cx="2993100" cy="383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400">
                <a:highlight>
                  <a:srgbClr val="FFFF00"/>
                </a:highlight>
              </a:rPr>
              <a:t>A property of the supertype</a:t>
            </a:r>
            <a:r>
              <a:rPr lang="en-GB" sz="1400"/>
              <a:t> that indicates to which subtype the supertype is related to.</a:t>
            </a:r>
            <a:endParaRPr sz="1400"/>
          </a:p>
          <a:p>
            <a:pPr indent="0" lvl="0" marL="0" rtl="0" algn="l">
              <a:spcBef>
                <a:spcPts val="1600"/>
              </a:spcBef>
              <a:spcAft>
                <a:spcPts val="1600"/>
              </a:spcAft>
              <a:buNone/>
            </a:pPr>
            <a:r>
              <a:t/>
            </a:r>
            <a:endParaRPr sz="1400"/>
          </a:p>
        </p:txBody>
      </p:sp>
      <p:pic>
        <p:nvPicPr>
          <p:cNvPr id="497" name="Google Shape;497;p64"/>
          <p:cNvPicPr preferRelativeResize="0"/>
          <p:nvPr/>
        </p:nvPicPr>
        <p:blipFill>
          <a:blip r:embed="rId3">
            <a:alphaModFix/>
          </a:blip>
          <a:stretch>
            <a:fillRect/>
          </a:stretch>
        </p:blipFill>
        <p:spPr>
          <a:xfrm>
            <a:off x="152400" y="1152475"/>
            <a:ext cx="5686860" cy="3838625"/>
          </a:xfrm>
          <a:prstGeom prst="rect">
            <a:avLst/>
          </a:prstGeom>
          <a:noFill/>
          <a:ln>
            <a:noFill/>
          </a:ln>
        </p:spPr>
      </p:pic>
      <p:sp>
        <p:nvSpPr>
          <p:cNvPr id="498" name="Google Shape;498;p64"/>
          <p:cNvSpPr/>
          <p:nvPr/>
        </p:nvSpPr>
        <p:spPr>
          <a:xfrm>
            <a:off x="2358175" y="2308100"/>
            <a:ext cx="783000" cy="18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Subtype Discriminator</a:t>
            </a:r>
            <a:endParaRPr/>
          </a:p>
        </p:txBody>
      </p:sp>
      <p:sp>
        <p:nvSpPr>
          <p:cNvPr id="504" name="Google Shape;504;p65"/>
          <p:cNvSpPr txBox="1"/>
          <p:nvPr>
            <p:ph idx="1" type="body"/>
          </p:nvPr>
        </p:nvSpPr>
        <p:spPr>
          <a:xfrm>
            <a:off x="5839250" y="1152475"/>
            <a:ext cx="2993100" cy="383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400">
                <a:highlight>
                  <a:srgbClr val="FFFF00"/>
                </a:highlight>
              </a:rPr>
              <a:t>A property of the supertype</a:t>
            </a:r>
            <a:r>
              <a:rPr lang="en-GB" sz="1400"/>
              <a:t> that indicates to which subtype the supertype is related to.</a:t>
            </a:r>
            <a:endParaRPr sz="1400"/>
          </a:p>
          <a:p>
            <a:pPr indent="0" lvl="0" marL="0" rtl="0" algn="l">
              <a:spcBef>
                <a:spcPts val="1600"/>
              </a:spcBef>
              <a:spcAft>
                <a:spcPts val="1600"/>
              </a:spcAft>
              <a:buNone/>
            </a:pPr>
            <a:r>
              <a:rPr lang="en-GB" sz="1400"/>
              <a:t>It is common practice to </a:t>
            </a:r>
            <a:r>
              <a:rPr b="1" lang="en-GB" sz="1400">
                <a:highlight>
                  <a:srgbClr val="D9EAD3"/>
                </a:highlight>
              </a:rPr>
              <a:t>show the subtype discriminator and its value</a:t>
            </a:r>
            <a:r>
              <a:rPr lang="en-GB" sz="1400"/>
              <a:t> for each subtype on the ERD.</a:t>
            </a:r>
            <a:endParaRPr sz="1400"/>
          </a:p>
        </p:txBody>
      </p:sp>
      <p:pic>
        <p:nvPicPr>
          <p:cNvPr id="505" name="Google Shape;505;p65"/>
          <p:cNvPicPr preferRelativeResize="0"/>
          <p:nvPr/>
        </p:nvPicPr>
        <p:blipFill>
          <a:blip r:embed="rId3">
            <a:alphaModFix/>
          </a:blip>
          <a:stretch>
            <a:fillRect/>
          </a:stretch>
        </p:blipFill>
        <p:spPr>
          <a:xfrm>
            <a:off x="152400" y="1152475"/>
            <a:ext cx="5686860" cy="3838625"/>
          </a:xfrm>
          <a:prstGeom prst="rect">
            <a:avLst/>
          </a:prstGeom>
          <a:noFill/>
          <a:ln>
            <a:noFill/>
          </a:ln>
        </p:spPr>
      </p:pic>
      <p:sp>
        <p:nvSpPr>
          <p:cNvPr id="506" name="Google Shape;506;p65"/>
          <p:cNvSpPr/>
          <p:nvPr/>
        </p:nvSpPr>
        <p:spPr>
          <a:xfrm>
            <a:off x="2358175" y="2308100"/>
            <a:ext cx="783000" cy="18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65"/>
          <p:cNvSpPr/>
          <p:nvPr/>
        </p:nvSpPr>
        <p:spPr>
          <a:xfrm>
            <a:off x="2777550" y="2808675"/>
            <a:ext cx="515100" cy="18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65"/>
          <p:cNvSpPr/>
          <p:nvPr/>
        </p:nvSpPr>
        <p:spPr>
          <a:xfrm>
            <a:off x="3977750" y="3309225"/>
            <a:ext cx="298200" cy="18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65"/>
          <p:cNvSpPr/>
          <p:nvPr/>
        </p:nvSpPr>
        <p:spPr>
          <a:xfrm>
            <a:off x="1389325" y="3309225"/>
            <a:ext cx="298200" cy="18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65"/>
          <p:cNvSpPr/>
          <p:nvPr/>
        </p:nvSpPr>
        <p:spPr>
          <a:xfrm>
            <a:off x="2662975" y="3309225"/>
            <a:ext cx="298200" cy="18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6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Subtype Discriminator</a:t>
            </a:r>
            <a:endParaRPr/>
          </a:p>
        </p:txBody>
      </p:sp>
      <p:sp>
        <p:nvSpPr>
          <p:cNvPr id="516" name="Google Shape;516;p66"/>
          <p:cNvSpPr txBox="1"/>
          <p:nvPr>
            <p:ph idx="1" type="body"/>
          </p:nvPr>
        </p:nvSpPr>
        <p:spPr>
          <a:xfrm>
            <a:off x="5839250" y="1152475"/>
            <a:ext cx="2993100" cy="383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400">
                <a:highlight>
                  <a:srgbClr val="FFFF00"/>
                </a:highlight>
              </a:rPr>
              <a:t>A property of the supertype</a:t>
            </a:r>
            <a:r>
              <a:rPr lang="en-GB" sz="1400"/>
              <a:t> that indicates to which subtype the supertype is related to.</a:t>
            </a:r>
            <a:endParaRPr sz="1400"/>
          </a:p>
          <a:p>
            <a:pPr indent="0" lvl="0" marL="0" rtl="0" algn="l">
              <a:spcBef>
                <a:spcPts val="1600"/>
              </a:spcBef>
              <a:spcAft>
                <a:spcPts val="0"/>
              </a:spcAft>
              <a:buNone/>
            </a:pPr>
            <a:r>
              <a:rPr lang="en-GB" sz="1400"/>
              <a:t>It is common practice to </a:t>
            </a:r>
            <a:r>
              <a:rPr b="1" lang="en-GB" sz="1400">
                <a:highlight>
                  <a:srgbClr val="D9EAD3"/>
                </a:highlight>
              </a:rPr>
              <a:t>show the subtype discriminator and its value</a:t>
            </a:r>
            <a:r>
              <a:rPr lang="en-GB" sz="1400"/>
              <a:t> for each subtype on the ERD.</a:t>
            </a:r>
            <a:endParaRPr sz="1400"/>
          </a:p>
          <a:p>
            <a:pPr indent="0" lvl="0" marL="0" rtl="0" algn="l">
              <a:spcBef>
                <a:spcPts val="1600"/>
              </a:spcBef>
              <a:spcAft>
                <a:spcPts val="1600"/>
              </a:spcAft>
              <a:buNone/>
            </a:pPr>
            <a:r>
              <a:rPr lang="en-GB" sz="1400"/>
              <a:t>by default — but not necessarily — the subtype discriminator is based on an </a:t>
            </a:r>
            <a:r>
              <a:rPr b="1" lang="en-GB" sz="1400">
                <a:highlight>
                  <a:srgbClr val="FCE5CD"/>
                </a:highlight>
              </a:rPr>
              <a:t>equality</a:t>
            </a:r>
            <a:r>
              <a:rPr lang="en-GB" sz="1400"/>
              <a:t> comparison. </a:t>
            </a:r>
            <a:endParaRPr sz="1400"/>
          </a:p>
        </p:txBody>
      </p:sp>
      <p:pic>
        <p:nvPicPr>
          <p:cNvPr id="517" name="Google Shape;517;p66"/>
          <p:cNvPicPr preferRelativeResize="0"/>
          <p:nvPr/>
        </p:nvPicPr>
        <p:blipFill>
          <a:blip r:embed="rId3">
            <a:alphaModFix/>
          </a:blip>
          <a:stretch>
            <a:fillRect/>
          </a:stretch>
        </p:blipFill>
        <p:spPr>
          <a:xfrm>
            <a:off x="152400" y="1152475"/>
            <a:ext cx="5686860" cy="3838625"/>
          </a:xfrm>
          <a:prstGeom prst="rect">
            <a:avLst/>
          </a:prstGeom>
          <a:noFill/>
          <a:ln>
            <a:noFill/>
          </a:ln>
        </p:spPr>
      </p:pic>
      <p:sp>
        <p:nvSpPr>
          <p:cNvPr id="518" name="Google Shape;518;p66"/>
          <p:cNvSpPr/>
          <p:nvPr/>
        </p:nvSpPr>
        <p:spPr>
          <a:xfrm>
            <a:off x="2358175" y="2308100"/>
            <a:ext cx="783000" cy="18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66"/>
          <p:cNvSpPr/>
          <p:nvPr/>
        </p:nvSpPr>
        <p:spPr>
          <a:xfrm>
            <a:off x="2777550" y="2808675"/>
            <a:ext cx="515100" cy="18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66"/>
          <p:cNvSpPr/>
          <p:nvPr/>
        </p:nvSpPr>
        <p:spPr>
          <a:xfrm>
            <a:off x="3977750" y="3309225"/>
            <a:ext cx="298200" cy="18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66"/>
          <p:cNvSpPr/>
          <p:nvPr/>
        </p:nvSpPr>
        <p:spPr>
          <a:xfrm>
            <a:off x="1389325" y="3309225"/>
            <a:ext cx="298200" cy="18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66"/>
          <p:cNvSpPr/>
          <p:nvPr/>
        </p:nvSpPr>
        <p:spPr>
          <a:xfrm>
            <a:off x="2662975" y="3309225"/>
            <a:ext cx="298200" cy="18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6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Disjoint or Overlapping</a:t>
            </a:r>
            <a:endParaRPr/>
          </a:p>
        </p:txBody>
      </p:sp>
      <p:pic>
        <p:nvPicPr>
          <p:cNvPr id="528" name="Google Shape;528;p67"/>
          <p:cNvPicPr preferRelativeResize="0"/>
          <p:nvPr/>
        </p:nvPicPr>
        <p:blipFill>
          <a:blip r:embed="rId3">
            <a:alphaModFix/>
          </a:blip>
          <a:stretch>
            <a:fillRect/>
          </a:stretch>
        </p:blipFill>
        <p:spPr>
          <a:xfrm>
            <a:off x="152400" y="1170125"/>
            <a:ext cx="5568718" cy="3820975"/>
          </a:xfrm>
          <a:prstGeom prst="rect">
            <a:avLst/>
          </a:prstGeom>
          <a:noFill/>
          <a:ln>
            <a:noFill/>
          </a:ln>
        </p:spPr>
      </p:pic>
      <p:sp>
        <p:nvSpPr>
          <p:cNvPr id="529" name="Google Shape;529;p67"/>
          <p:cNvSpPr txBox="1"/>
          <p:nvPr>
            <p:ph idx="1" type="body"/>
          </p:nvPr>
        </p:nvSpPr>
        <p:spPr>
          <a:xfrm>
            <a:off x="5839250" y="1152475"/>
            <a:ext cx="2993100" cy="383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400"/>
              <a:t>The </a:t>
            </a:r>
            <a:r>
              <a:rPr b="1" lang="en-GB" sz="1400">
                <a:highlight>
                  <a:srgbClr val="FFFF00"/>
                </a:highlight>
              </a:rPr>
              <a:t>business rules indicate</a:t>
            </a:r>
            <a:r>
              <a:rPr lang="en-GB" sz="1400">
                <a:highlight>
                  <a:srgbClr val="FFFF00"/>
                </a:highlight>
              </a:rPr>
              <a:t> </a:t>
            </a:r>
            <a:r>
              <a:rPr lang="en-GB" sz="1400"/>
              <a:t>whether an entity can only be part of one subtype or more. </a:t>
            </a:r>
            <a:endParaRPr sz="1400"/>
          </a:p>
          <a:p>
            <a:pPr indent="0" lvl="0" marL="0" rtl="0" algn="l">
              <a:spcBef>
                <a:spcPts val="1600"/>
              </a:spcBef>
              <a:spcAft>
                <a:spcPts val="1600"/>
              </a:spcAft>
              <a:buNone/>
            </a:pPr>
            <a:r>
              <a:t/>
            </a:r>
            <a:endParaRPr sz="14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6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Disjoint or Overlapping</a:t>
            </a:r>
            <a:endParaRPr/>
          </a:p>
        </p:txBody>
      </p:sp>
      <p:pic>
        <p:nvPicPr>
          <p:cNvPr id="535" name="Google Shape;535;p68"/>
          <p:cNvPicPr preferRelativeResize="0"/>
          <p:nvPr/>
        </p:nvPicPr>
        <p:blipFill>
          <a:blip r:embed="rId3">
            <a:alphaModFix/>
          </a:blip>
          <a:stretch>
            <a:fillRect/>
          </a:stretch>
        </p:blipFill>
        <p:spPr>
          <a:xfrm>
            <a:off x="152400" y="1170125"/>
            <a:ext cx="5568718" cy="3820975"/>
          </a:xfrm>
          <a:prstGeom prst="rect">
            <a:avLst/>
          </a:prstGeom>
          <a:noFill/>
          <a:ln>
            <a:noFill/>
          </a:ln>
        </p:spPr>
      </p:pic>
      <p:sp>
        <p:nvSpPr>
          <p:cNvPr id="536" name="Google Shape;536;p68"/>
          <p:cNvSpPr txBox="1"/>
          <p:nvPr>
            <p:ph idx="1" type="body"/>
          </p:nvPr>
        </p:nvSpPr>
        <p:spPr>
          <a:xfrm>
            <a:off x="5839250" y="1152475"/>
            <a:ext cx="2993100" cy="383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400"/>
              <a:t>The </a:t>
            </a:r>
            <a:r>
              <a:rPr b="1" lang="en-GB" sz="1400">
                <a:highlight>
                  <a:srgbClr val="FFFF00"/>
                </a:highlight>
              </a:rPr>
              <a:t>business rules indicate</a:t>
            </a:r>
            <a:r>
              <a:rPr lang="en-GB" sz="1400">
                <a:highlight>
                  <a:srgbClr val="FFFF00"/>
                </a:highlight>
              </a:rPr>
              <a:t> </a:t>
            </a:r>
            <a:r>
              <a:rPr lang="en-GB" sz="1400"/>
              <a:t>whether an entity can only be part of one subtype or more. </a:t>
            </a:r>
            <a:endParaRPr sz="1400"/>
          </a:p>
          <a:p>
            <a:pPr indent="0" lvl="0" marL="0" rtl="0" algn="l">
              <a:spcBef>
                <a:spcPts val="1600"/>
              </a:spcBef>
              <a:spcAft>
                <a:spcPts val="1600"/>
              </a:spcAft>
              <a:buNone/>
            </a:pPr>
            <a:r>
              <a:rPr lang="en-GB" sz="1400"/>
              <a:t>Disjoint or non-overlapping subtypes are indicated with </a:t>
            </a:r>
            <a:r>
              <a:rPr b="1" lang="en-GB" sz="1400">
                <a:highlight>
                  <a:srgbClr val="D9EAD3"/>
                </a:highlight>
              </a:rPr>
              <a:t>letter d</a:t>
            </a:r>
            <a:r>
              <a:rPr lang="en-GB" sz="1400"/>
              <a:t> inside the category shape. </a:t>
            </a:r>
            <a:endParaRPr sz="1400"/>
          </a:p>
        </p:txBody>
      </p:sp>
      <p:sp>
        <p:nvSpPr>
          <p:cNvPr id="537" name="Google Shape;537;p68"/>
          <p:cNvSpPr/>
          <p:nvPr/>
        </p:nvSpPr>
        <p:spPr>
          <a:xfrm>
            <a:off x="1619575" y="2479950"/>
            <a:ext cx="298200" cy="18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6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Disjoint or Overlapping</a:t>
            </a:r>
            <a:endParaRPr/>
          </a:p>
        </p:txBody>
      </p:sp>
      <p:pic>
        <p:nvPicPr>
          <p:cNvPr id="543" name="Google Shape;543;p69"/>
          <p:cNvPicPr preferRelativeResize="0"/>
          <p:nvPr/>
        </p:nvPicPr>
        <p:blipFill>
          <a:blip r:embed="rId3">
            <a:alphaModFix/>
          </a:blip>
          <a:stretch>
            <a:fillRect/>
          </a:stretch>
        </p:blipFill>
        <p:spPr>
          <a:xfrm>
            <a:off x="152400" y="1170125"/>
            <a:ext cx="5568718" cy="3820975"/>
          </a:xfrm>
          <a:prstGeom prst="rect">
            <a:avLst/>
          </a:prstGeom>
          <a:noFill/>
          <a:ln>
            <a:noFill/>
          </a:ln>
        </p:spPr>
      </p:pic>
      <p:sp>
        <p:nvSpPr>
          <p:cNvPr id="544" name="Google Shape;544;p69"/>
          <p:cNvSpPr txBox="1"/>
          <p:nvPr>
            <p:ph idx="1" type="body"/>
          </p:nvPr>
        </p:nvSpPr>
        <p:spPr>
          <a:xfrm>
            <a:off x="5839250" y="1152475"/>
            <a:ext cx="2993100" cy="383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400"/>
              <a:t>The </a:t>
            </a:r>
            <a:r>
              <a:rPr b="1" lang="en-GB" sz="1400">
                <a:highlight>
                  <a:srgbClr val="FFFF00"/>
                </a:highlight>
              </a:rPr>
              <a:t>business rules indicate</a:t>
            </a:r>
            <a:r>
              <a:rPr lang="en-GB" sz="1400">
                <a:highlight>
                  <a:srgbClr val="FFFF00"/>
                </a:highlight>
              </a:rPr>
              <a:t> </a:t>
            </a:r>
            <a:r>
              <a:rPr lang="en-GB" sz="1400"/>
              <a:t>whether an entity can only be part of one subtype or more. </a:t>
            </a:r>
            <a:endParaRPr sz="1400"/>
          </a:p>
          <a:p>
            <a:pPr indent="0" lvl="0" marL="0" rtl="0" algn="l">
              <a:spcBef>
                <a:spcPts val="1600"/>
              </a:spcBef>
              <a:spcAft>
                <a:spcPts val="0"/>
              </a:spcAft>
              <a:buNone/>
            </a:pPr>
            <a:r>
              <a:rPr lang="en-GB" sz="1400"/>
              <a:t>Disjoint or non-overlapping subtypes are indicated with </a:t>
            </a:r>
            <a:r>
              <a:rPr b="1" lang="en-GB" sz="1400">
                <a:highlight>
                  <a:srgbClr val="D9EAD3"/>
                </a:highlight>
              </a:rPr>
              <a:t>letter d</a:t>
            </a:r>
            <a:r>
              <a:rPr lang="en-GB" sz="1400"/>
              <a:t> inside the category shape. </a:t>
            </a:r>
            <a:endParaRPr sz="1400"/>
          </a:p>
          <a:p>
            <a:pPr indent="0" lvl="0" marL="0" rtl="0" algn="l">
              <a:spcBef>
                <a:spcPts val="1600"/>
              </a:spcBef>
              <a:spcAft>
                <a:spcPts val="1600"/>
              </a:spcAft>
              <a:buNone/>
            </a:pPr>
            <a:r>
              <a:rPr lang="en-GB" sz="1400"/>
              <a:t>Overlapping subtypes are indicated with the </a:t>
            </a:r>
            <a:r>
              <a:rPr b="1" lang="en-GB" sz="1400">
                <a:highlight>
                  <a:srgbClr val="FFF2CC"/>
                </a:highlight>
              </a:rPr>
              <a:t>letter o</a:t>
            </a:r>
            <a:r>
              <a:rPr lang="en-GB" sz="1400"/>
              <a:t> inside the category shape</a:t>
            </a:r>
            <a:endParaRPr sz="1400"/>
          </a:p>
        </p:txBody>
      </p:sp>
      <p:sp>
        <p:nvSpPr>
          <p:cNvPr id="545" name="Google Shape;545;p69"/>
          <p:cNvSpPr/>
          <p:nvPr/>
        </p:nvSpPr>
        <p:spPr>
          <a:xfrm>
            <a:off x="1619575" y="2479950"/>
            <a:ext cx="298200" cy="18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69"/>
          <p:cNvSpPr/>
          <p:nvPr/>
        </p:nvSpPr>
        <p:spPr>
          <a:xfrm>
            <a:off x="4201325" y="2479950"/>
            <a:ext cx="298200" cy="18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7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Disjoint or Overlapping</a:t>
            </a:r>
            <a:endParaRPr/>
          </a:p>
        </p:txBody>
      </p:sp>
      <p:pic>
        <p:nvPicPr>
          <p:cNvPr id="552" name="Google Shape;552;p70"/>
          <p:cNvPicPr preferRelativeResize="0"/>
          <p:nvPr/>
        </p:nvPicPr>
        <p:blipFill>
          <a:blip r:embed="rId3">
            <a:alphaModFix/>
          </a:blip>
          <a:stretch>
            <a:fillRect/>
          </a:stretch>
        </p:blipFill>
        <p:spPr>
          <a:xfrm>
            <a:off x="152400" y="1170125"/>
            <a:ext cx="5568718" cy="3820975"/>
          </a:xfrm>
          <a:prstGeom prst="rect">
            <a:avLst/>
          </a:prstGeom>
          <a:noFill/>
          <a:ln>
            <a:noFill/>
          </a:ln>
        </p:spPr>
      </p:pic>
      <p:sp>
        <p:nvSpPr>
          <p:cNvPr id="553" name="Google Shape;553;p70"/>
          <p:cNvSpPr txBox="1"/>
          <p:nvPr>
            <p:ph idx="1" type="body"/>
          </p:nvPr>
        </p:nvSpPr>
        <p:spPr>
          <a:xfrm>
            <a:off x="5839250" y="1152475"/>
            <a:ext cx="2993100" cy="383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400"/>
              <a:t>The </a:t>
            </a:r>
            <a:r>
              <a:rPr b="1" lang="en-GB" sz="1400">
                <a:highlight>
                  <a:srgbClr val="FFFF00"/>
                </a:highlight>
              </a:rPr>
              <a:t>business rules indicate</a:t>
            </a:r>
            <a:r>
              <a:rPr lang="en-GB" sz="1400">
                <a:highlight>
                  <a:srgbClr val="FFFF00"/>
                </a:highlight>
              </a:rPr>
              <a:t> </a:t>
            </a:r>
            <a:r>
              <a:rPr lang="en-GB" sz="1400"/>
              <a:t>whether an entity can only be part of one subtype or more. </a:t>
            </a:r>
            <a:endParaRPr sz="1400"/>
          </a:p>
          <a:p>
            <a:pPr indent="0" lvl="0" marL="0" rtl="0" algn="l">
              <a:spcBef>
                <a:spcPts val="1600"/>
              </a:spcBef>
              <a:spcAft>
                <a:spcPts val="0"/>
              </a:spcAft>
              <a:buNone/>
            </a:pPr>
            <a:r>
              <a:rPr lang="en-GB" sz="1400"/>
              <a:t>Disjoint or non-overlapping subtypes are indicated with </a:t>
            </a:r>
            <a:r>
              <a:rPr b="1" lang="en-GB" sz="1400">
                <a:highlight>
                  <a:srgbClr val="D9EAD3"/>
                </a:highlight>
              </a:rPr>
              <a:t>letter d</a:t>
            </a:r>
            <a:r>
              <a:rPr lang="en-GB" sz="1400"/>
              <a:t> inside the category shape. </a:t>
            </a:r>
            <a:endParaRPr sz="1400"/>
          </a:p>
          <a:p>
            <a:pPr indent="0" lvl="0" marL="0" rtl="0" algn="l">
              <a:spcBef>
                <a:spcPts val="1600"/>
              </a:spcBef>
              <a:spcAft>
                <a:spcPts val="0"/>
              </a:spcAft>
              <a:buNone/>
            </a:pPr>
            <a:r>
              <a:rPr lang="en-GB" sz="1400"/>
              <a:t>Overlapping subtypes are indicated with the </a:t>
            </a:r>
            <a:r>
              <a:rPr b="1" lang="en-GB" sz="1400">
                <a:highlight>
                  <a:srgbClr val="FFF2CC"/>
                </a:highlight>
              </a:rPr>
              <a:t>letter o</a:t>
            </a:r>
            <a:r>
              <a:rPr lang="en-GB" sz="1400"/>
              <a:t> inside the category shape</a:t>
            </a:r>
            <a:endParaRPr sz="1400"/>
          </a:p>
          <a:p>
            <a:pPr indent="0" lvl="0" marL="0" rtl="0" algn="l">
              <a:spcBef>
                <a:spcPts val="1600"/>
              </a:spcBef>
              <a:spcAft>
                <a:spcPts val="1600"/>
              </a:spcAft>
              <a:buNone/>
            </a:pPr>
            <a:r>
              <a:rPr b="1" lang="en-GB" sz="1400">
                <a:highlight>
                  <a:srgbClr val="F4CCCC"/>
                </a:highlight>
              </a:rPr>
              <a:t>Implementing overlapping</a:t>
            </a:r>
            <a:r>
              <a:rPr lang="en-GB" sz="1400"/>
              <a:t> subtypes requires one discriminator attribute for each subtype. </a:t>
            </a:r>
            <a:endParaRPr sz="1400"/>
          </a:p>
        </p:txBody>
      </p:sp>
      <p:sp>
        <p:nvSpPr>
          <p:cNvPr id="554" name="Google Shape;554;p70"/>
          <p:cNvSpPr/>
          <p:nvPr/>
        </p:nvSpPr>
        <p:spPr>
          <a:xfrm>
            <a:off x="1619575" y="2479950"/>
            <a:ext cx="298200" cy="18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70"/>
          <p:cNvSpPr/>
          <p:nvPr/>
        </p:nvSpPr>
        <p:spPr>
          <a:xfrm>
            <a:off x="4201325" y="2479950"/>
            <a:ext cx="298200" cy="18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70"/>
          <p:cNvSpPr/>
          <p:nvPr/>
        </p:nvSpPr>
        <p:spPr>
          <a:xfrm>
            <a:off x="4104575" y="2169625"/>
            <a:ext cx="611700" cy="183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7" name="Google Shape;557;p70"/>
          <p:cNvCxnSpPr/>
          <p:nvPr/>
        </p:nvCxnSpPr>
        <p:spPr>
          <a:xfrm rot="10800000">
            <a:off x="4912300" y="2269150"/>
            <a:ext cx="987600" cy="1770900"/>
          </a:xfrm>
          <a:prstGeom prst="straightConnector1">
            <a:avLst/>
          </a:prstGeom>
          <a:noFill/>
          <a:ln cap="flat" cmpd="sng" w="28575">
            <a:solidFill>
              <a:srgbClr val="FF0000"/>
            </a:solidFill>
            <a:prstDash val="solid"/>
            <a:round/>
            <a:headEnd len="med" w="med" type="none"/>
            <a:tailEnd len="med" w="med" type="triangle"/>
          </a:ln>
        </p:spPr>
      </p:cxn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Completeness Constraint</a:t>
            </a:r>
            <a:endParaRPr/>
          </a:p>
        </p:txBody>
      </p:sp>
      <p:pic>
        <p:nvPicPr>
          <p:cNvPr id="563" name="Google Shape;563;p71"/>
          <p:cNvPicPr preferRelativeResize="0"/>
          <p:nvPr/>
        </p:nvPicPr>
        <p:blipFill>
          <a:blip r:embed="rId3">
            <a:alphaModFix/>
          </a:blip>
          <a:stretch>
            <a:fillRect/>
          </a:stretch>
        </p:blipFill>
        <p:spPr>
          <a:xfrm>
            <a:off x="653350" y="2337475"/>
            <a:ext cx="7837301" cy="2285875"/>
          </a:xfrm>
          <a:prstGeom prst="rect">
            <a:avLst/>
          </a:prstGeom>
          <a:noFill/>
          <a:ln>
            <a:noFill/>
          </a:ln>
        </p:spPr>
      </p:pic>
      <p:sp>
        <p:nvSpPr>
          <p:cNvPr id="564" name="Google Shape;564;p71"/>
          <p:cNvSpPr txBox="1"/>
          <p:nvPr>
            <p:ph idx="1" type="body"/>
          </p:nvPr>
        </p:nvSpPr>
        <p:spPr>
          <a:xfrm>
            <a:off x="311700" y="1152475"/>
            <a:ext cx="8520600" cy="1185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GB" sz="1400"/>
              <a:t>whether each supertype occurrence is a member of at least one subtype</a:t>
            </a:r>
            <a:endParaRPr sz="1400"/>
          </a:p>
          <a:p>
            <a:pPr indent="-317500" lvl="1" marL="914400" rtl="0" algn="l">
              <a:spcBef>
                <a:spcPts val="0"/>
              </a:spcBef>
              <a:spcAft>
                <a:spcPts val="0"/>
              </a:spcAft>
              <a:buSzPts val="1400"/>
              <a:buChar char="-"/>
            </a:pPr>
            <a:r>
              <a:rPr b="1" lang="en-GB" sz="1400">
                <a:highlight>
                  <a:srgbClr val="FFFF00"/>
                </a:highlight>
              </a:rPr>
              <a:t>Partial</a:t>
            </a:r>
            <a:r>
              <a:rPr lang="en-GB" sz="1400"/>
              <a:t> Completeness: </a:t>
            </a:r>
            <a:r>
              <a:rPr b="1" lang="en-GB" sz="1400">
                <a:highlight>
                  <a:srgbClr val="FFFF00"/>
                </a:highlight>
              </a:rPr>
              <a:t>not every</a:t>
            </a:r>
            <a:r>
              <a:rPr lang="en-GB" sz="1400"/>
              <a:t> supertype occurrence is a member of a subtype</a:t>
            </a:r>
            <a:endParaRPr/>
          </a:p>
          <a:p>
            <a:pPr indent="-317500" lvl="1" marL="914400" rtl="0" algn="l">
              <a:spcBef>
                <a:spcPts val="0"/>
              </a:spcBef>
              <a:spcAft>
                <a:spcPts val="0"/>
              </a:spcAft>
              <a:buSzPts val="1400"/>
              <a:buChar char="-"/>
            </a:pPr>
            <a:r>
              <a:rPr b="1" lang="en-GB" sz="1400">
                <a:highlight>
                  <a:srgbClr val="D9EAD3"/>
                </a:highlight>
              </a:rPr>
              <a:t>Total</a:t>
            </a:r>
            <a:r>
              <a:rPr lang="en-GB" sz="1400"/>
              <a:t> Completeness: </a:t>
            </a:r>
            <a:r>
              <a:rPr b="1" lang="en-GB" sz="1400">
                <a:highlight>
                  <a:srgbClr val="D9EAD3"/>
                </a:highlight>
              </a:rPr>
              <a:t>every</a:t>
            </a:r>
            <a:r>
              <a:rPr lang="en-GB" sz="1400"/>
              <a:t> supertype occurrence must be a member of at least one subtype.</a:t>
            </a:r>
            <a:endParaRPr sz="1400"/>
          </a:p>
          <a:p>
            <a:pPr indent="-317500" lvl="0" marL="457200" rtl="0" algn="l">
              <a:spcBef>
                <a:spcPts val="0"/>
              </a:spcBef>
              <a:spcAft>
                <a:spcPts val="0"/>
              </a:spcAft>
              <a:buSzPts val="1400"/>
              <a:buChar char="-"/>
            </a:pPr>
            <a:r>
              <a:rPr lang="en-GB" sz="1400"/>
              <a:t>alternative notations exists for showing partial or total completeness</a:t>
            </a:r>
            <a:endParaRPr sz="14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pic>
        <p:nvPicPr>
          <p:cNvPr id="569" name="Google Shape;569;p72"/>
          <p:cNvPicPr preferRelativeResize="0"/>
          <p:nvPr/>
        </p:nvPicPr>
        <p:blipFill>
          <a:blip r:embed="rId3">
            <a:alphaModFix/>
          </a:blip>
          <a:stretch>
            <a:fillRect/>
          </a:stretch>
        </p:blipFill>
        <p:spPr>
          <a:xfrm>
            <a:off x="427150" y="152400"/>
            <a:ext cx="6893700" cy="4572850"/>
          </a:xfrm>
          <a:prstGeom prst="rect">
            <a:avLst/>
          </a:prstGeom>
          <a:noFill/>
          <a:ln>
            <a:noFill/>
          </a:ln>
        </p:spPr>
      </p:pic>
      <p:sp>
        <p:nvSpPr>
          <p:cNvPr id="570" name="Google Shape;570;p72"/>
          <p:cNvSpPr txBox="1"/>
          <p:nvPr>
            <p:ph idx="4294967295" type="body"/>
          </p:nvPr>
        </p:nvSpPr>
        <p:spPr>
          <a:xfrm>
            <a:off x="7320850" y="152400"/>
            <a:ext cx="1824300" cy="483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p>
          <a:p>
            <a:pPr indent="0" lvl="0" marL="0" rtl="0" algn="l">
              <a:spcBef>
                <a:spcPts val="1600"/>
              </a:spcBef>
              <a:spcAft>
                <a:spcPts val="0"/>
              </a:spcAft>
              <a:buNone/>
            </a:pPr>
            <a:r>
              <a:rPr b="1" lang="en-GB" sz="1400"/>
              <a:t>Example</a:t>
            </a:r>
            <a:endParaRPr b="1" sz="1400"/>
          </a:p>
          <a:p>
            <a:pPr indent="0" lvl="0" marL="0" rtl="0" algn="l">
              <a:spcBef>
                <a:spcPts val="1600"/>
              </a:spcBef>
              <a:spcAft>
                <a:spcPts val="1600"/>
              </a:spcAft>
              <a:buNone/>
            </a:pPr>
            <a:r>
              <a:rPr b="1" lang="en-GB" sz="1400"/>
              <a:t>Clerk</a:t>
            </a:r>
            <a:r>
              <a:rPr lang="en-GB" sz="1400"/>
              <a:t> is an identifiable kind but doesn’t have any attributes unique to it. So it should not be implemented as a subtype. Therefore the specialization hierarchy is modeled as </a:t>
            </a:r>
            <a:r>
              <a:rPr b="1" lang="en-GB" sz="1400">
                <a:highlight>
                  <a:srgbClr val="FFFF00"/>
                </a:highlight>
              </a:rPr>
              <a:t>partial</a:t>
            </a:r>
            <a:r>
              <a:rPr lang="en-GB" sz="1400"/>
              <a:t>. </a:t>
            </a:r>
            <a:endParaRPr sz="1400"/>
          </a:p>
        </p:txBody>
      </p:sp>
      <p:sp>
        <p:nvSpPr>
          <p:cNvPr id="571" name="Google Shape;571;p72"/>
          <p:cNvSpPr/>
          <p:nvPr/>
        </p:nvSpPr>
        <p:spPr>
          <a:xfrm>
            <a:off x="3166668" y="2161238"/>
            <a:ext cx="597000" cy="277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2" name="Google Shape;572;p72"/>
          <p:cNvCxnSpPr/>
          <p:nvPr/>
        </p:nvCxnSpPr>
        <p:spPr>
          <a:xfrm rot="10800000">
            <a:off x="3917643" y="2430197"/>
            <a:ext cx="3354600" cy="841200"/>
          </a:xfrm>
          <a:prstGeom prst="straightConnector1">
            <a:avLst/>
          </a:prstGeom>
          <a:noFill/>
          <a:ln cap="flat" cmpd="sng" w="28575">
            <a:solidFill>
              <a:srgbClr val="FF0000"/>
            </a:solidFill>
            <a:prstDash val="solid"/>
            <a:round/>
            <a:headEnd len="med" w="med" type="none"/>
            <a:tailEnd len="med" w="med" type="triangle"/>
          </a:ln>
        </p:spPr>
      </p:cxn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7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rPr lang="en-GB"/>
              <a:t>The Extended Entity Relationship Model (EERD)</a:t>
            </a:r>
            <a:endParaRPr/>
          </a:p>
          <a:p>
            <a:pPr indent="-381000" lvl="0" marL="914400" rtl="0" algn="l">
              <a:spcBef>
                <a:spcPts val="0"/>
              </a:spcBef>
              <a:spcAft>
                <a:spcPts val="0"/>
              </a:spcAft>
              <a:buSzPts val="2400"/>
              <a:buChar char="-"/>
            </a:pPr>
            <a:r>
              <a:rPr lang="en-GB" sz="2400"/>
              <a:t>Subtypes &amp; Supertypes</a:t>
            </a:r>
            <a:endParaRPr sz="2400"/>
          </a:p>
          <a:p>
            <a:pPr indent="-381000" lvl="0" marL="914400" rtl="0" algn="l">
              <a:spcBef>
                <a:spcPts val="0"/>
              </a:spcBef>
              <a:spcAft>
                <a:spcPts val="0"/>
              </a:spcAft>
              <a:buSzPts val="2400"/>
              <a:buChar char="-"/>
            </a:pPr>
            <a:r>
              <a:rPr b="1" lang="en-GB" sz="2400">
                <a:highlight>
                  <a:srgbClr val="FFFF00"/>
                </a:highlight>
              </a:rPr>
              <a:t>Entity Clustering</a:t>
            </a:r>
            <a:endParaRPr b="1" sz="2400">
              <a:highlight>
                <a:srgbClr val="FFFF00"/>
              </a:highlight>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7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Entity Clustering</a:t>
            </a:r>
            <a:endParaRPr/>
          </a:p>
        </p:txBody>
      </p:sp>
      <p:sp>
        <p:nvSpPr>
          <p:cNvPr id="583" name="Google Shape;583;p74"/>
          <p:cNvSpPr txBox="1"/>
          <p:nvPr>
            <p:ph idx="1" type="body"/>
          </p:nvPr>
        </p:nvSpPr>
        <p:spPr>
          <a:xfrm>
            <a:off x="311700" y="1152475"/>
            <a:ext cx="8520600" cy="32613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a:p>
            <a:pPr indent="-342900" lvl="0" marL="457200" rtl="0" algn="l">
              <a:spcBef>
                <a:spcPts val="1600"/>
              </a:spcBef>
              <a:spcAft>
                <a:spcPts val="0"/>
              </a:spcAft>
              <a:buSzPts val="1800"/>
              <a:buChar char="-"/>
            </a:pPr>
            <a:r>
              <a:rPr lang="en-GB"/>
              <a:t>ERDs in the real world usually include hundreds of entities and relationships which make the </a:t>
            </a:r>
            <a:r>
              <a:rPr b="1" lang="en-GB">
                <a:highlight>
                  <a:srgbClr val="FFFF00"/>
                </a:highlight>
              </a:rPr>
              <a:t>ERD crowded</a:t>
            </a:r>
            <a:r>
              <a:rPr lang="en-GB"/>
              <a:t> and not very useful as a communication tool. </a:t>
            </a:r>
            <a:endParaRPr/>
          </a:p>
          <a:p>
            <a:pPr indent="0" lvl="0" marL="457200" rtl="0" algn="l">
              <a:spcBef>
                <a:spcPts val="1600"/>
              </a:spcBef>
              <a:spcAft>
                <a:spcPts val="0"/>
              </a:spcAft>
              <a:buNone/>
            </a:pPr>
            <a:r>
              <a:t/>
            </a:r>
            <a:endParaRPr/>
          </a:p>
          <a:p>
            <a:pPr indent="-342900" lvl="0" marL="457200" rtl="0" algn="l">
              <a:spcBef>
                <a:spcPts val="1600"/>
              </a:spcBef>
              <a:spcAft>
                <a:spcPts val="0"/>
              </a:spcAft>
              <a:buSzPts val="1800"/>
              <a:buChar char="-"/>
            </a:pPr>
            <a:r>
              <a:rPr lang="en-GB"/>
              <a:t>To simplifying the diagram, we can </a:t>
            </a:r>
            <a:r>
              <a:rPr b="1" lang="en-GB">
                <a:highlight>
                  <a:srgbClr val="D9EAD3"/>
                </a:highlight>
              </a:rPr>
              <a:t>cluster</a:t>
            </a:r>
            <a:r>
              <a:rPr lang="en-GB"/>
              <a:t> multiple entities and the relationships between them when the entities </a:t>
            </a:r>
            <a:r>
              <a:rPr b="1" lang="en-GB">
                <a:highlight>
                  <a:srgbClr val="FFF2CC"/>
                </a:highlight>
              </a:rPr>
              <a:t>logically belong together</a:t>
            </a:r>
            <a:r>
              <a:rPr lang="en-GB"/>
              <a:t>.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75"/>
          <p:cNvSpPr txBox="1"/>
          <p:nvPr>
            <p:ph idx="4294967295" type="body"/>
          </p:nvPr>
        </p:nvSpPr>
        <p:spPr>
          <a:xfrm>
            <a:off x="4999375" y="152400"/>
            <a:ext cx="4145700" cy="483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400"/>
              <a:t>OFFERING is a cluster which includes SEMESTER, COURSE and CLASS entities.</a:t>
            </a:r>
            <a:endParaRPr sz="1400"/>
          </a:p>
          <a:p>
            <a:pPr indent="0" lvl="0" marL="0" rtl="0" algn="l">
              <a:spcBef>
                <a:spcPts val="1600"/>
              </a:spcBef>
              <a:spcAft>
                <a:spcPts val="0"/>
              </a:spcAft>
              <a:buNone/>
            </a:pPr>
            <a:r>
              <a:rPr lang="en-GB" sz="1400"/>
              <a:t>A LOCATION specifies both BUILDING and ROOM within the building. </a:t>
            </a:r>
            <a:endParaRPr sz="1400"/>
          </a:p>
          <a:p>
            <a:pPr indent="0" lvl="0" marL="0" rtl="0" algn="l">
              <a:spcBef>
                <a:spcPts val="1600"/>
              </a:spcBef>
              <a:spcAft>
                <a:spcPts val="0"/>
              </a:spcAft>
              <a:buNone/>
            </a:pPr>
            <a:r>
              <a:t/>
            </a:r>
            <a:endParaRPr sz="1400"/>
          </a:p>
          <a:p>
            <a:pPr indent="0" lvl="0" marL="0" rtl="0" algn="l">
              <a:spcBef>
                <a:spcPts val="1600"/>
              </a:spcBef>
              <a:spcAft>
                <a:spcPts val="0"/>
              </a:spcAft>
              <a:buClr>
                <a:schemeClr val="dk1"/>
              </a:buClr>
              <a:buSzPts val="1100"/>
              <a:buFont typeface="Arial"/>
              <a:buNone/>
            </a:pPr>
            <a:r>
              <a:t/>
            </a:r>
            <a:endParaRPr sz="1400"/>
          </a:p>
          <a:p>
            <a:pPr indent="0" lvl="0" marL="0" rtl="0" algn="l">
              <a:spcBef>
                <a:spcPts val="1600"/>
              </a:spcBef>
              <a:spcAft>
                <a:spcPts val="1600"/>
              </a:spcAft>
              <a:buNone/>
            </a:pPr>
            <a:r>
              <a:t/>
            </a:r>
            <a:endParaRPr sz="1400"/>
          </a:p>
        </p:txBody>
      </p:sp>
      <p:pic>
        <p:nvPicPr>
          <p:cNvPr id="589" name="Google Shape;589;p75"/>
          <p:cNvPicPr preferRelativeResize="0"/>
          <p:nvPr/>
        </p:nvPicPr>
        <p:blipFill>
          <a:blip r:embed="rId3">
            <a:alphaModFix/>
          </a:blip>
          <a:stretch>
            <a:fillRect/>
          </a:stretch>
        </p:blipFill>
        <p:spPr>
          <a:xfrm>
            <a:off x="436550" y="152400"/>
            <a:ext cx="4562825" cy="4555051"/>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pic>
        <p:nvPicPr>
          <p:cNvPr id="594" name="Google Shape;594;p76"/>
          <p:cNvPicPr preferRelativeResize="0"/>
          <p:nvPr/>
        </p:nvPicPr>
        <p:blipFill>
          <a:blip r:embed="rId3">
            <a:alphaModFix/>
          </a:blip>
          <a:stretch>
            <a:fillRect/>
          </a:stretch>
        </p:blipFill>
        <p:spPr>
          <a:xfrm>
            <a:off x="436550" y="152400"/>
            <a:ext cx="4562825" cy="4555051"/>
          </a:xfrm>
          <a:prstGeom prst="rect">
            <a:avLst/>
          </a:prstGeom>
          <a:noFill/>
          <a:ln>
            <a:noFill/>
          </a:ln>
        </p:spPr>
      </p:pic>
      <p:sp>
        <p:nvSpPr>
          <p:cNvPr id="595" name="Google Shape;595;p76"/>
          <p:cNvSpPr txBox="1"/>
          <p:nvPr>
            <p:ph idx="4294967295" type="body"/>
          </p:nvPr>
        </p:nvSpPr>
        <p:spPr>
          <a:xfrm>
            <a:off x="4999375" y="152400"/>
            <a:ext cx="4145700" cy="483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400"/>
              <a:t>OFFERING is a cluster which includes SEMESTER, COURSE and CLASS entities.</a:t>
            </a:r>
            <a:endParaRPr sz="1400"/>
          </a:p>
          <a:p>
            <a:pPr indent="0" lvl="0" marL="0" rtl="0" algn="l">
              <a:spcBef>
                <a:spcPts val="1600"/>
              </a:spcBef>
              <a:spcAft>
                <a:spcPts val="0"/>
              </a:spcAft>
              <a:buNone/>
            </a:pPr>
            <a:r>
              <a:rPr lang="en-GB" sz="1400"/>
              <a:t>A LOCATION specifies both BUILDING and ROOM within the building. </a:t>
            </a:r>
            <a:endParaRPr sz="1400"/>
          </a:p>
          <a:p>
            <a:pPr indent="0" lvl="0" marL="0" rtl="0" algn="l">
              <a:spcBef>
                <a:spcPts val="1600"/>
              </a:spcBef>
              <a:spcAft>
                <a:spcPts val="0"/>
              </a:spcAft>
              <a:buNone/>
            </a:pPr>
            <a:r>
              <a:rPr lang="en-GB" sz="1400"/>
              <a:t>In a sense we are building a </a:t>
            </a:r>
            <a:r>
              <a:rPr b="1" lang="en-GB" sz="1400">
                <a:highlight>
                  <a:srgbClr val="FFFF00"/>
                </a:highlight>
              </a:rPr>
              <a:t>generalization hierarchy.</a:t>
            </a:r>
            <a:r>
              <a:rPr lang="en-GB" sz="1400"/>
              <a:t> We are grouping these entities together which collectively represent a higher, more general concept. </a:t>
            </a:r>
            <a:endParaRPr sz="1400"/>
          </a:p>
          <a:p>
            <a:pPr indent="0" lvl="0" marL="0" rtl="0" algn="l">
              <a:spcBef>
                <a:spcPts val="1600"/>
              </a:spcBef>
              <a:spcAft>
                <a:spcPts val="0"/>
              </a:spcAft>
              <a:buNone/>
            </a:pPr>
            <a:r>
              <a:t/>
            </a:r>
            <a:endParaRPr sz="1400"/>
          </a:p>
          <a:p>
            <a:pPr indent="0" lvl="0" marL="0" rtl="0" algn="l">
              <a:spcBef>
                <a:spcPts val="1600"/>
              </a:spcBef>
              <a:spcAft>
                <a:spcPts val="0"/>
              </a:spcAft>
              <a:buNone/>
            </a:pPr>
            <a:r>
              <a:t/>
            </a:r>
            <a:endParaRPr sz="1400"/>
          </a:p>
          <a:p>
            <a:pPr indent="0" lvl="0" marL="0" rtl="0" algn="l">
              <a:spcBef>
                <a:spcPts val="1600"/>
              </a:spcBef>
              <a:spcAft>
                <a:spcPts val="1600"/>
              </a:spcAft>
              <a:buNone/>
            </a:pPr>
            <a:r>
              <a:t/>
            </a:r>
            <a:endParaRPr sz="1400"/>
          </a:p>
        </p:txBody>
      </p:sp>
      <p:pic>
        <p:nvPicPr>
          <p:cNvPr id="596" name="Google Shape;596;p76"/>
          <p:cNvPicPr preferRelativeResize="0"/>
          <p:nvPr/>
        </p:nvPicPr>
        <p:blipFill>
          <a:blip r:embed="rId4">
            <a:alphaModFix/>
          </a:blip>
          <a:stretch>
            <a:fillRect/>
          </a:stretch>
        </p:blipFill>
        <p:spPr>
          <a:xfrm>
            <a:off x="5365075" y="2897700"/>
            <a:ext cx="3414300" cy="1509076"/>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77"/>
          <p:cNvSpPr txBox="1"/>
          <p:nvPr>
            <p:ph idx="1" type="body"/>
          </p:nvPr>
        </p:nvSpPr>
        <p:spPr>
          <a:xfrm>
            <a:off x="311700" y="1152475"/>
            <a:ext cx="8520600" cy="387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By the end of this module, you should be able to:</a:t>
            </a:r>
            <a:endParaRPr/>
          </a:p>
          <a:p>
            <a:pPr indent="-317500" lvl="0" marL="457200" rtl="0" algn="l">
              <a:spcBef>
                <a:spcPts val="1600"/>
              </a:spcBef>
              <a:spcAft>
                <a:spcPts val="0"/>
              </a:spcAft>
              <a:buSzPts val="1400"/>
              <a:buChar char="-"/>
            </a:pPr>
            <a:r>
              <a:rPr lang="en-GB" sz="1400"/>
              <a:t>Recognize entities, attributes, and relationships in business rules</a:t>
            </a:r>
            <a:endParaRPr sz="1400"/>
          </a:p>
          <a:p>
            <a:pPr indent="-317500" lvl="0" marL="457200" rtl="0" algn="l">
              <a:spcBef>
                <a:spcPts val="0"/>
              </a:spcBef>
              <a:spcAft>
                <a:spcPts val="0"/>
              </a:spcAft>
              <a:buSzPts val="1400"/>
              <a:buChar char="-"/>
            </a:pPr>
            <a:r>
              <a:rPr lang="en-GB" sz="1400"/>
              <a:t>Distinguish attribute types (required vs optional, composite, multivalued, derived)</a:t>
            </a:r>
            <a:endParaRPr sz="1400"/>
          </a:p>
          <a:p>
            <a:pPr indent="-317500" lvl="0" marL="457200" rtl="0" algn="l">
              <a:spcBef>
                <a:spcPts val="0"/>
              </a:spcBef>
              <a:spcAft>
                <a:spcPts val="0"/>
              </a:spcAft>
              <a:buSzPts val="1400"/>
              <a:buChar char="-"/>
            </a:pPr>
            <a:r>
              <a:rPr lang="en-GB" sz="1400"/>
              <a:t>Understand relationship properties (connectivity, cardinality, strength, participation, recursive)</a:t>
            </a:r>
            <a:endParaRPr sz="1400"/>
          </a:p>
          <a:p>
            <a:pPr indent="-317500" lvl="0" marL="457200" rtl="0" algn="l">
              <a:spcBef>
                <a:spcPts val="0"/>
              </a:spcBef>
              <a:spcAft>
                <a:spcPts val="0"/>
              </a:spcAft>
              <a:buSzPts val="1400"/>
              <a:buChar char="-"/>
            </a:pPr>
            <a:r>
              <a:rPr lang="en-GB" sz="1400"/>
              <a:t>Identify special entities (weak entities, associative entities)</a:t>
            </a:r>
            <a:endParaRPr sz="1400"/>
          </a:p>
          <a:p>
            <a:pPr indent="-317500" lvl="0" marL="457200" rtl="0" algn="l">
              <a:spcBef>
                <a:spcPts val="0"/>
              </a:spcBef>
              <a:spcAft>
                <a:spcPts val="0"/>
              </a:spcAft>
              <a:buSzPts val="1400"/>
              <a:buChar char="-"/>
            </a:pPr>
            <a:r>
              <a:rPr lang="en-GB" sz="1400"/>
              <a:t>Apply enhanced ER concepts (supertypes, subtypes, specialization, disjoint/overlapping, completeness, clustering)</a:t>
            </a:r>
            <a:endParaRPr sz="1400"/>
          </a:p>
          <a:p>
            <a:pPr indent="0" lvl="0" marL="0" rtl="0" algn="l">
              <a:spcBef>
                <a:spcPts val="1600"/>
              </a:spcBef>
              <a:spcAft>
                <a:spcPts val="0"/>
              </a:spcAft>
              <a:buNone/>
            </a:pPr>
            <a:r>
              <a:rPr lang="en-GB"/>
              <a:t>Next Steps → Module 3</a:t>
            </a:r>
            <a:endParaRPr/>
          </a:p>
          <a:p>
            <a:pPr indent="-317500" lvl="0" marL="457200" rtl="0" algn="l">
              <a:spcBef>
                <a:spcPts val="1600"/>
              </a:spcBef>
              <a:spcAft>
                <a:spcPts val="0"/>
              </a:spcAft>
              <a:buSzPts val="1400"/>
              <a:buChar char="-"/>
            </a:pPr>
            <a:r>
              <a:rPr lang="en-GB" sz="1400"/>
              <a:t>Learn how to map ER/EER diagrams into relational schemas</a:t>
            </a:r>
            <a:endParaRPr sz="1400"/>
          </a:p>
          <a:p>
            <a:pPr indent="-317500" lvl="0" marL="457200" rtl="0" algn="l">
              <a:spcBef>
                <a:spcPts val="0"/>
              </a:spcBef>
              <a:spcAft>
                <a:spcPts val="0"/>
              </a:spcAft>
              <a:buSzPts val="1400"/>
              <a:buChar char="-"/>
            </a:pPr>
            <a:r>
              <a:rPr lang="en-GB" sz="1400"/>
              <a:t>See how keys, foreign keys, and constraints enforce these designs</a:t>
            </a:r>
            <a:endParaRPr sz="1400"/>
          </a:p>
        </p:txBody>
      </p:sp>
      <p:sp>
        <p:nvSpPr>
          <p:cNvPr id="602" name="Google Shape;602;p7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Takeaways &amp; Next Steps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