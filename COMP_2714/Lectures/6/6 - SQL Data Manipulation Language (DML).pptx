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6858000" cy="9144000"/>
  <p:embeddedFontLst>
    <p:embeddedFont>
      <p:font typeface="Lora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Lora-regular.fntdata"/><Relationship Id="rId47" Type="http://schemas.openxmlformats.org/officeDocument/2006/relationships/slide" Target="slides/slide43.xml"/><Relationship Id="rId49" Type="http://schemas.openxmlformats.org/officeDocument/2006/relationships/font" Target="fonts/Lor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Lora-boldItalic.fntdata"/><Relationship Id="rId50" Type="http://schemas.openxmlformats.org/officeDocument/2006/relationships/font" Target="fonts/Lora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4d663b5c5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4d663b5c5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ce38a960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ce38a960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ce38a960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ce38a960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ce38a960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ce38a960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ce38a960e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ce38a960e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ce38a960e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ce38a960e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ce38a960e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ce38a960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ce38a960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ce38a960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ce38a960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ce38a960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f0461340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f0461340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f046134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4f046134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c68eee7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c68eee7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5b0568c8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5b0568c8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f0461340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f0461340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5b0568c8c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5b0568c8c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f0461340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4f0461340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f0461340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4f0461340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f0461340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f0461340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f0461340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f0461340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4f0461340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4f0461340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4f0461340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4f0461340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c68eee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3c68eee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ce38a96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7ce38a96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ce38a960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7ce38a960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ce38a960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7ce38a960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ce38a960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7ce38a960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ce38a960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ce38a960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ce38a960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7ce38a960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ce38a960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7ce38a960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7ce38a960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7ce38a960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4f0461340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4f0461340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4f0461340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4f0461340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b0bf3d5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8b0bf3d5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4f0461340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4f0461340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4f0461340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4f0461340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b0bf3d50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8b0bf3d50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b0bf3d50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8b0bf3d50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b0bf3d50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8b0bf3d50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b0bf3d50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8b0bf3d50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8b0bf3d50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8b0bf3d50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8b0bf3d50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8b0bf3d50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7ce38a960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7ce38a960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4df15321a5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4df15321a5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11700" y="4663225"/>
            <a:ext cx="34593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E56B6A"/>
                </a:solidFill>
                <a:latin typeface="Lora"/>
                <a:ea typeface="Lora"/>
                <a:cs typeface="Lora"/>
                <a:sym typeface="Lora"/>
              </a:rPr>
              <a:t>COMP 2714</a:t>
            </a:r>
            <a:r>
              <a:rPr lang="en-GB" sz="1000">
                <a:latin typeface="Lora"/>
                <a:ea typeface="Lora"/>
                <a:cs typeface="Lora"/>
                <a:sym typeface="Lora"/>
              </a:rPr>
              <a:t> - </a:t>
            </a:r>
            <a:r>
              <a:rPr b="1" lang="en-GB" sz="1000">
                <a:latin typeface="Lora"/>
                <a:ea typeface="Lora"/>
                <a:cs typeface="Lora"/>
                <a:sym typeface="Lora"/>
              </a:rPr>
              <a:t>Maryam Khezrzadeh</a:t>
            </a:r>
            <a:endParaRPr b="1" sz="1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Module</a:t>
            </a:r>
            <a:r>
              <a:rPr lang="en-GB" sz="3600"/>
              <a:t> 6 - SQL Data Manipulation Language (DML)</a:t>
            </a:r>
            <a:endParaRPr sz="36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Language Families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058825"/>
            <a:ext cx="4590600" cy="3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/>
              <a:t>DDL</a:t>
            </a:r>
            <a:r>
              <a:rPr lang="en-GB" sz="1400"/>
              <a:t>: </a:t>
            </a:r>
            <a:r>
              <a:rPr b="1" lang="en-GB" sz="1400"/>
              <a:t>D</a:t>
            </a:r>
            <a:r>
              <a:rPr lang="en-GB" sz="1400"/>
              <a:t>ata </a:t>
            </a:r>
            <a:r>
              <a:rPr b="1" lang="en-GB" sz="1400"/>
              <a:t>D</a:t>
            </a:r>
            <a:r>
              <a:rPr lang="en-GB" sz="1400"/>
              <a:t>efinition </a:t>
            </a:r>
            <a:r>
              <a:rPr b="1" lang="en-GB" sz="1400"/>
              <a:t>L</a:t>
            </a:r>
            <a:r>
              <a:rPr lang="en-GB" sz="1400"/>
              <a:t>anguage</a:t>
            </a:r>
            <a:endParaRPr sz="1400"/>
          </a:p>
          <a:p>
            <a:pPr indent="-3048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Create &amp; alter schemas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 sz="1400"/>
              <a:t>DML</a:t>
            </a:r>
            <a:r>
              <a:rPr lang="en-GB" sz="1400"/>
              <a:t>: </a:t>
            </a:r>
            <a:r>
              <a:rPr b="1" lang="en-GB" sz="1400"/>
              <a:t>D</a:t>
            </a:r>
            <a:r>
              <a:rPr lang="en-GB" sz="1400"/>
              <a:t>ata </a:t>
            </a:r>
            <a:r>
              <a:rPr b="1" lang="en-GB" sz="1400"/>
              <a:t>M</a:t>
            </a:r>
            <a:r>
              <a:rPr lang="en-GB" sz="1400"/>
              <a:t>anipulation </a:t>
            </a:r>
            <a:r>
              <a:rPr b="1" lang="en-GB" sz="1400"/>
              <a:t>L</a:t>
            </a:r>
            <a:r>
              <a:rPr lang="en-GB" sz="1400"/>
              <a:t>anguage</a:t>
            </a:r>
            <a:endParaRPr sz="1400"/>
          </a:p>
          <a:p>
            <a:pPr indent="-3048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Manipulate date (insert/update/delete)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 sz="1400"/>
              <a:t>DCL</a:t>
            </a:r>
            <a:r>
              <a:rPr lang="en-GB" sz="1400"/>
              <a:t>: </a:t>
            </a:r>
            <a:r>
              <a:rPr b="1" lang="en-GB" sz="1400"/>
              <a:t>D</a:t>
            </a:r>
            <a:r>
              <a:rPr lang="en-GB" sz="1400"/>
              <a:t>ata </a:t>
            </a:r>
            <a:r>
              <a:rPr b="1" lang="en-GB" sz="1400"/>
              <a:t>C</a:t>
            </a:r>
            <a:r>
              <a:rPr lang="en-GB" sz="1400"/>
              <a:t>ontrol </a:t>
            </a:r>
            <a:r>
              <a:rPr b="1" lang="en-GB" sz="1400"/>
              <a:t>L</a:t>
            </a:r>
            <a:r>
              <a:rPr lang="en-GB" sz="1400"/>
              <a:t>anguage</a:t>
            </a:r>
            <a:endParaRPr sz="1400"/>
          </a:p>
          <a:p>
            <a:pPr indent="-3048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Permissions &amp; access</a:t>
            </a:r>
            <a:endParaRPr b="1"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 sz="1400"/>
              <a:t>TCL</a:t>
            </a:r>
            <a:r>
              <a:rPr lang="en-GB" sz="1400"/>
              <a:t>: </a:t>
            </a:r>
            <a:r>
              <a:rPr b="1" lang="en-GB" sz="1400"/>
              <a:t>T</a:t>
            </a:r>
            <a:r>
              <a:rPr lang="en-GB" sz="1400"/>
              <a:t>ransaction </a:t>
            </a:r>
            <a:r>
              <a:rPr b="1" lang="en-GB" sz="1400"/>
              <a:t>C</a:t>
            </a:r>
            <a:r>
              <a:rPr lang="en-GB" sz="1400"/>
              <a:t>ontrol </a:t>
            </a:r>
            <a:r>
              <a:rPr b="1" lang="en-GB" sz="1400"/>
              <a:t>L</a:t>
            </a:r>
            <a:r>
              <a:rPr lang="en-GB" sz="1400"/>
              <a:t>anguage </a:t>
            </a:r>
            <a:endParaRPr sz="1400"/>
          </a:p>
          <a:p>
            <a:pPr indent="-3048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-GB" sz="1200"/>
              <a:t>Transactions</a:t>
            </a:r>
            <a:endParaRPr sz="1200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269" y="1120002"/>
            <a:ext cx="3554431" cy="3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DML: Insert, Update, Delete, Select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Entering Data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223500"/>
            <a:ext cx="8520600" cy="685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400">
                <a:solidFill>
                  <a:srgbClr val="9900FF"/>
                </a:solidFill>
              </a:rPr>
              <a:t>INSERT INTO</a:t>
            </a:r>
            <a:r>
              <a:rPr lang="en-GB" sz="2400"/>
              <a:t> </a:t>
            </a:r>
            <a:r>
              <a:rPr i="1" lang="en-GB"/>
              <a:t>tablename </a:t>
            </a:r>
            <a:r>
              <a:rPr lang="en-GB" sz="2400">
                <a:solidFill>
                  <a:srgbClr val="9900FF"/>
                </a:solidFill>
              </a:rPr>
              <a:t>VALUES (</a:t>
            </a:r>
            <a:r>
              <a:rPr i="1" lang="en-GB"/>
              <a:t>value1, value2, … , valuen</a:t>
            </a:r>
            <a:r>
              <a:rPr lang="en-GB" sz="2400">
                <a:solidFill>
                  <a:srgbClr val="9900FF"/>
                </a:solidFill>
              </a:rPr>
              <a:t>)</a:t>
            </a:r>
            <a:r>
              <a:rPr i="1" lang="en-GB" sz="2400">
                <a:solidFill>
                  <a:srgbClr val="9900FF"/>
                </a:solidFill>
              </a:rPr>
              <a:t>;</a:t>
            </a:r>
            <a:endParaRPr sz="2400">
              <a:solidFill>
                <a:srgbClr val="9900FF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311700" y="2197300"/>
            <a:ext cx="8520600" cy="27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Examples</a:t>
            </a:r>
            <a:r>
              <a:rPr b="1" lang="en-GB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	</a:t>
            </a:r>
            <a:r>
              <a:rPr lang="en-GB">
                <a:solidFill>
                  <a:srgbClr val="9900FF"/>
                </a:solidFill>
              </a:rPr>
              <a:t>INSERT INTO</a:t>
            </a:r>
            <a:r>
              <a:rPr lang="en-GB">
                <a:solidFill>
                  <a:schemeClr val="dk2"/>
                </a:solidFill>
              </a:rPr>
              <a:t> </a:t>
            </a:r>
            <a:r>
              <a:rPr i="1" lang="en-GB">
                <a:solidFill>
                  <a:schemeClr val="dk2"/>
                </a:solidFill>
              </a:rPr>
              <a:t>VENDOR </a:t>
            </a:r>
            <a:r>
              <a:rPr lang="en-GB">
                <a:solidFill>
                  <a:srgbClr val="9900FF"/>
                </a:solidFill>
              </a:rPr>
              <a:t>VALUES (</a:t>
            </a:r>
            <a:r>
              <a:rPr i="1" lang="en-GB">
                <a:solidFill>
                  <a:schemeClr val="dk2"/>
                </a:solidFill>
              </a:rPr>
              <a:t>21225, 'Bryson, Inc.', 'Smithson', '615', '223-3234', 'TN', 'Y'</a:t>
            </a:r>
            <a:r>
              <a:rPr lang="en-GB">
                <a:solidFill>
                  <a:srgbClr val="9900FF"/>
                </a:solidFill>
              </a:rPr>
              <a:t>)</a:t>
            </a:r>
            <a:r>
              <a:rPr i="1" lang="en-GB">
                <a:solidFill>
                  <a:srgbClr val="9900FF"/>
                </a:solidFill>
              </a:rPr>
              <a:t>;</a:t>
            </a:r>
            <a:endParaRPr i="1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	</a:t>
            </a:r>
            <a:r>
              <a:rPr lang="en-GB">
                <a:solidFill>
                  <a:srgbClr val="9900FF"/>
                </a:solidFill>
              </a:rPr>
              <a:t>INSERT INTO</a:t>
            </a:r>
            <a:r>
              <a:rPr lang="en-GB">
                <a:solidFill>
                  <a:schemeClr val="dk2"/>
                </a:solidFill>
              </a:rPr>
              <a:t> </a:t>
            </a:r>
            <a:r>
              <a:rPr i="1" lang="en-GB">
                <a:solidFill>
                  <a:schemeClr val="dk2"/>
                </a:solidFill>
              </a:rPr>
              <a:t>VENDOR </a:t>
            </a:r>
            <a:r>
              <a:rPr lang="en-GB">
                <a:solidFill>
                  <a:srgbClr val="9900FF"/>
                </a:solidFill>
              </a:rPr>
              <a:t>VALUES (</a:t>
            </a:r>
            <a:r>
              <a:rPr i="1" lang="en-GB">
                <a:solidFill>
                  <a:schemeClr val="dk2"/>
                </a:solidFill>
              </a:rPr>
              <a:t>21226, 'Superloo, Inc.', 'Flushing', '904', '215-8995', 'FL', 'N'</a:t>
            </a:r>
            <a:r>
              <a:rPr lang="en-GB">
                <a:solidFill>
                  <a:srgbClr val="9900FF"/>
                </a:solidFill>
              </a:rPr>
              <a:t>)</a:t>
            </a:r>
            <a:r>
              <a:rPr i="1" lang="en-GB">
                <a:solidFill>
                  <a:srgbClr val="9900FF"/>
                </a:solidFill>
              </a:rPr>
              <a:t>;</a:t>
            </a:r>
            <a:endParaRPr i="1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9900FF"/>
                </a:solidFill>
              </a:rPr>
              <a:t>	…</a:t>
            </a:r>
            <a:endParaRPr i="1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	</a:t>
            </a:r>
            <a:r>
              <a:rPr lang="en-GB">
                <a:solidFill>
                  <a:srgbClr val="9900FF"/>
                </a:solidFill>
              </a:rPr>
              <a:t>INSERT INTO</a:t>
            </a:r>
            <a:r>
              <a:rPr lang="en-GB">
                <a:solidFill>
                  <a:schemeClr val="dk2"/>
                </a:solidFill>
              </a:rPr>
              <a:t> </a:t>
            </a:r>
            <a:r>
              <a:rPr i="1" lang="en-GB">
                <a:solidFill>
                  <a:schemeClr val="dk2"/>
                </a:solidFill>
              </a:rPr>
              <a:t>PRODUCT </a:t>
            </a:r>
            <a:r>
              <a:rPr lang="en-GB">
                <a:solidFill>
                  <a:srgbClr val="9900FF"/>
                </a:solidFill>
              </a:rPr>
              <a:t>VALUES (</a:t>
            </a:r>
            <a:endParaRPr>
              <a:solidFill>
                <a:srgbClr val="9900FF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'</a:t>
            </a:r>
            <a:r>
              <a:rPr i="1" lang="en-GB">
                <a:solidFill>
                  <a:schemeClr val="dk2"/>
                </a:solidFill>
              </a:rPr>
              <a:t>11QER/31', 'Power Painter, 15 psi., 3-nozzle', '03-Nov-17', 8, 5, 109.99, 0.00, 25595</a:t>
            </a:r>
            <a:r>
              <a:rPr lang="en-GB">
                <a:solidFill>
                  <a:srgbClr val="9900FF"/>
                </a:solidFill>
              </a:rPr>
              <a:t>)</a:t>
            </a:r>
            <a:r>
              <a:rPr i="1" lang="en-GB">
                <a:solidFill>
                  <a:srgbClr val="9900FF"/>
                </a:solidFill>
              </a:rPr>
              <a:t>;</a:t>
            </a:r>
            <a:endParaRPr i="1">
              <a:solidFill>
                <a:srgbClr val="9900FF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solidFill>
                  <a:srgbClr val="9900FF"/>
                </a:solidFill>
              </a:rPr>
              <a:t>	...</a:t>
            </a:r>
            <a:endParaRPr i="1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Rows with NULL Attributes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94150"/>
            <a:ext cx="8520600" cy="11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9900FF"/>
                </a:solidFill>
              </a:rPr>
              <a:t>INSERT INTO</a:t>
            </a:r>
            <a:r>
              <a:rPr lang="en-GB" sz="2400"/>
              <a:t> </a:t>
            </a:r>
            <a:r>
              <a:rPr i="1" lang="en-GB"/>
              <a:t>PRODUCT </a:t>
            </a:r>
            <a:r>
              <a:rPr lang="en-GB" sz="2400">
                <a:solidFill>
                  <a:srgbClr val="9900FF"/>
                </a:solidFill>
              </a:rPr>
              <a:t>VALUES </a:t>
            </a:r>
            <a:endParaRPr sz="2400">
              <a:solidFill>
                <a:srgbClr val="9900FF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9900FF"/>
                </a:solidFill>
              </a:rPr>
              <a:t>(</a:t>
            </a:r>
            <a:r>
              <a:rPr i="1" lang="en-GB"/>
              <a:t>'BRT-345', 'Titanium drill bit', '18-Oct-17', 75, 10, 4.50, 0.06, </a:t>
            </a:r>
            <a:r>
              <a:rPr i="1" lang="en-GB">
                <a:solidFill>
                  <a:srgbClr val="9900FF"/>
                </a:solidFill>
              </a:rPr>
              <a:t>NULL</a:t>
            </a:r>
            <a:r>
              <a:rPr lang="en-GB" sz="2400">
                <a:solidFill>
                  <a:srgbClr val="9900FF"/>
                </a:solidFill>
              </a:rPr>
              <a:t>)</a:t>
            </a:r>
            <a:r>
              <a:rPr i="1" lang="en-GB" sz="2400">
                <a:solidFill>
                  <a:srgbClr val="9900FF"/>
                </a:solidFill>
              </a:rPr>
              <a:t>;</a:t>
            </a:r>
            <a:endParaRPr sz="2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2" name="Google Shape;82;p17"/>
          <p:cNvSpPr txBox="1"/>
          <p:nvPr/>
        </p:nvSpPr>
        <p:spPr>
          <a:xfrm>
            <a:off x="5256125" y="3429625"/>
            <a:ext cx="38838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It is possible to enter </a:t>
            </a:r>
            <a:r>
              <a:rPr b="1" lang="en-GB">
                <a:highlight>
                  <a:srgbClr val="FFFF00"/>
                </a:highlight>
              </a:rPr>
              <a:t>NULL</a:t>
            </a:r>
            <a:r>
              <a:rPr lang="en-GB"/>
              <a:t> as an attribute value.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NULL is not the same as </a:t>
            </a:r>
            <a:r>
              <a:rPr b="1" lang="en-GB">
                <a:highlight>
                  <a:srgbClr val="00FFFF"/>
                </a:highlight>
              </a:rPr>
              <a:t>empty string ''</a:t>
            </a:r>
            <a:endParaRPr b="1">
              <a:highlight>
                <a:srgbClr val="00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8171925" y="4554650"/>
            <a:ext cx="6603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17"/>
          <p:cNvCxnSpPr>
            <a:stCxn id="82" idx="0"/>
          </p:cNvCxnSpPr>
          <p:nvPr/>
        </p:nvCxnSpPr>
        <p:spPr>
          <a:xfrm flipH="1" rot="10800000">
            <a:off x="7198025" y="2435125"/>
            <a:ext cx="498600" cy="99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Rows with Optional Attributes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294150"/>
            <a:ext cx="8520600" cy="11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9900FF"/>
                </a:solidFill>
              </a:rPr>
              <a:t>INSERT INTO</a:t>
            </a:r>
            <a:r>
              <a:rPr lang="en-GB" sz="2400"/>
              <a:t> </a:t>
            </a:r>
            <a:r>
              <a:rPr i="1" lang="en-GB"/>
              <a:t>PRODUCT</a:t>
            </a:r>
            <a:r>
              <a:rPr lang="en-GB" sz="2400">
                <a:solidFill>
                  <a:srgbClr val="9900FF"/>
                </a:solidFill>
              </a:rPr>
              <a:t>(</a:t>
            </a:r>
            <a:r>
              <a:rPr i="1" lang="en-GB"/>
              <a:t> P_CODE</a:t>
            </a:r>
            <a:r>
              <a:rPr i="1" lang="en-GB" sz="2400">
                <a:solidFill>
                  <a:srgbClr val="9900FF"/>
                </a:solidFill>
              </a:rPr>
              <a:t>,</a:t>
            </a:r>
            <a:r>
              <a:rPr i="1" lang="en-GB"/>
              <a:t> P_DESCRIPT</a:t>
            </a:r>
            <a:r>
              <a:rPr lang="en-GB" sz="2400">
                <a:solidFill>
                  <a:srgbClr val="9900FF"/>
                </a:solidFill>
              </a:rPr>
              <a:t>)</a:t>
            </a:r>
            <a:r>
              <a:rPr i="1" lang="en-GB"/>
              <a:t> </a:t>
            </a:r>
            <a:r>
              <a:rPr lang="en-GB" sz="2400">
                <a:solidFill>
                  <a:srgbClr val="9900FF"/>
                </a:solidFill>
              </a:rPr>
              <a:t>VALUES </a:t>
            </a:r>
            <a:endParaRPr sz="2400">
              <a:solidFill>
                <a:srgbClr val="9900FF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9900FF"/>
                </a:solidFill>
              </a:rPr>
              <a:t>(</a:t>
            </a:r>
            <a:r>
              <a:rPr i="1" lang="en-GB"/>
              <a:t>'BRT-345', 'Titanium drill bit'</a:t>
            </a:r>
            <a:r>
              <a:rPr lang="en-GB" sz="2400">
                <a:solidFill>
                  <a:srgbClr val="9900FF"/>
                </a:solidFill>
              </a:rPr>
              <a:t>)</a:t>
            </a:r>
            <a:r>
              <a:rPr i="1" lang="en-GB" sz="2400">
                <a:solidFill>
                  <a:srgbClr val="9900FF"/>
                </a:solidFill>
              </a:rPr>
              <a:t>;</a:t>
            </a:r>
            <a:endParaRPr sz="2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1" name="Google Shape;91;p18"/>
          <p:cNvSpPr txBox="1"/>
          <p:nvPr/>
        </p:nvSpPr>
        <p:spPr>
          <a:xfrm>
            <a:off x="5256125" y="3429625"/>
            <a:ext cx="38838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Specify </a:t>
            </a:r>
            <a:r>
              <a:rPr b="1" lang="en-GB">
                <a:highlight>
                  <a:srgbClr val="FFFF00"/>
                </a:highlight>
              </a:rPr>
              <a:t>mandatory attributes</a:t>
            </a:r>
            <a:endParaRPr b="1">
              <a:highlight>
                <a:srgbClr val="FF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You can leave out </a:t>
            </a:r>
            <a:r>
              <a:rPr b="1" lang="en-GB">
                <a:highlight>
                  <a:srgbClr val="00FFFF"/>
                </a:highlight>
              </a:rPr>
              <a:t>optional attributes</a:t>
            </a:r>
            <a:endParaRPr b="1">
              <a:highlight>
                <a:srgbClr val="00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8171925" y="4554650"/>
            <a:ext cx="6603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18"/>
          <p:cNvCxnSpPr>
            <a:stCxn id="91" idx="0"/>
          </p:cNvCxnSpPr>
          <p:nvPr/>
        </p:nvCxnSpPr>
        <p:spPr>
          <a:xfrm rot="10800000">
            <a:off x="5769125" y="1889725"/>
            <a:ext cx="1428900" cy="1539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Updating Data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223500"/>
            <a:ext cx="8520600" cy="2393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9900FF"/>
                </a:solidFill>
              </a:rPr>
              <a:t>UPDATE</a:t>
            </a:r>
            <a:r>
              <a:rPr lang="en-GB" sz="2400"/>
              <a:t> </a:t>
            </a:r>
            <a:r>
              <a:rPr i="1" lang="en-GB"/>
              <a:t>tablename 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9900FF"/>
                </a:solidFill>
              </a:rPr>
              <a:t>SET </a:t>
            </a:r>
            <a:r>
              <a:rPr i="1" lang="en-GB"/>
              <a:t>columnname </a:t>
            </a:r>
            <a:r>
              <a:rPr lang="en-GB" sz="2400">
                <a:solidFill>
                  <a:srgbClr val="9900FF"/>
                </a:solidFill>
              </a:rPr>
              <a:t>=</a:t>
            </a:r>
            <a:r>
              <a:rPr i="1" lang="en-GB"/>
              <a:t> expression </a:t>
            </a:r>
            <a:r>
              <a:rPr lang="en-GB" sz="2400">
                <a:solidFill>
                  <a:srgbClr val="9900FF"/>
                </a:solidFill>
              </a:rPr>
              <a:t>[, </a:t>
            </a:r>
            <a:r>
              <a:rPr i="1" lang="en-GB"/>
              <a:t>columnname </a:t>
            </a:r>
            <a:r>
              <a:rPr lang="en-GB" sz="2400">
                <a:solidFill>
                  <a:srgbClr val="9900FF"/>
                </a:solidFill>
              </a:rPr>
              <a:t>=</a:t>
            </a:r>
            <a:r>
              <a:rPr i="1" lang="en-GB"/>
              <a:t> expression </a:t>
            </a:r>
            <a:r>
              <a:rPr lang="en-GB" sz="2400">
                <a:solidFill>
                  <a:srgbClr val="9900FF"/>
                </a:solidFill>
              </a:rPr>
              <a:t>]</a:t>
            </a:r>
            <a:endParaRPr sz="24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2400">
                <a:solidFill>
                  <a:srgbClr val="9900FF"/>
                </a:solidFill>
              </a:rPr>
              <a:t>[ WHERE</a:t>
            </a:r>
            <a:r>
              <a:rPr i="1" lang="en-GB" sz="2400">
                <a:solidFill>
                  <a:srgbClr val="9900FF"/>
                </a:solidFill>
              </a:rPr>
              <a:t> </a:t>
            </a:r>
            <a:r>
              <a:rPr i="1" lang="en-GB"/>
              <a:t>conditionlist </a:t>
            </a:r>
            <a:r>
              <a:rPr lang="en-GB" sz="2400">
                <a:solidFill>
                  <a:srgbClr val="9900FF"/>
                </a:solidFill>
              </a:rPr>
              <a:t>]</a:t>
            </a:r>
            <a:r>
              <a:rPr i="1" lang="en-GB" sz="2400">
                <a:solidFill>
                  <a:srgbClr val="9900FF"/>
                </a:solidFill>
              </a:rPr>
              <a:t>;</a:t>
            </a:r>
            <a:endParaRPr sz="24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Deleting Data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223500"/>
            <a:ext cx="8520600" cy="1341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9900FF"/>
                </a:solidFill>
              </a:rPr>
              <a:t>DELETE FROM</a:t>
            </a:r>
            <a:r>
              <a:rPr lang="en-GB" sz="2400"/>
              <a:t> </a:t>
            </a:r>
            <a:r>
              <a:rPr i="1" lang="en-GB"/>
              <a:t>tablename </a:t>
            </a:r>
            <a:endParaRPr sz="24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2400">
                <a:solidFill>
                  <a:srgbClr val="9900FF"/>
                </a:solidFill>
              </a:rPr>
              <a:t>[ WHERE</a:t>
            </a:r>
            <a:r>
              <a:rPr i="1" lang="en-GB" sz="2400">
                <a:solidFill>
                  <a:srgbClr val="9900FF"/>
                </a:solidFill>
              </a:rPr>
              <a:t> </a:t>
            </a:r>
            <a:r>
              <a:rPr i="1" lang="en-GB"/>
              <a:t>conditionlist </a:t>
            </a:r>
            <a:r>
              <a:rPr lang="en-GB" sz="2400">
                <a:solidFill>
                  <a:srgbClr val="9900FF"/>
                </a:solidFill>
              </a:rPr>
              <a:t>]</a:t>
            </a:r>
            <a:r>
              <a:rPr i="1" lang="en-GB" sz="2400">
                <a:solidFill>
                  <a:srgbClr val="9900FF"/>
                </a:solidFill>
              </a:rPr>
              <a:t>;</a:t>
            </a:r>
            <a:endParaRPr sz="2400">
              <a:solidFill>
                <a:srgbClr val="9900FF"/>
              </a:solidFill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1727025" y="3491575"/>
            <a:ext cx="546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NOTE: </a:t>
            </a:r>
            <a:r>
              <a:rPr lang="en-GB"/>
              <a:t>If WHERE is not specified → all rows will be deleted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20"/>
          <p:cNvCxnSpPr/>
          <p:nvPr/>
        </p:nvCxnSpPr>
        <p:spPr>
          <a:xfrm>
            <a:off x="1852150" y="2427825"/>
            <a:ext cx="400500" cy="100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Basics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490250" y="450150"/>
            <a:ext cx="8092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highlight>
                  <a:srgbClr val="FFFF00"/>
                </a:highlight>
              </a:rPr>
              <a:t>The whole point</a:t>
            </a:r>
            <a:r>
              <a:rPr lang="en-GB" sz="2400"/>
              <a:t> of storing &amp; organizing data is to be able </a:t>
            </a:r>
            <a:r>
              <a:rPr b="1" lang="en-GB" sz="2400">
                <a:highlight>
                  <a:srgbClr val="00FFFF"/>
                </a:highlight>
              </a:rPr>
              <a:t>to produce the information we need</a:t>
            </a:r>
            <a:r>
              <a:rPr lang="en-GB" sz="2400"/>
              <a:t>.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Information Need &amp; SQL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3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We usually express an information need with a </a:t>
            </a:r>
            <a:r>
              <a:rPr b="1" lang="en-GB">
                <a:highlight>
                  <a:srgbClr val="FFFF00"/>
                </a:highlight>
              </a:rPr>
              <a:t>question:</a:t>
            </a:r>
            <a:endParaRPr b="1">
              <a:highlight>
                <a:srgbClr val="FFFF00"/>
              </a:highlight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How many customers do we have?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How much revenue did we make last month?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Which cities do we sell to the most?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Can I get a list of all our vendors sorted by the number of products we source from them? </a:t>
            </a:r>
            <a:endParaRPr sz="1400"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…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In SQL terms, we call such questions, a </a:t>
            </a:r>
            <a:r>
              <a:rPr b="1" lang="en-GB">
                <a:highlight>
                  <a:srgbClr val="00FFFF"/>
                </a:highlight>
              </a:rPr>
              <a:t>query</a:t>
            </a:r>
            <a:r>
              <a:rPr lang="en-GB"/>
              <a:t>. i.e to answer these questions we </a:t>
            </a:r>
            <a:r>
              <a:rPr b="1" lang="en-GB">
                <a:highlight>
                  <a:srgbClr val="00FF00"/>
                </a:highlight>
              </a:rPr>
              <a:t>write &amp; run a query.</a:t>
            </a:r>
            <a:endParaRPr b="1"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490250" y="450150"/>
            <a:ext cx="8092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How do we </a:t>
            </a:r>
            <a:r>
              <a:rPr b="1" lang="en-GB" sz="2400">
                <a:highlight>
                  <a:srgbClr val="FFFF00"/>
                </a:highlight>
              </a:rPr>
              <a:t>translate</a:t>
            </a:r>
            <a:r>
              <a:rPr lang="en-GB" sz="2400"/>
              <a:t> our questions 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highlight>
                  <a:srgbClr val="FFFF00"/>
                </a:highlight>
              </a:rPr>
              <a:t>into SQL</a:t>
            </a:r>
            <a:r>
              <a:rPr lang="en-GB" sz="2400"/>
              <a:t> queries</a:t>
            </a:r>
            <a:endParaRPr sz="2400"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9224" y="2511849"/>
            <a:ext cx="396825" cy="39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you will learn … 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446750"/>
            <a:ext cx="8520600" cy="22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 the end of this class you will be able to: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-"/>
            </a:pPr>
            <a:r>
              <a:rPr b="1" lang="en-GB" sz="1400">
                <a:highlight>
                  <a:srgbClr val="FFFF00"/>
                </a:highlight>
              </a:rPr>
              <a:t>Retrieve</a:t>
            </a:r>
            <a:r>
              <a:rPr lang="en-GB" sz="1400"/>
              <a:t> specific columns of data from a database table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GB" sz="1400">
                <a:highlight>
                  <a:srgbClr val="B6D7A8"/>
                </a:highlight>
              </a:rPr>
              <a:t>Join</a:t>
            </a:r>
            <a:r>
              <a:rPr lang="en-GB" sz="1400"/>
              <a:t> multiple tables in a single SQL query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GB" sz="1400">
                <a:highlight>
                  <a:srgbClr val="FFD966"/>
                </a:highlight>
              </a:rPr>
              <a:t>Restrict</a:t>
            </a:r>
            <a:r>
              <a:rPr lang="en-GB" sz="1400"/>
              <a:t> data retrievals to rows that match complex criteria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highlight>
                <a:srgbClr val="FF9900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Most Basic SQL Query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994975"/>
            <a:ext cx="8520600" cy="8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600"/>
              <a:t>SELECT * FROM </a:t>
            </a:r>
            <a:r>
              <a:rPr i="1" lang="en-GB" sz="3600"/>
              <a:t>table;</a:t>
            </a:r>
            <a:endParaRPr i="1" sz="3600"/>
          </a:p>
        </p:txBody>
      </p:sp>
      <p:sp>
        <p:nvSpPr>
          <p:cNvPr id="142" name="Google Shape;142;p26"/>
          <p:cNvSpPr/>
          <p:nvPr/>
        </p:nvSpPr>
        <p:spPr>
          <a:xfrm>
            <a:off x="8171925" y="4554650"/>
            <a:ext cx="6603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6"/>
          <p:cNvSpPr txBox="1"/>
          <p:nvPr/>
        </p:nvSpPr>
        <p:spPr>
          <a:xfrm>
            <a:off x="5825500" y="3429625"/>
            <a:ext cx="306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SQL queries </a:t>
            </a:r>
            <a:r>
              <a:rPr b="1" lang="en-GB" sz="1800">
                <a:highlight>
                  <a:srgbClr val="FFFF00"/>
                </a:highlight>
              </a:rPr>
              <a:t>end with a `;`</a:t>
            </a:r>
            <a:endParaRPr b="1" sz="1800">
              <a:highlight>
                <a:srgbClr val="FFFF00"/>
              </a:highlight>
            </a:endParaRPr>
          </a:p>
        </p:txBody>
      </p:sp>
      <p:cxnSp>
        <p:nvCxnSpPr>
          <p:cNvPr id="144" name="Google Shape;144;p26"/>
          <p:cNvCxnSpPr/>
          <p:nvPr/>
        </p:nvCxnSpPr>
        <p:spPr>
          <a:xfrm rot="10800000">
            <a:off x="7047550" y="2515050"/>
            <a:ext cx="994500" cy="72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6"/>
          <p:cNvSpPr txBox="1"/>
          <p:nvPr/>
        </p:nvSpPr>
        <p:spPr>
          <a:xfrm>
            <a:off x="2761900" y="4140050"/>
            <a:ext cx="306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Two </a:t>
            </a:r>
            <a:r>
              <a:rPr b="1" lang="en-GB" sz="1800">
                <a:highlight>
                  <a:srgbClr val="FFFF00"/>
                </a:highlight>
              </a:rPr>
              <a:t>SQL clauses</a:t>
            </a:r>
            <a:r>
              <a:rPr lang="en-GB" sz="1800"/>
              <a:t>.</a:t>
            </a:r>
            <a:endParaRPr b="1" sz="1800">
              <a:highlight>
                <a:srgbClr val="FFFF00"/>
              </a:highlight>
            </a:endParaRPr>
          </a:p>
        </p:txBody>
      </p:sp>
      <p:sp>
        <p:nvSpPr>
          <p:cNvPr id="146" name="Google Shape;146;p26"/>
          <p:cNvSpPr/>
          <p:nvPr/>
        </p:nvSpPr>
        <p:spPr>
          <a:xfrm rot="-5400000">
            <a:off x="3173675" y="1785150"/>
            <a:ext cx="74700" cy="21879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/>
          <p:nvPr/>
        </p:nvSpPr>
        <p:spPr>
          <a:xfrm rot="-5400000">
            <a:off x="5535750" y="1717350"/>
            <a:ext cx="78300" cy="23199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" name="Google Shape;148;p26"/>
          <p:cNvCxnSpPr>
            <a:stCxn id="145" idx="0"/>
            <a:endCxn id="146" idx="1"/>
          </p:cNvCxnSpPr>
          <p:nvPr/>
        </p:nvCxnSpPr>
        <p:spPr>
          <a:xfrm rot="10800000">
            <a:off x="3211000" y="2916350"/>
            <a:ext cx="1082700" cy="1223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6"/>
          <p:cNvCxnSpPr>
            <a:stCxn id="145" idx="0"/>
            <a:endCxn id="147" idx="1"/>
          </p:cNvCxnSpPr>
          <p:nvPr/>
        </p:nvCxnSpPr>
        <p:spPr>
          <a:xfrm flipH="1" rot="10800000">
            <a:off x="4293700" y="2916350"/>
            <a:ext cx="1281300" cy="1223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31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Database Model</a:t>
            </a:r>
            <a:endParaRPr/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137" y="890100"/>
            <a:ext cx="6595725" cy="384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Most Basic SQL Query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1994975"/>
            <a:ext cx="8520600" cy="8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600"/>
              <a:t>SELECT * FROM </a:t>
            </a:r>
            <a:r>
              <a:rPr i="1" lang="en-GB" sz="3600"/>
              <a:t>table;</a:t>
            </a:r>
            <a:endParaRPr i="1" sz="3600"/>
          </a:p>
        </p:txBody>
      </p:sp>
      <p:sp>
        <p:nvSpPr>
          <p:cNvPr id="162" name="Google Shape;162;p28"/>
          <p:cNvSpPr/>
          <p:nvPr/>
        </p:nvSpPr>
        <p:spPr>
          <a:xfrm>
            <a:off x="8171925" y="4554650"/>
            <a:ext cx="6603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8"/>
          <p:cNvSpPr txBox="1"/>
          <p:nvPr/>
        </p:nvSpPr>
        <p:spPr>
          <a:xfrm>
            <a:off x="1605150" y="3387000"/>
            <a:ext cx="5933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Returns </a:t>
            </a:r>
            <a:r>
              <a:rPr b="1" lang="en-GB" sz="1800">
                <a:highlight>
                  <a:srgbClr val="FFFF00"/>
                </a:highlight>
              </a:rPr>
              <a:t>all data</a:t>
            </a:r>
            <a:r>
              <a:rPr lang="en-GB" sz="1800"/>
              <a:t> -- your </a:t>
            </a:r>
            <a:r>
              <a:rPr b="1" lang="en-GB" sz="1800">
                <a:highlight>
                  <a:srgbClr val="00FFFF"/>
                </a:highlight>
              </a:rPr>
              <a:t>entire table</a:t>
            </a:r>
            <a:r>
              <a:rPr lang="en-GB" sz="1800"/>
              <a:t>.</a:t>
            </a:r>
            <a:endParaRPr b="1" sz="18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263" y="879925"/>
            <a:ext cx="7575475" cy="37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/>
        </p:nvSpPr>
        <p:spPr>
          <a:xfrm>
            <a:off x="1084800" y="263950"/>
            <a:ext cx="69744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	</a:t>
            </a:r>
            <a:r>
              <a:rPr b="1" lang="en-GB" sz="2400">
                <a:solidFill>
                  <a:srgbClr val="9900FF"/>
                </a:solidFill>
              </a:rPr>
              <a:t>SELECT</a:t>
            </a:r>
            <a:r>
              <a:rPr lang="en-GB" sz="2400"/>
              <a:t> * </a:t>
            </a:r>
            <a:r>
              <a:rPr b="1" lang="en-GB" sz="2400">
                <a:solidFill>
                  <a:srgbClr val="9900FF"/>
                </a:solidFill>
              </a:rPr>
              <a:t>FROM</a:t>
            </a:r>
            <a:r>
              <a:rPr lang="en-GB" sz="2400"/>
              <a:t> </a:t>
            </a:r>
            <a:r>
              <a:rPr i="1" lang="en-GB" sz="2400"/>
              <a:t>PRODUCT</a:t>
            </a:r>
            <a:r>
              <a:rPr b="1" lang="en-GB" sz="2400"/>
              <a:t>;</a:t>
            </a:r>
            <a:r>
              <a:rPr lang="en-GB" sz="2400"/>
              <a:t> </a:t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Clause</a:t>
            </a:r>
            <a:endParaRPr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1152475"/>
            <a:ext cx="8520600" cy="18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But sometimes you don’t want an entire table: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Maybe you just want to list products’ </a:t>
            </a:r>
            <a:r>
              <a:rPr b="1" lang="en-GB"/>
              <a:t>descriptions</a:t>
            </a:r>
            <a:r>
              <a:rPr lang="en-GB"/>
              <a:t> along with </a:t>
            </a:r>
            <a:r>
              <a:rPr b="1" lang="en-GB"/>
              <a:t>prices</a:t>
            </a:r>
            <a:r>
              <a:rPr lang="en-GB"/>
              <a:t> and the </a:t>
            </a:r>
            <a:r>
              <a:rPr b="1" lang="en-GB"/>
              <a:t>quantity</a:t>
            </a:r>
            <a:r>
              <a:rPr lang="en-GB"/>
              <a:t> remaining in your inventory. You also want to see product </a:t>
            </a:r>
            <a:r>
              <a:rPr b="1" lang="en-GB"/>
              <a:t>codes</a:t>
            </a:r>
            <a:r>
              <a:rPr lang="en-GB"/>
              <a:t> for reference.</a:t>
            </a:r>
            <a:endParaRPr/>
          </a:p>
          <a:p>
            <a:pPr indent="457200" lvl="0" marL="18288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3600"/>
              <a:t>SELECT </a:t>
            </a:r>
            <a:r>
              <a:rPr i="1" lang="en-GB" sz="3600"/>
              <a:t>columnlist</a:t>
            </a:r>
            <a:r>
              <a:rPr lang="en-GB" sz="3600"/>
              <a:t> </a:t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000000"/>
                </a:solidFill>
              </a:rPr>
              <a:t>Specifies the </a:t>
            </a:r>
            <a:r>
              <a:rPr b="1" lang="en-GB" sz="2400">
                <a:solidFill>
                  <a:srgbClr val="000000"/>
                </a:solidFill>
                <a:highlight>
                  <a:srgbClr val="FFFF00"/>
                </a:highlight>
              </a:rPr>
              <a:t>attributes to be returned</a:t>
            </a:r>
            <a:endParaRPr b="1" sz="240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000"/>
          </a:p>
        </p:txBody>
      </p:sp>
      <p:sp>
        <p:nvSpPr>
          <p:cNvPr id="176" name="Google Shape;176;p30"/>
          <p:cNvSpPr/>
          <p:nvPr/>
        </p:nvSpPr>
        <p:spPr>
          <a:xfrm rot="-5400000">
            <a:off x="5490375" y="2489025"/>
            <a:ext cx="292800" cy="21036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0"/>
          <p:cNvSpPr/>
          <p:nvPr/>
        </p:nvSpPr>
        <p:spPr>
          <a:xfrm>
            <a:off x="8171925" y="4554650"/>
            <a:ext cx="6603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/>
        </p:nvSpPr>
        <p:spPr>
          <a:xfrm>
            <a:off x="440475" y="263950"/>
            <a:ext cx="76188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9900FF"/>
                </a:solidFill>
              </a:rPr>
              <a:t>SELECT</a:t>
            </a:r>
            <a:r>
              <a:rPr lang="en-GB" sz="2400"/>
              <a:t> </a:t>
            </a:r>
            <a:r>
              <a:rPr i="1" lang="en-GB" sz="1800"/>
              <a:t>P_CODE</a:t>
            </a:r>
            <a:r>
              <a:rPr lang="en-GB" sz="1800"/>
              <a:t>, </a:t>
            </a:r>
            <a:r>
              <a:rPr i="1" lang="en-GB" sz="1800"/>
              <a:t>P_DECRIPT</a:t>
            </a:r>
            <a:r>
              <a:rPr lang="en-GB" sz="1800"/>
              <a:t>, </a:t>
            </a:r>
            <a:r>
              <a:rPr i="1" lang="en-GB" sz="1800"/>
              <a:t>P_PRICE</a:t>
            </a:r>
            <a:r>
              <a:rPr lang="en-GB" sz="1800"/>
              <a:t>, </a:t>
            </a:r>
            <a:r>
              <a:rPr i="1" lang="en-GB" sz="1800"/>
              <a:t>P_QOH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9900FF"/>
                </a:solidFill>
              </a:rPr>
              <a:t>FROM</a:t>
            </a:r>
            <a:r>
              <a:rPr lang="en-GB" sz="2400"/>
              <a:t> </a:t>
            </a:r>
            <a:r>
              <a:rPr i="1" lang="en-GB" sz="1800"/>
              <a:t>PRODUCT </a:t>
            </a:r>
            <a:r>
              <a:rPr b="1" lang="en-GB" sz="2400">
                <a:solidFill>
                  <a:srgbClr val="9900FF"/>
                </a:solidFill>
              </a:rPr>
              <a:t>;</a:t>
            </a:r>
            <a:r>
              <a:rPr lang="en-GB" sz="2400"/>
              <a:t> </a:t>
            </a:r>
            <a:endParaRPr sz="2400"/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1638" y="1020250"/>
            <a:ext cx="5915420" cy="381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 txBox="1"/>
          <p:nvPr/>
        </p:nvSpPr>
        <p:spPr>
          <a:xfrm>
            <a:off x="440475" y="1921025"/>
            <a:ext cx="2331300" cy="20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Notice that </a:t>
            </a:r>
            <a:r>
              <a:rPr b="1" lang="en-GB">
                <a:highlight>
                  <a:srgbClr val="FFFF00"/>
                </a:highlight>
              </a:rPr>
              <a:t>only requested columns</a:t>
            </a:r>
            <a:r>
              <a:rPr lang="en-GB"/>
              <a:t> are returned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columns are returned </a:t>
            </a:r>
            <a:r>
              <a:rPr b="1" lang="en-GB">
                <a:highlight>
                  <a:srgbClr val="00FFFF"/>
                </a:highlight>
              </a:rPr>
              <a:t>in the same order as they were listed</a:t>
            </a:r>
            <a:r>
              <a:rPr lang="en-GB"/>
              <a:t> in the query.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BY</a:t>
            </a:r>
            <a:r>
              <a:rPr lang="en-GB"/>
              <a:t> Clause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152475"/>
            <a:ext cx="85206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if you wanted to </a:t>
            </a:r>
            <a:r>
              <a:rPr b="1" lang="en-GB">
                <a:highlight>
                  <a:srgbClr val="FFFF00"/>
                </a:highlight>
              </a:rPr>
              <a:t>sort</a:t>
            </a:r>
            <a:r>
              <a:rPr lang="en-GB"/>
              <a:t> your products </a:t>
            </a:r>
            <a:r>
              <a:rPr b="1" lang="en-GB">
                <a:highlight>
                  <a:srgbClr val="00FFFF"/>
                </a:highlight>
              </a:rPr>
              <a:t>by</a:t>
            </a:r>
            <a:r>
              <a:rPr lang="en-GB"/>
              <a:t> their price?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Question: </a:t>
            </a:r>
            <a:r>
              <a:rPr lang="en-GB"/>
              <a:t>Can I get a listing of all our products and their quantities? Can you please sort the list by price? 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** </a:t>
            </a:r>
            <a:r>
              <a:rPr lang="en-GB"/>
              <a:t>notice that this question is </a:t>
            </a:r>
            <a:r>
              <a:rPr b="1" lang="en-GB">
                <a:highlight>
                  <a:srgbClr val="B6D7A8"/>
                </a:highlight>
              </a:rPr>
              <a:t>not 100% precise but good enough</a:t>
            </a:r>
            <a:r>
              <a:rPr lang="en-GB"/>
              <a:t>. You as DB designers and SQL programmers need to use your best judgments to clarify questions.**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3600"/>
              <a:t>ORDER BY</a:t>
            </a:r>
            <a:r>
              <a:rPr lang="en-GB" sz="3600"/>
              <a:t> </a:t>
            </a:r>
            <a:r>
              <a:rPr i="1" lang="en-GB" sz="3600"/>
              <a:t>columnlist  </a:t>
            </a:r>
            <a:r>
              <a:rPr lang="en-GB" sz="3600"/>
              <a:t>[ASC|DESC] </a:t>
            </a:r>
            <a:endParaRPr sz="36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91" name="Google Shape;191;p32"/>
          <p:cNvSpPr/>
          <p:nvPr/>
        </p:nvSpPr>
        <p:spPr>
          <a:xfrm>
            <a:off x="8171925" y="4554650"/>
            <a:ext cx="6603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32"/>
          <p:cNvCxnSpPr/>
          <p:nvPr/>
        </p:nvCxnSpPr>
        <p:spPr>
          <a:xfrm>
            <a:off x="5826975" y="4273875"/>
            <a:ext cx="8667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32"/>
          <p:cNvSpPr txBox="1"/>
          <p:nvPr/>
        </p:nvSpPr>
        <p:spPr>
          <a:xfrm>
            <a:off x="5826975" y="4330425"/>
            <a:ext cx="866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</a:rPr>
              <a:t>Default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/>
        </p:nvSpPr>
        <p:spPr>
          <a:xfrm>
            <a:off x="440475" y="263950"/>
            <a:ext cx="76188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9900FF"/>
                </a:solidFill>
              </a:rPr>
              <a:t>SELECT</a:t>
            </a:r>
            <a:r>
              <a:rPr lang="en-GB" sz="2400"/>
              <a:t> </a:t>
            </a:r>
            <a:r>
              <a:rPr i="1" lang="en-GB" sz="1800"/>
              <a:t>P_CODE</a:t>
            </a:r>
            <a:r>
              <a:rPr lang="en-GB" sz="1800"/>
              <a:t>, </a:t>
            </a:r>
            <a:r>
              <a:rPr i="1" lang="en-GB" sz="1800"/>
              <a:t>P_DECRIPT</a:t>
            </a:r>
            <a:r>
              <a:rPr lang="en-GB" sz="1800"/>
              <a:t>, </a:t>
            </a:r>
            <a:r>
              <a:rPr i="1" lang="en-GB" sz="1800"/>
              <a:t>P_PRICE</a:t>
            </a:r>
            <a:r>
              <a:rPr lang="en-GB" sz="1800"/>
              <a:t>, </a:t>
            </a:r>
            <a:r>
              <a:rPr i="1" lang="en-GB" sz="1800"/>
              <a:t>P_QOH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9900FF"/>
                </a:solidFill>
              </a:rPr>
              <a:t>FROM</a:t>
            </a:r>
            <a:r>
              <a:rPr lang="en-GB" sz="2400"/>
              <a:t> </a:t>
            </a:r>
            <a:r>
              <a:rPr i="1" lang="en-GB" sz="1800"/>
              <a:t>PRODUCT 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9900FF"/>
                </a:solidFill>
              </a:rPr>
              <a:t>ORDER BY </a:t>
            </a:r>
            <a:r>
              <a:rPr i="1" lang="en-GB" sz="1800">
                <a:solidFill>
                  <a:schemeClr val="dk1"/>
                </a:solidFill>
              </a:rPr>
              <a:t>P_PRICE </a:t>
            </a:r>
            <a:r>
              <a:rPr b="1" lang="en-GB" sz="2400">
                <a:solidFill>
                  <a:srgbClr val="9900FF"/>
                </a:solidFill>
              </a:rPr>
              <a:t>;</a:t>
            </a:r>
            <a:r>
              <a:rPr lang="en-GB" sz="2400"/>
              <a:t> </a:t>
            </a:r>
            <a:endParaRPr sz="2400"/>
          </a:p>
        </p:txBody>
      </p:sp>
      <p:pic>
        <p:nvPicPr>
          <p:cNvPr id="199" name="Google Shape;19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4175" y="1584700"/>
            <a:ext cx="6067425" cy="2814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3"/>
          <p:cNvSpPr txBox="1"/>
          <p:nvPr/>
        </p:nvSpPr>
        <p:spPr>
          <a:xfrm>
            <a:off x="440475" y="1921025"/>
            <a:ext cx="2331300" cy="28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highlight>
                  <a:srgbClr val="FFFF00"/>
                </a:highlight>
              </a:rPr>
              <a:t>By default</a:t>
            </a:r>
            <a:r>
              <a:rPr lang="en-GB"/>
              <a:t> sorts from lowest to highest value -- i.e. in </a:t>
            </a:r>
            <a:r>
              <a:rPr b="1" lang="en-GB">
                <a:highlight>
                  <a:srgbClr val="00FFFF"/>
                </a:highlight>
              </a:rPr>
              <a:t>ASC</a:t>
            </a:r>
            <a:r>
              <a:rPr lang="en-GB"/>
              <a:t>ending order.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sort so the highest price is first, choose </a:t>
            </a:r>
            <a:r>
              <a:rPr b="1" lang="en-GB">
                <a:highlight>
                  <a:srgbClr val="00FFFF"/>
                </a:highlight>
              </a:rPr>
              <a:t>DESC</a:t>
            </a:r>
            <a:r>
              <a:rPr lang="en-GB"/>
              <a:t> option at the end: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900FF"/>
                </a:solidFill>
              </a:rPr>
              <a:t>SELECT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i="1" lang="en-GB">
                <a:solidFill>
                  <a:schemeClr val="dk1"/>
                </a:solidFill>
              </a:rPr>
              <a:t>…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900FF"/>
                </a:solidFill>
              </a:rPr>
              <a:t>FROM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i="1" lang="en-GB">
                <a:solidFill>
                  <a:schemeClr val="dk1"/>
                </a:solidFill>
              </a:rPr>
              <a:t>PRODUCT 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9900FF"/>
                </a:solidFill>
              </a:rPr>
              <a:t>ORDER BY </a:t>
            </a:r>
            <a:r>
              <a:rPr i="1" lang="en-GB" sz="1200">
                <a:solidFill>
                  <a:schemeClr val="dk1"/>
                </a:solidFill>
              </a:rPr>
              <a:t>P_PRICE </a:t>
            </a:r>
            <a:r>
              <a:rPr b="1" lang="en-GB" sz="1200">
                <a:solidFill>
                  <a:srgbClr val="9900FF"/>
                </a:solidFill>
              </a:rPr>
              <a:t>DESC;</a:t>
            </a:r>
            <a:r>
              <a:rPr lang="en-GB" sz="1200">
                <a:solidFill>
                  <a:schemeClr val="dk1"/>
                </a:solidFill>
              </a:rPr>
              <a:t> </a:t>
            </a:r>
            <a:endParaRPr sz="1200"/>
          </a:p>
        </p:txBody>
      </p:sp>
      <p:cxnSp>
        <p:nvCxnSpPr>
          <p:cNvPr id="201" name="Google Shape;201;p33"/>
          <p:cNvCxnSpPr/>
          <p:nvPr/>
        </p:nvCxnSpPr>
        <p:spPr>
          <a:xfrm>
            <a:off x="2486500" y="2159700"/>
            <a:ext cx="1221900" cy="14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33"/>
          <p:cNvCxnSpPr/>
          <p:nvPr/>
        </p:nvCxnSpPr>
        <p:spPr>
          <a:xfrm>
            <a:off x="1861325" y="3537925"/>
            <a:ext cx="397800" cy="46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far ...</a:t>
            </a:r>
            <a:endParaRPr/>
          </a:p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311700" y="1152475"/>
            <a:ext cx="8520600" cy="3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We have learned some very </a:t>
            </a:r>
            <a:r>
              <a:rPr b="1" lang="en-GB">
                <a:highlight>
                  <a:srgbClr val="FFFF00"/>
                </a:highlight>
              </a:rPr>
              <a:t>basic</a:t>
            </a:r>
            <a:r>
              <a:rPr lang="en-GB"/>
              <a:t> --and very </a:t>
            </a:r>
            <a:r>
              <a:rPr b="1" lang="en-GB">
                <a:highlight>
                  <a:srgbClr val="00FFFF"/>
                </a:highlight>
              </a:rPr>
              <a:t>useful</a:t>
            </a:r>
            <a:r>
              <a:rPr b="1" lang="en-GB"/>
              <a:t>--</a:t>
            </a:r>
            <a:r>
              <a:rPr lang="en-GB"/>
              <a:t> SQL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Each query is composed of two or more clause.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We have seen the following </a:t>
            </a:r>
            <a:r>
              <a:rPr b="1" lang="en-GB">
                <a:highlight>
                  <a:srgbClr val="B6D7A8"/>
                </a:highlight>
              </a:rPr>
              <a:t>clauses</a:t>
            </a:r>
            <a:r>
              <a:rPr lang="en-GB"/>
              <a:t> at 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400"/>
              <a:buChar char="-"/>
            </a:pPr>
            <a:r>
              <a:rPr b="1" lang="en-GB">
                <a:solidFill>
                  <a:srgbClr val="9900FF"/>
                </a:solidFill>
              </a:rPr>
              <a:t>SELECT</a:t>
            </a:r>
            <a:endParaRPr b="1">
              <a:solidFill>
                <a:srgbClr val="99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400"/>
              <a:buChar char="-"/>
            </a:pPr>
            <a:r>
              <a:rPr b="1" lang="en-GB">
                <a:solidFill>
                  <a:srgbClr val="9900FF"/>
                </a:solidFill>
              </a:rPr>
              <a:t>FROM</a:t>
            </a:r>
            <a:endParaRPr b="1">
              <a:solidFill>
                <a:srgbClr val="99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400"/>
              <a:buChar char="-"/>
            </a:pPr>
            <a:r>
              <a:rPr b="1" lang="en-GB">
                <a:solidFill>
                  <a:srgbClr val="9900FF"/>
                </a:solidFill>
              </a:rPr>
              <a:t>ORDER BY</a:t>
            </a:r>
            <a:endParaRPr b="1">
              <a:solidFill>
                <a:srgbClr val="99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We have </a:t>
            </a:r>
            <a:r>
              <a:rPr lang="en-GB"/>
              <a:t>briefly</a:t>
            </a:r>
            <a:r>
              <a:rPr lang="en-GB"/>
              <a:t> looked at specifying </a:t>
            </a:r>
            <a:r>
              <a:rPr b="1" i="1" lang="en-GB">
                <a:highlight>
                  <a:srgbClr val="FFE599"/>
                </a:highlight>
              </a:rPr>
              <a:t>columnlists</a:t>
            </a:r>
            <a:r>
              <a:rPr lang="en-GB"/>
              <a:t> in SELECT clause.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Each query ends with a </a:t>
            </a:r>
            <a:r>
              <a:rPr b="1" lang="en-GB">
                <a:solidFill>
                  <a:srgbClr val="9900FF"/>
                </a:solidFill>
              </a:rPr>
              <a:t>;</a:t>
            </a:r>
            <a:endParaRPr b="1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WHERE Clause</a:t>
            </a:r>
            <a:endParaRPr/>
          </a:p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311700" y="678650"/>
            <a:ext cx="8520600" cy="22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3600"/>
              <a:t>WHERE </a:t>
            </a:r>
            <a:r>
              <a:rPr i="1" lang="en-GB" sz="3600"/>
              <a:t>conditionlist</a:t>
            </a:r>
            <a:r>
              <a:rPr lang="en-GB" sz="3600"/>
              <a:t> </a:t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One or more </a:t>
            </a:r>
            <a:r>
              <a:rPr b="1" lang="en-GB">
                <a:solidFill>
                  <a:schemeClr val="dk1"/>
                </a:solidFill>
                <a:highlight>
                  <a:srgbClr val="FFFF00"/>
                </a:highlight>
              </a:rPr>
              <a:t>expressions</a:t>
            </a:r>
            <a:r>
              <a:rPr lang="en-GB">
                <a:solidFill>
                  <a:schemeClr val="dk1"/>
                </a:solidFill>
              </a:rPr>
              <a:t> separated by </a:t>
            </a:r>
            <a:r>
              <a:rPr b="1" lang="en-GB">
                <a:solidFill>
                  <a:schemeClr val="dk1"/>
                </a:solidFill>
                <a:highlight>
                  <a:srgbClr val="00FFFF"/>
                </a:highlight>
              </a:rPr>
              <a:t>logical operators</a:t>
            </a:r>
            <a:endParaRPr b="1">
              <a:highlight>
                <a:srgbClr val="00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5"/>
          <p:cNvSpPr/>
          <p:nvPr/>
        </p:nvSpPr>
        <p:spPr>
          <a:xfrm rot="-5400000">
            <a:off x="5307775" y="1037575"/>
            <a:ext cx="287400" cy="24429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5"/>
          <p:cNvSpPr txBox="1"/>
          <p:nvPr/>
        </p:nvSpPr>
        <p:spPr>
          <a:xfrm>
            <a:off x="454675" y="3028300"/>
            <a:ext cx="5044200" cy="13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Each expression checks for the value of a specific attribute using </a:t>
            </a:r>
            <a:r>
              <a:rPr b="1" lang="en-GB"/>
              <a:t>Comparison Operators</a:t>
            </a:r>
            <a:r>
              <a:rPr lang="en-GB"/>
              <a:t> (﹦, &lt;&gt;, !=, &lt;=, ...) or </a:t>
            </a:r>
            <a:r>
              <a:rPr b="1" lang="en-GB"/>
              <a:t>Special Operators</a:t>
            </a:r>
            <a:r>
              <a:rPr lang="en-GB"/>
              <a:t> (BETWEEN, IN, LIKE, IS NULL, NOT)</a:t>
            </a:r>
            <a:endParaRPr/>
          </a:p>
        </p:txBody>
      </p:sp>
      <p:cxnSp>
        <p:nvCxnSpPr>
          <p:cNvPr id="217" name="Google Shape;217;p35"/>
          <p:cNvCxnSpPr/>
          <p:nvPr/>
        </p:nvCxnSpPr>
        <p:spPr>
          <a:xfrm>
            <a:off x="3651600" y="2759725"/>
            <a:ext cx="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35"/>
          <p:cNvSpPr txBox="1"/>
          <p:nvPr/>
        </p:nvSpPr>
        <p:spPr>
          <a:xfrm>
            <a:off x="5764800" y="2971450"/>
            <a:ext cx="2788800" cy="14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Usually you want to search by multiple conditions. So you use AND, OR and NOT </a:t>
            </a:r>
            <a:r>
              <a:rPr b="1" lang="en-GB"/>
              <a:t>to combine conditions.</a:t>
            </a:r>
            <a:endParaRPr b="1"/>
          </a:p>
        </p:txBody>
      </p:sp>
      <p:cxnSp>
        <p:nvCxnSpPr>
          <p:cNvPr id="219" name="Google Shape;219;p35"/>
          <p:cNvCxnSpPr/>
          <p:nvPr/>
        </p:nvCxnSpPr>
        <p:spPr>
          <a:xfrm>
            <a:off x="6672925" y="2759725"/>
            <a:ext cx="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/>
        </p:nvSpPr>
        <p:spPr>
          <a:xfrm>
            <a:off x="440475" y="263950"/>
            <a:ext cx="7618800" cy="11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SELECT</a:t>
            </a:r>
            <a:r>
              <a:rPr lang="en-GB" sz="2400"/>
              <a:t> </a:t>
            </a:r>
            <a:r>
              <a:rPr i="1" lang="en-GB"/>
              <a:t>P_DECRIPT</a:t>
            </a:r>
            <a:r>
              <a:rPr lang="en-GB"/>
              <a:t>, </a:t>
            </a:r>
            <a:r>
              <a:rPr i="1" lang="en-GB">
                <a:solidFill>
                  <a:schemeClr val="dk1"/>
                </a:solidFill>
              </a:rPr>
              <a:t>P_QOH, </a:t>
            </a:r>
            <a:r>
              <a:rPr i="1" lang="en-GB"/>
              <a:t>P_PRICE</a:t>
            </a:r>
            <a:r>
              <a:rPr lang="en-GB"/>
              <a:t>, </a:t>
            </a:r>
            <a:r>
              <a:rPr i="1" lang="en-GB"/>
              <a:t>V_CODE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FROM</a:t>
            </a:r>
            <a:r>
              <a:rPr lang="en-GB" sz="2400"/>
              <a:t> </a:t>
            </a:r>
            <a:r>
              <a:rPr i="1" lang="en-GB"/>
              <a:t>PRODUCT</a:t>
            </a:r>
            <a:r>
              <a:rPr i="1" lang="en-GB" sz="1800"/>
              <a:t>  </a:t>
            </a:r>
            <a:endParaRPr b="1" sz="18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WHERE </a:t>
            </a:r>
            <a:r>
              <a:rPr i="1" lang="en-GB">
                <a:solidFill>
                  <a:schemeClr val="dk1"/>
                </a:solidFill>
              </a:rPr>
              <a:t> V_CODE </a:t>
            </a:r>
            <a:r>
              <a:rPr b="1" i="1" lang="en-GB" sz="1800">
                <a:solidFill>
                  <a:srgbClr val="9900FF"/>
                </a:solidFill>
              </a:rPr>
              <a:t>=</a:t>
            </a:r>
            <a:r>
              <a:rPr i="1" lang="en-GB">
                <a:solidFill>
                  <a:schemeClr val="dk1"/>
                </a:solidFill>
              </a:rPr>
              <a:t> 21344</a:t>
            </a:r>
            <a:r>
              <a:rPr b="1" lang="en-GB" sz="1800">
                <a:solidFill>
                  <a:srgbClr val="9900FF"/>
                </a:solidFill>
              </a:rPr>
              <a:t>;</a:t>
            </a:r>
            <a:endParaRPr sz="1800"/>
          </a:p>
        </p:txBody>
      </p:sp>
      <p:pic>
        <p:nvPicPr>
          <p:cNvPr id="225" name="Google Shape;22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64650"/>
            <a:ext cx="8839201" cy="217527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6"/>
          <p:cNvSpPr txBox="1"/>
          <p:nvPr>
            <p:ph type="title"/>
          </p:nvPr>
        </p:nvSpPr>
        <p:spPr>
          <a:xfrm>
            <a:off x="6428750" y="263950"/>
            <a:ext cx="210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227" name="Google Shape;227;p36"/>
          <p:cNvSpPr txBox="1"/>
          <p:nvPr/>
        </p:nvSpPr>
        <p:spPr>
          <a:xfrm>
            <a:off x="3537925" y="1562950"/>
            <a:ext cx="13641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Equal To</a:t>
            </a:r>
            <a:endParaRPr b="1"/>
          </a:p>
        </p:txBody>
      </p:sp>
      <p:cxnSp>
        <p:nvCxnSpPr>
          <p:cNvPr id="228" name="Google Shape;228;p36"/>
          <p:cNvCxnSpPr>
            <a:endCxn id="227" idx="1"/>
          </p:cNvCxnSpPr>
          <p:nvPr/>
        </p:nvCxnSpPr>
        <p:spPr>
          <a:xfrm>
            <a:off x="2344525" y="1392400"/>
            <a:ext cx="1193400" cy="341100"/>
          </a:xfrm>
          <a:prstGeom prst="bentConnector3">
            <a:avLst>
              <a:gd fmla="val 1181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/>
        </p:nvSpPr>
        <p:spPr>
          <a:xfrm>
            <a:off x="440475" y="263950"/>
            <a:ext cx="7618800" cy="11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SELECT</a:t>
            </a:r>
            <a:r>
              <a:rPr lang="en-GB" sz="2400"/>
              <a:t> </a:t>
            </a:r>
            <a:r>
              <a:rPr i="1" lang="en-GB"/>
              <a:t>P_DECRIPT</a:t>
            </a:r>
            <a:r>
              <a:rPr lang="en-GB"/>
              <a:t>, </a:t>
            </a:r>
            <a:r>
              <a:rPr i="1" lang="en-GB">
                <a:solidFill>
                  <a:schemeClr val="dk1"/>
                </a:solidFill>
              </a:rPr>
              <a:t>P_QOH, </a:t>
            </a:r>
            <a:r>
              <a:rPr i="1" lang="en-GB"/>
              <a:t>P_PRICE</a:t>
            </a:r>
            <a:r>
              <a:rPr lang="en-GB"/>
              <a:t>, </a:t>
            </a:r>
            <a:r>
              <a:rPr i="1" lang="en-GB"/>
              <a:t>V_CODE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FROM</a:t>
            </a:r>
            <a:r>
              <a:rPr lang="en-GB" sz="2400"/>
              <a:t> </a:t>
            </a:r>
            <a:r>
              <a:rPr i="1" lang="en-GB"/>
              <a:t>PRODUCT</a:t>
            </a:r>
            <a:r>
              <a:rPr i="1" lang="en-GB" sz="1800"/>
              <a:t>  </a:t>
            </a:r>
            <a:endParaRPr b="1" sz="18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WHERE </a:t>
            </a:r>
            <a:r>
              <a:rPr i="1" lang="en-GB">
                <a:solidFill>
                  <a:schemeClr val="dk1"/>
                </a:solidFill>
              </a:rPr>
              <a:t> V_CODE </a:t>
            </a:r>
            <a:r>
              <a:rPr b="1" i="1" lang="en-GB" sz="1800">
                <a:solidFill>
                  <a:srgbClr val="9900FF"/>
                </a:solidFill>
              </a:rPr>
              <a:t>!=</a:t>
            </a:r>
            <a:r>
              <a:rPr i="1" lang="en-GB">
                <a:solidFill>
                  <a:schemeClr val="dk1"/>
                </a:solidFill>
              </a:rPr>
              <a:t> 21344</a:t>
            </a:r>
            <a:r>
              <a:rPr b="1" lang="en-GB" sz="1800">
                <a:solidFill>
                  <a:srgbClr val="9900FF"/>
                </a:solidFill>
              </a:rPr>
              <a:t>;</a:t>
            </a:r>
            <a:endParaRPr sz="1800"/>
          </a:p>
        </p:txBody>
      </p:sp>
      <p:sp>
        <p:nvSpPr>
          <p:cNvPr id="234" name="Google Shape;234;p37"/>
          <p:cNvSpPr txBox="1"/>
          <p:nvPr>
            <p:ph type="title"/>
          </p:nvPr>
        </p:nvSpPr>
        <p:spPr>
          <a:xfrm>
            <a:off x="6428750" y="263950"/>
            <a:ext cx="210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235" name="Google Shape;235;p37"/>
          <p:cNvSpPr txBox="1"/>
          <p:nvPr/>
        </p:nvSpPr>
        <p:spPr>
          <a:xfrm>
            <a:off x="3537925" y="1562950"/>
            <a:ext cx="13641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Not Equal To</a:t>
            </a:r>
            <a:endParaRPr b="1"/>
          </a:p>
        </p:txBody>
      </p:sp>
      <p:cxnSp>
        <p:nvCxnSpPr>
          <p:cNvPr id="236" name="Google Shape;236;p37"/>
          <p:cNvCxnSpPr>
            <a:endCxn id="235" idx="1"/>
          </p:cNvCxnSpPr>
          <p:nvPr/>
        </p:nvCxnSpPr>
        <p:spPr>
          <a:xfrm>
            <a:off x="2344525" y="1392400"/>
            <a:ext cx="1193400" cy="341100"/>
          </a:xfrm>
          <a:prstGeom prst="bentConnector3">
            <a:avLst>
              <a:gd fmla="val 1181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237" name="Google Shape;2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549" y="2003650"/>
            <a:ext cx="6607849" cy="26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/>
        </p:nvSpPr>
        <p:spPr>
          <a:xfrm>
            <a:off x="440475" y="263950"/>
            <a:ext cx="7618800" cy="11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SELECT</a:t>
            </a:r>
            <a:r>
              <a:rPr lang="en-GB" sz="2400"/>
              <a:t> </a:t>
            </a:r>
            <a:r>
              <a:rPr i="1" lang="en-GB"/>
              <a:t>P_DECRIPT</a:t>
            </a:r>
            <a:r>
              <a:rPr lang="en-GB"/>
              <a:t>, </a:t>
            </a:r>
            <a:r>
              <a:rPr i="1" lang="en-GB">
                <a:solidFill>
                  <a:schemeClr val="dk1"/>
                </a:solidFill>
              </a:rPr>
              <a:t>P_QOH, </a:t>
            </a:r>
            <a:r>
              <a:rPr i="1" lang="en-GB"/>
              <a:t>P_MIN</a:t>
            </a:r>
            <a:r>
              <a:rPr lang="en-GB"/>
              <a:t>, </a:t>
            </a:r>
            <a:r>
              <a:rPr i="1" lang="en-GB"/>
              <a:t>P_PRICE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FROM</a:t>
            </a:r>
            <a:r>
              <a:rPr lang="en-GB" sz="2400"/>
              <a:t> </a:t>
            </a:r>
            <a:r>
              <a:rPr i="1" lang="en-GB"/>
              <a:t>PRODUCT</a:t>
            </a:r>
            <a:r>
              <a:rPr i="1" lang="en-GB" sz="1800"/>
              <a:t>  </a:t>
            </a:r>
            <a:endParaRPr b="1" sz="18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WHERE </a:t>
            </a:r>
            <a:r>
              <a:rPr i="1" lang="en-GB">
                <a:solidFill>
                  <a:schemeClr val="dk1"/>
                </a:solidFill>
              </a:rPr>
              <a:t> P_PRICE </a:t>
            </a:r>
            <a:r>
              <a:rPr b="1" i="1" lang="en-GB" sz="1800">
                <a:solidFill>
                  <a:srgbClr val="9900FF"/>
                </a:solidFill>
              </a:rPr>
              <a:t>&lt;=</a:t>
            </a:r>
            <a:r>
              <a:rPr i="1" lang="en-GB">
                <a:solidFill>
                  <a:schemeClr val="dk1"/>
                </a:solidFill>
              </a:rPr>
              <a:t> 10</a:t>
            </a:r>
            <a:r>
              <a:rPr b="1" lang="en-GB" sz="1800">
                <a:solidFill>
                  <a:srgbClr val="9900FF"/>
                </a:solidFill>
              </a:rPr>
              <a:t>;</a:t>
            </a:r>
            <a:endParaRPr sz="1800"/>
          </a:p>
        </p:txBody>
      </p:sp>
      <p:sp>
        <p:nvSpPr>
          <p:cNvPr id="243" name="Google Shape;243;p38"/>
          <p:cNvSpPr txBox="1"/>
          <p:nvPr>
            <p:ph type="title"/>
          </p:nvPr>
        </p:nvSpPr>
        <p:spPr>
          <a:xfrm>
            <a:off x="6428750" y="263950"/>
            <a:ext cx="210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244" name="Google Shape;244;p38"/>
          <p:cNvSpPr txBox="1"/>
          <p:nvPr/>
        </p:nvSpPr>
        <p:spPr>
          <a:xfrm>
            <a:off x="3537925" y="1562950"/>
            <a:ext cx="21024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Less than or equal To</a:t>
            </a:r>
            <a:endParaRPr b="1"/>
          </a:p>
        </p:txBody>
      </p:sp>
      <p:cxnSp>
        <p:nvCxnSpPr>
          <p:cNvPr id="245" name="Google Shape;245;p38"/>
          <p:cNvCxnSpPr>
            <a:endCxn id="244" idx="1"/>
          </p:cNvCxnSpPr>
          <p:nvPr/>
        </p:nvCxnSpPr>
        <p:spPr>
          <a:xfrm>
            <a:off x="2344525" y="1392400"/>
            <a:ext cx="1193400" cy="341100"/>
          </a:xfrm>
          <a:prstGeom prst="bentConnector3">
            <a:avLst>
              <a:gd fmla="val -2390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246" name="Google Shape;24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56450"/>
            <a:ext cx="8839201" cy="260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/>
        </p:nvSpPr>
        <p:spPr>
          <a:xfrm>
            <a:off x="440475" y="263950"/>
            <a:ext cx="7618800" cy="11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SELECT</a:t>
            </a:r>
            <a:r>
              <a:rPr lang="en-GB" sz="2400"/>
              <a:t> </a:t>
            </a:r>
            <a:r>
              <a:rPr i="1" lang="en-GB">
                <a:solidFill>
                  <a:schemeClr val="dk1"/>
                </a:solidFill>
              </a:rPr>
              <a:t>P_CODE,  </a:t>
            </a:r>
            <a:r>
              <a:rPr i="1" lang="en-GB"/>
              <a:t>P_DECRIPT</a:t>
            </a:r>
            <a:r>
              <a:rPr lang="en-GB"/>
              <a:t>, </a:t>
            </a:r>
            <a:r>
              <a:rPr i="1" lang="en-GB">
                <a:solidFill>
                  <a:schemeClr val="dk1"/>
                </a:solidFill>
              </a:rPr>
              <a:t>P_QOH, </a:t>
            </a:r>
            <a:r>
              <a:rPr i="1" lang="en-GB"/>
              <a:t>P_MIN</a:t>
            </a:r>
            <a:r>
              <a:rPr lang="en-GB"/>
              <a:t>, </a:t>
            </a:r>
            <a:r>
              <a:rPr i="1" lang="en-GB"/>
              <a:t>P_PRICE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FROM</a:t>
            </a:r>
            <a:r>
              <a:rPr lang="en-GB" sz="2400"/>
              <a:t> </a:t>
            </a:r>
            <a:r>
              <a:rPr i="1" lang="en-GB"/>
              <a:t>PRODUCT</a:t>
            </a:r>
            <a:r>
              <a:rPr i="1" lang="en-GB" sz="1800"/>
              <a:t>  </a:t>
            </a:r>
            <a:endParaRPr b="1" sz="18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WHERE </a:t>
            </a:r>
            <a:r>
              <a:rPr i="1" lang="en-GB">
                <a:solidFill>
                  <a:schemeClr val="dk1"/>
                </a:solidFill>
              </a:rPr>
              <a:t> P_CODE </a:t>
            </a:r>
            <a:r>
              <a:rPr b="1" i="1" lang="en-GB" sz="1800">
                <a:solidFill>
                  <a:srgbClr val="9900FF"/>
                </a:solidFill>
              </a:rPr>
              <a:t>&lt;</a:t>
            </a:r>
            <a:r>
              <a:rPr i="1" lang="en-GB">
                <a:solidFill>
                  <a:schemeClr val="dk1"/>
                </a:solidFill>
              </a:rPr>
              <a:t> ‘1558-QW1’</a:t>
            </a:r>
            <a:r>
              <a:rPr b="1" lang="en-GB" sz="1800">
                <a:solidFill>
                  <a:srgbClr val="9900FF"/>
                </a:solidFill>
              </a:rPr>
              <a:t>;</a:t>
            </a:r>
            <a:endParaRPr sz="1800"/>
          </a:p>
        </p:txBody>
      </p:sp>
      <p:sp>
        <p:nvSpPr>
          <p:cNvPr id="252" name="Google Shape;252;p39"/>
          <p:cNvSpPr txBox="1"/>
          <p:nvPr>
            <p:ph type="title"/>
          </p:nvPr>
        </p:nvSpPr>
        <p:spPr>
          <a:xfrm>
            <a:off x="6428750" y="263950"/>
            <a:ext cx="210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253" name="Google Shape;253;p39"/>
          <p:cNvSpPr txBox="1"/>
          <p:nvPr/>
        </p:nvSpPr>
        <p:spPr>
          <a:xfrm>
            <a:off x="3537925" y="1562950"/>
            <a:ext cx="49932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also compare </a:t>
            </a:r>
            <a:r>
              <a:rPr b="1" lang="en-GB"/>
              <a:t>character attributes</a:t>
            </a:r>
            <a:r>
              <a:rPr lang="en-GB"/>
              <a:t> with Comparison Operators. (Because characters are identified with </a:t>
            </a:r>
            <a:r>
              <a:rPr b="1" lang="en-GB"/>
              <a:t>ASCII codes which are numerical</a:t>
            </a:r>
            <a:r>
              <a:rPr lang="en-GB"/>
              <a:t>)</a:t>
            </a:r>
            <a:endParaRPr/>
          </a:p>
        </p:txBody>
      </p:sp>
      <p:pic>
        <p:nvPicPr>
          <p:cNvPr id="254" name="Google Shape;25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13650"/>
            <a:ext cx="8839201" cy="18213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p39"/>
          <p:cNvCxnSpPr/>
          <p:nvPr/>
        </p:nvCxnSpPr>
        <p:spPr>
          <a:xfrm rot="10800000">
            <a:off x="2500825" y="1406500"/>
            <a:ext cx="1037100" cy="417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/>
        </p:nvSpPr>
        <p:spPr>
          <a:xfrm>
            <a:off x="440475" y="263950"/>
            <a:ext cx="7618800" cy="1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SELECT</a:t>
            </a:r>
            <a:r>
              <a:rPr lang="en-GB" sz="2400"/>
              <a:t> </a:t>
            </a:r>
            <a:r>
              <a:rPr i="1" lang="en-GB"/>
              <a:t>P_DECRIPT</a:t>
            </a:r>
            <a:r>
              <a:rPr lang="en-GB"/>
              <a:t>, </a:t>
            </a:r>
            <a:r>
              <a:rPr i="1" lang="en-GB">
                <a:solidFill>
                  <a:schemeClr val="dk1"/>
                </a:solidFill>
              </a:rPr>
              <a:t>P_QOH, </a:t>
            </a:r>
            <a:r>
              <a:rPr i="1" lang="en-GB"/>
              <a:t>P_MIN</a:t>
            </a:r>
            <a:r>
              <a:rPr lang="en-GB"/>
              <a:t>, </a:t>
            </a:r>
            <a:r>
              <a:rPr i="1" lang="en-GB"/>
              <a:t>P_PRICE, P_INDATE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FROM</a:t>
            </a:r>
            <a:r>
              <a:rPr lang="en-GB" sz="2400"/>
              <a:t> </a:t>
            </a:r>
            <a:r>
              <a:rPr i="1" lang="en-GB"/>
              <a:t>PRODUCT</a:t>
            </a:r>
            <a:r>
              <a:rPr i="1" lang="en-GB" sz="1800"/>
              <a:t>  </a:t>
            </a:r>
            <a:endParaRPr b="1" sz="18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WHERE </a:t>
            </a:r>
            <a:r>
              <a:rPr i="1" lang="en-GB">
                <a:solidFill>
                  <a:schemeClr val="dk1"/>
                </a:solidFill>
              </a:rPr>
              <a:t> P_INDATE </a:t>
            </a:r>
            <a:r>
              <a:rPr b="1" i="1" lang="en-GB" sz="1800">
                <a:solidFill>
                  <a:srgbClr val="9900FF"/>
                </a:solidFill>
              </a:rPr>
              <a:t>&gt;=</a:t>
            </a:r>
            <a:r>
              <a:rPr i="1" lang="en-GB">
                <a:solidFill>
                  <a:schemeClr val="dk1"/>
                </a:solidFill>
              </a:rPr>
              <a:t> ‘20-Jan-2018’ (MS ACCESS Syntax)/</a:t>
            </a:r>
            <a:endParaRPr i="1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1"/>
                </a:solidFill>
              </a:rPr>
              <a:t> P_INDATE </a:t>
            </a:r>
            <a:r>
              <a:rPr b="1" i="1" lang="en-GB" sz="1800">
                <a:solidFill>
                  <a:srgbClr val="9900FF"/>
                </a:solidFill>
              </a:rPr>
              <a:t>&gt;=</a:t>
            </a:r>
            <a:r>
              <a:rPr i="1" lang="en-GB">
                <a:solidFill>
                  <a:schemeClr val="dk1"/>
                </a:solidFill>
              </a:rPr>
              <a:t> ‘2018-01-20’ (MySQL Syntax) </a:t>
            </a:r>
            <a:r>
              <a:rPr b="1" lang="en-GB" sz="1800">
                <a:solidFill>
                  <a:srgbClr val="9900FF"/>
                </a:solidFill>
              </a:rPr>
              <a:t>;</a:t>
            </a:r>
            <a:endParaRPr sz="1800"/>
          </a:p>
        </p:txBody>
      </p:sp>
      <p:sp>
        <p:nvSpPr>
          <p:cNvPr id="261" name="Google Shape;261;p40"/>
          <p:cNvSpPr txBox="1"/>
          <p:nvPr>
            <p:ph type="title"/>
          </p:nvPr>
        </p:nvSpPr>
        <p:spPr>
          <a:xfrm>
            <a:off x="6428750" y="263950"/>
            <a:ext cx="210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262" name="Google Shape;262;p40"/>
          <p:cNvSpPr txBox="1"/>
          <p:nvPr/>
        </p:nvSpPr>
        <p:spPr>
          <a:xfrm>
            <a:off x="3537925" y="1715350"/>
            <a:ext cx="53850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also compare </a:t>
            </a:r>
            <a:r>
              <a:rPr b="1" lang="en-GB"/>
              <a:t>Date attributes</a:t>
            </a:r>
            <a:r>
              <a:rPr lang="en-GB"/>
              <a:t> with Comparison Operators. (Because Dates are implemented as the </a:t>
            </a:r>
            <a:r>
              <a:rPr b="1" lang="en-GB"/>
              <a:t>number of days that have passed </a:t>
            </a:r>
            <a:r>
              <a:rPr lang="en-GB"/>
              <a:t>since a defined point of  time in history )</a:t>
            </a:r>
            <a:endParaRPr/>
          </a:p>
        </p:txBody>
      </p:sp>
      <p:cxnSp>
        <p:nvCxnSpPr>
          <p:cNvPr id="263" name="Google Shape;263;p40"/>
          <p:cNvCxnSpPr>
            <a:stCxn id="262" idx="1"/>
          </p:cNvCxnSpPr>
          <p:nvPr/>
        </p:nvCxnSpPr>
        <p:spPr>
          <a:xfrm rot="10800000">
            <a:off x="2642725" y="1719100"/>
            <a:ext cx="895200" cy="40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64" name="Google Shape;26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062" y="2577425"/>
            <a:ext cx="6485875" cy="21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/>
          <p:nvPr/>
        </p:nvSpPr>
        <p:spPr>
          <a:xfrm>
            <a:off x="440475" y="263950"/>
            <a:ext cx="7618800" cy="1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SELECT</a:t>
            </a:r>
            <a:r>
              <a:rPr lang="en-GB" sz="2400"/>
              <a:t> </a:t>
            </a:r>
            <a:r>
              <a:rPr i="1" lang="en-GB"/>
              <a:t>P_DECRIPT</a:t>
            </a:r>
            <a:r>
              <a:rPr lang="en-GB"/>
              <a:t>, </a:t>
            </a:r>
            <a:r>
              <a:rPr i="1" lang="en-GB">
                <a:solidFill>
                  <a:schemeClr val="dk1"/>
                </a:solidFill>
              </a:rPr>
              <a:t>P_QOH, </a:t>
            </a:r>
            <a:r>
              <a:rPr i="1" lang="en-GB"/>
              <a:t>P_MIN</a:t>
            </a:r>
            <a:r>
              <a:rPr lang="en-GB"/>
              <a:t>, </a:t>
            </a:r>
            <a:r>
              <a:rPr i="1" lang="en-GB"/>
              <a:t>P_PRICE, V_CODE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FROM</a:t>
            </a:r>
            <a:r>
              <a:rPr lang="en-GB" sz="2400"/>
              <a:t> </a:t>
            </a:r>
            <a:r>
              <a:rPr i="1" lang="en-GB"/>
              <a:t>PRODUCT</a:t>
            </a:r>
            <a:r>
              <a:rPr i="1" lang="en-GB" sz="1800"/>
              <a:t>  </a:t>
            </a:r>
            <a:endParaRPr b="1" sz="18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WHERE </a:t>
            </a:r>
            <a:r>
              <a:rPr i="1" lang="en-GB">
                <a:solidFill>
                  <a:schemeClr val="dk1"/>
                </a:solidFill>
              </a:rPr>
              <a:t> V_CODE </a:t>
            </a:r>
            <a:r>
              <a:rPr b="1" i="1" lang="en-GB" sz="1800">
                <a:solidFill>
                  <a:srgbClr val="9900FF"/>
                </a:solidFill>
              </a:rPr>
              <a:t>=</a:t>
            </a:r>
            <a:r>
              <a:rPr i="1" lang="en-GB">
                <a:solidFill>
                  <a:schemeClr val="dk1"/>
                </a:solidFill>
              </a:rPr>
              <a:t> 21344 </a:t>
            </a:r>
            <a:r>
              <a:rPr b="1" lang="en-GB" sz="1800">
                <a:solidFill>
                  <a:srgbClr val="9900FF"/>
                </a:solidFill>
              </a:rPr>
              <a:t>OR </a:t>
            </a:r>
            <a:r>
              <a:rPr i="1" lang="en-GB">
                <a:solidFill>
                  <a:schemeClr val="dk1"/>
                </a:solidFill>
              </a:rPr>
              <a:t>V_CODE </a:t>
            </a:r>
            <a:r>
              <a:rPr b="1" i="1" lang="en-GB" sz="1800">
                <a:solidFill>
                  <a:srgbClr val="9900FF"/>
                </a:solidFill>
              </a:rPr>
              <a:t>=</a:t>
            </a:r>
            <a:r>
              <a:rPr i="1" lang="en-GB">
                <a:solidFill>
                  <a:schemeClr val="dk1"/>
                </a:solidFill>
              </a:rPr>
              <a:t> 24288 </a:t>
            </a:r>
            <a:r>
              <a:rPr b="1" lang="en-GB" sz="1800">
                <a:solidFill>
                  <a:srgbClr val="9900FF"/>
                </a:solidFill>
              </a:rPr>
              <a:t>;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270" name="Google Shape;270;p41"/>
          <p:cNvSpPr txBox="1"/>
          <p:nvPr>
            <p:ph type="title"/>
          </p:nvPr>
        </p:nvSpPr>
        <p:spPr>
          <a:xfrm>
            <a:off x="6428750" y="263950"/>
            <a:ext cx="210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pic>
        <p:nvPicPr>
          <p:cNvPr id="271" name="Google Shape;27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463" y="1886375"/>
            <a:ext cx="8463076" cy="275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2"/>
          <p:cNvSpPr txBox="1"/>
          <p:nvPr/>
        </p:nvSpPr>
        <p:spPr>
          <a:xfrm>
            <a:off x="440475" y="263950"/>
            <a:ext cx="7618800" cy="16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SELECT</a:t>
            </a:r>
            <a:r>
              <a:rPr lang="en-GB" sz="2400"/>
              <a:t> </a:t>
            </a:r>
            <a:r>
              <a:rPr i="1" lang="en-GB"/>
              <a:t>P_DECRIPT</a:t>
            </a:r>
            <a:r>
              <a:rPr lang="en-GB"/>
              <a:t>, </a:t>
            </a:r>
            <a:r>
              <a:rPr i="1" lang="en-GB">
                <a:solidFill>
                  <a:schemeClr val="dk1"/>
                </a:solidFill>
              </a:rPr>
              <a:t>P_QOH, </a:t>
            </a:r>
            <a:r>
              <a:rPr i="1" lang="en-GB"/>
              <a:t>P_MIN</a:t>
            </a:r>
            <a:r>
              <a:rPr lang="en-GB"/>
              <a:t>, </a:t>
            </a:r>
            <a:r>
              <a:rPr i="1" lang="en-GB"/>
              <a:t>P_PRICE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FROM</a:t>
            </a:r>
            <a:r>
              <a:rPr lang="en-GB" sz="2400"/>
              <a:t> </a:t>
            </a:r>
            <a:r>
              <a:rPr i="1" lang="en-GB"/>
              <a:t>PRODUCT</a:t>
            </a:r>
            <a:r>
              <a:rPr i="1" lang="en-GB" sz="1800"/>
              <a:t>  </a:t>
            </a:r>
            <a:endParaRPr b="1" sz="18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WHERE </a:t>
            </a:r>
            <a:r>
              <a:rPr i="1" lang="en-GB">
                <a:solidFill>
                  <a:schemeClr val="dk1"/>
                </a:solidFill>
              </a:rPr>
              <a:t> P_PRICE </a:t>
            </a:r>
            <a:r>
              <a:rPr b="1" i="1" lang="en-GB" sz="1800">
                <a:solidFill>
                  <a:srgbClr val="9900FF"/>
                </a:solidFill>
              </a:rPr>
              <a:t>&gt;</a:t>
            </a:r>
            <a:r>
              <a:rPr i="1" lang="en-GB">
                <a:solidFill>
                  <a:schemeClr val="dk1"/>
                </a:solidFill>
              </a:rPr>
              <a:t> 100 </a:t>
            </a:r>
            <a:r>
              <a:rPr b="1" lang="en-GB" sz="1800">
                <a:solidFill>
                  <a:srgbClr val="9900FF"/>
                </a:solidFill>
              </a:rPr>
              <a:t>AND </a:t>
            </a:r>
            <a:r>
              <a:rPr i="1" lang="en-GB">
                <a:solidFill>
                  <a:schemeClr val="dk1"/>
                </a:solidFill>
              </a:rPr>
              <a:t>P_QOH </a:t>
            </a:r>
            <a:r>
              <a:rPr b="1" i="1" lang="en-GB" sz="1800">
                <a:solidFill>
                  <a:srgbClr val="9900FF"/>
                </a:solidFill>
              </a:rPr>
              <a:t>&lt;</a:t>
            </a:r>
            <a:r>
              <a:rPr i="1" lang="en-GB">
                <a:solidFill>
                  <a:schemeClr val="dk1"/>
                </a:solidFill>
              </a:rPr>
              <a:t> 20 </a:t>
            </a:r>
            <a:r>
              <a:rPr b="1" lang="en-GB" sz="1800">
                <a:solidFill>
                  <a:srgbClr val="9900FF"/>
                </a:solidFill>
              </a:rPr>
              <a:t>;</a:t>
            </a:r>
            <a:endParaRPr b="1" sz="1800">
              <a:solidFill>
                <a:srgbClr val="9900FF"/>
              </a:solidFill>
            </a:endParaRPr>
          </a:p>
        </p:txBody>
      </p:sp>
      <p:sp>
        <p:nvSpPr>
          <p:cNvPr id="277" name="Google Shape;277;p42"/>
          <p:cNvSpPr txBox="1"/>
          <p:nvPr>
            <p:ph type="title"/>
          </p:nvPr>
        </p:nvSpPr>
        <p:spPr>
          <a:xfrm>
            <a:off x="6428750" y="263950"/>
            <a:ext cx="210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pic>
        <p:nvPicPr>
          <p:cNvPr id="278" name="Google Shape;27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75550"/>
            <a:ext cx="8839201" cy="2261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</a:t>
            </a:r>
            <a:r>
              <a:rPr lang="en-GB"/>
              <a:t> </a:t>
            </a:r>
            <a:r>
              <a:rPr lang="en-GB"/>
              <a:t>Clause</a:t>
            </a:r>
            <a:endParaRPr/>
          </a:p>
        </p:txBody>
      </p:sp>
      <p:sp>
        <p:nvSpPr>
          <p:cNvPr id="284" name="Google Shape;284;p43"/>
          <p:cNvSpPr txBox="1"/>
          <p:nvPr>
            <p:ph idx="1" type="body"/>
          </p:nvPr>
        </p:nvSpPr>
        <p:spPr>
          <a:xfrm>
            <a:off x="311700" y="1152475"/>
            <a:ext cx="8520600" cy="3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Sometimes the data we need is stored in multiple tables: 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Questi</a:t>
            </a:r>
            <a:r>
              <a:rPr b="1" lang="en-GB"/>
              <a:t>on: </a:t>
            </a:r>
            <a:r>
              <a:rPr lang="en-GB"/>
              <a:t>Can I get a listing of all our </a:t>
            </a:r>
            <a:r>
              <a:rPr b="1" lang="en-GB"/>
              <a:t>products</a:t>
            </a:r>
            <a:r>
              <a:rPr lang="en-GB"/>
              <a:t> with prices and </a:t>
            </a:r>
            <a:r>
              <a:rPr b="1" lang="en-GB"/>
              <a:t>vendor info</a:t>
            </a:r>
            <a:r>
              <a:rPr lang="en-GB"/>
              <a:t>? 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3600"/>
              <a:t>FROM … ?</a:t>
            </a:r>
            <a:endParaRPr sz="3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To answer such questions, we need to </a:t>
            </a:r>
            <a:r>
              <a:rPr b="1" lang="en-GB">
                <a:highlight>
                  <a:srgbClr val="FFFF00"/>
                </a:highlight>
              </a:rPr>
              <a:t>bring pieces of data </a:t>
            </a:r>
            <a:r>
              <a:rPr b="1" lang="en-GB">
                <a:highlight>
                  <a:srgbClr val="FFFF00"/>
                </a:highlight>
              </a:rPr>
              <a:t>together </a:t>
            </a:r>
            <a:r>
              <a:rPr b="1" lang="en-GB">
                <a:highlight>
                  <a:srgbClr val="FFFF00"/>
                </a:highlight>
              </a:rPr>
              <a:t>from different tables.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We </a:t>
            </a:r>
            <a:r>
              <a:rPr lang="en-GB"/>
              <a:t>do this through </a:t>
            </a:r>
            <a:r>
              <a:rPr b="1" lang="en-GB">
                <a:highlight>
                  <a:srgbClr val="00FFFF"/>
                </a:highlight>
              </a:rPr>
              <a:t>joining tables</a:t>
            </a:r>
            <a:r>
              <a:rPr lang="en-GB"/>
              <a:t>.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-GB" sz="3600"/>
              <a:t> </a:t>
            </a:r>
            <a:endParaRPr sz="36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285" name="Google Shape;285;p43"/>
          <p:cNvSpPr/>
          <p:nvPr/>
        </p:nvSpPr>
        <p:spPr>
          <a:xfrm>
            <a:off x="8171925" y="4554650"/>
            <a:ext cx="6603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JOIN ON Syntax</a:t>
            </a:r>
            <a:endParaRPr/>
          </a:p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311700" y="1152475"/>
            <a:ext cx="8520600" cy="3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9900FF"/>
                </a:solidFill>
              </a:rPr>
              <a:t>SELECT</a:t>
            </a:r>
            <a:r>
              <a:rPr lang="en-GB" sz="3600"/>
              <a:t> </a:t>
            </a:r>
            <a:r>
              <a:rPr i="1" lang="en-GB" sz="3000"/>
              <a:t>column-list</a:t>
            </a:r>
            <a:r>
              <a:rPr i="1" lang="en-GB" sz="3600"/>
              <a:t> </a:t>
            </a:r>
            <a:endParaRPr i="1" sz="3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600">
                <a:solidFill>
                  <a:srgbClr val="9900FF"/>
                </a:solidFill>
              </a:rPr>
              <a:t>FROM</a:t>
            </a:r>
            <a:r>
              <a:rPr lang="en-GB" sz="3600"/>
              <a:t> </a:t>
            </a:r>
            <a:r>
              <a:rPr i="1" lang="en-GB" sz="3000"/>
              <a:t>table1</a:t>
            </a:r>
            <a:r>
              <a:rPr lang="en-GB" sz="3600"/>
              <a:t> </a:t>
            </a:r>
            <a:r>
              <a:rPr lang="en-GB" sz="3600">
                <a:solidFill>
                  <a:srgbClr val="9900FF"/>
                </a:solidFill>
              </a:rPr>
              <a:t>JOIN</a:t>
            </a:r>
            <a:r>
              <a:rPr lang="en-GB" sz="3600"/>
              <a:t> </a:t>
            </a:r>
            <a:r>
              <a:rPr i="1" lang="en-GB" sz="3000"/>
              <a:t>table2</a:t>
            </a:r>
            <a:r>
              <a:rPr lang="en-GB" sz="3600"/>
              <a:t> </a:t>
            </a:r>
            <a:r>
              <a:rPr lang="en-GB" sz="3600">
                <a:solidFill>
                  <a:srgbClr val="9900FF"/>
                </a:solidFill>
              </a:rPr>
              <a:t>ON</a:t>
            </a:r>
            <a:r>
              <a:rPr lang="en-GB" sz="3600"/>
              <a:t> </a:t>
            </a:r>
            <a:r>
              <a:rPr i="1" lang="en-GB" sz="3000"/>
              <a:t>join-condition</a:t>
            </a:r>
            <a:r>
              <a:rPr i="1" lang="en-GB" sz="3600">
                <a:solidFill>
                  <a:srgbClr val="9900FF"/>
                </a:solidFill>
              </a:rPr>
              <a:t>;</a:t>
            </a:r>
            <a:endParaRPr i="1" sz="3600">
              <a:solidFill>
                <a:srgbClr val="9900FF"/>
              </a:solidFill>
            </a:endParaRPr>
          </a:p>
        </p:txBody>
      </p:sp>
      <p:sp>
        <p:nvSpPr>
          <p:cNvPr id="292" name="Google Shape;292;p44"/>
          <p:cNvSpPr/>
          <p:nvPr/>
        </p:nvSpPr>
        <p:spPr>
          <a:xfrm>
            <a:off x="8171925" y="4554650"/>
            <a:ext cx="6603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4"/>
          <p:cNvSpPr/>
          <p:nvPr/>
        </p:nvSpPr>
        <p:spPr>
          <a:xfrm rot="-5400000">
            <a:off x="4922625" y="495800"/>
            <a:ext cx="397800" cy="6456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4"/>
          <p:cNvSpPr txBox="1"/>
          <p:nvPr/>
        </p:nvSpPr>
        <p:spPr>
          <a:xfrm>
            <a:off x="2571075" y="4029350"/>
            <a:ext cx="5499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Joining two tables </a:t>
            </a:r>
            <a:r>
              <a:rPr b="1" lang="en-GB" sz="2400">
                <a:highlight>
                  <a:srgbClr val="FFFF00"/>
                </a:highlight>
              </a:rPr>
              <a:t>results in a table</a:t>
            </a:r>
            <a:r>
              <a:rPr lang="en-GB" sz="2400"/>
              <a:t>. </a:t>
            </a:r>
            <a:endParaRPr sz="2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Attribute Names</a:t>
            </a:r>
            <a:endParaRPr/>
          </a:p>
        </p:txBody>
      </p:sp>
      <p:sp>
        <p:nvSpPr>
          <p:cNvPr id="300" name="Google Shape;300;p45"/>
          <p:cNvSpPr txBox="1"/>
          <p:nvPr>
            <p:ph idx="1" type="body"/>
          </p:nvPr>
        </p:nvSpPr>
        <p:spPr>
          <a:xfrm>
            <a:off x="311700" y="1152475"/>
            <a:ext cx="8520600" cy="28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JOIN ON syntax, results in a table that includes all columns from the two tables.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You need to use </a:t>
            </a:r>
            <a:r>
              <a:rPr b="1" lang="en-GB">
                <a:highlight>
                  <a:srgbClr val="FFFF00"/>
                </a:highlight>
              </a:rPr>
              <a:t>table qualifiers</a:t>
            </a:r>
            <a:r>
              <a:rPr lang="en-GB"/>
              <a:t> to refer to attributes with common names in your queries: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9900FF"/>
                </a:solidFill>
              </a:rPr>
              <a:t>SELECT</a:t>
            </a:r>
            <a:r>
              <a:rPr lang="en-GB" sz="2400">
                <a:solidFill>
                  <a:schemeClr val="dk1"/>
                </a:solidFill>
              </a:rPr>
              <a:t> </a:t>
            </a:r>
            <a:r>
              <a:rPr i="1" lang="en-GB" sz="1400">
                <a:solidFill>
                  <a:schemeClr val="dk1"/>
                </a:solidFill>
              </a:rPr>
              <a:t>P_DECRIPT</a:t>
            </a:r>
            <a:r>
              <a:rPr lang="en-GB" sz="1400">
                <a:solidFill>
                  <a:schemeClr val="dk1"/>
                </a:solidFill>
              </a:rPr>
              <a:t>, </a:t>
            </a:r>
            <a:r>
              <a:rPr i="1" lang="en-GB" sz="1400">
                <a:solidFill>
                  <a:schemeClr val="dk1"/>
                </a:solidFill>
              </a:rPr>
              <a:t>P_PRICE</a:t>
            </a:r>
            <a:r>
              <a:rPr lang="en-GB" sz="1400">
                <a:solidFill>
                  <a:schemeClr val="dk1"/>
                </a:solidFill>
              </a:rPr>
              <a:t>, </a:t>
            </a:r>
            <a:r>
              <a:rPr i="1" lang="en-GB" sz="1400">
                <a:solidFill>
                  <a:schemeClr val="dk1"/>
                </a:solidFill>
              </a:rPr>
              <a:t>V_NAME, V_CONTACT, V_AREACODE, V_PHONE</a:t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9900FF"/>
                </a:solidFill>
              </a:rPr>
              <a:t>FROM</a:t>
            </a:r>
            <a:r>
              <a:rPr lang="en-GB" sz="2400">
                <a:solidFill>
                  <a:schemeClr val="dk1"/>
                </a:solidFill>
              </a:rPr>
              <a:t> </a:t>
            </a:r>
            <a:r>
              <a:rPr i="1" lang="en-GB" sz="1400">
                <a:solidFill>
                  <a:schemeClr val="dk1"/>
                </a:solidFill>
              </a:rPr>
              <a:t>PRODUCT</a:t>
            </a:r>
            <a:r>
              <a:rPr i="1" lang="en-GB">
                <a:solidFill>
                  <a:schemeClr val="dk1"/>
                </a:solidFill>
              </a:rPr>
              <a:t>  </a:t>
            </a:r>
            <a:r>
              <a:rPr b="1" lang="en-GB">
                <a:solidFill>
                  <a:srgbClr val="9900FF"/>
                </a:solidFill>
              </a:rPr>
              <a:t>JOIN</a:t>
            </a:r>
            <a:r>
              <a:rPr b="1" lang="en-GB" sz="2400">
                <a:solidFill>
                  <a:srgbClr val="9900FF"/>
                </a:solidFill>
              </a:rPr>
              <a:t> </a:t>
            </a:r>
            <a:r>
              <a:rPr i="1" lang="en-GB" sz="1400">
                <a:solidFill>
                  <a:schemeClr val="dk1"/>
                </a:solidFill>
              </a:rPr>
              <a:t>VENDOR</a:t>
            </a:r>
            <a:r>
              <a:rPr i="1" lang="en-GB">
                <a:solidFill>
                  <a:schemeClr val="dk1"/>
                </a:solidFill>
              </a:rPr>
              <a:t> </a:t>
            </a:r>
            <a:r>
              <a:rPr b="1" lang="en-GB">
                <a:solidFill>
                  <a:srgbClr val="9900FF"/>
                </a:solidFill>
              </a:rPr>
              <a:t>ON</a:t>
            </a:r>
            <a:r>
              <a:rPr b="1" lang="en-GB" sz="2400">
                <a:solidFill>
                  <a:srgbClr val="9900FF"/>
                </a:solidFill>
              </a:rPr>
              <a:t> </a:t>
            </a:r>
            <a:r>
              <a:rPr b="1" i="1" lang="en-GB" sz="1400">
                <a:solidFill>
                  <a:schemeClr val="dk1"/>
                </a:solidFill>
              </a:rPr>
              <a:t>PRODUCT</a:t>
            </a:r>
            <a:r>
              <a:rPr i="1" lang="en-GB" sz="1400">
                <a:solidFill>
                  <a:schemeClr val="dk1"/>
                </a:solidFill>
              </a:rPr>
              <a:t>.V_CODE = </a:t>
            </a:r>
            <a:r>
              <a:rPr b="1" i="1" lang="en-GB" sz="1400">
                <a:solidFill>
                  <a:schemeClr val="dk1"/>
                </a:solidFill>
              </a:rPr>
              <a:t>VENDOR</a:t>
            </a:r>
            <a:r>
              <a:rPr i="1" lang="en-GB" sz="1400">
                <a:solidFill>
                  <a:schemeClr val="dk1"/>
                </a:solidFill>
              </a:rPr>
              <a:t>.V_CODE </a:t>
            </a:r>
            <a:r>
              <a:rPr b="1" lang="en-GB">
                <a:solidFill>
                  <a:srgbClr val="9900FF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01" name="Google Shape;301;p45"/>
          <p:cNvSpPr/>
          <p:nvPr/>
        </p:nvSpPr>
        <p:spPr>
          <a:xfrm>
            <a:off x="8171925" y="4554650"/>
            <a:ext cx="6603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5"/>
          <p:cNvSpPr txBox="1"/>
          <p:nvPr/>
        </p:nvSpPr>
        <p:spPr>
          <a:xfrm>
            <a:off x="5160800" y="3934450"/>
            <a:ext cx="1974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Table Qualifiers</a:t>
            </a:r>
            <a:endParaRPr sz="1800"/>
          </a:p>
        </p:txBody>
      </p:sp>
      <p:cxnSp>
        <p:nvCxnSpPr>
          <p:cNvPr id="303" name="Google Shape;303;p45"/>
          <p:cNvCxnSpPr/>
          <p:nvPr/>
        </p:nvCxnSpPr>
        <p:spPr>
          <a:xfrm rot="10800000">
            <a:off x="5047000" y="3508225"/>
            <a:ext cx="767400" cy="355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45"/>
          <p:cNvCxnSpPr/>
          <p:nvPr/>
        </p:nvCxnSpPr>
        <p:spPr>
          <a:xfrm flipH="1" rot="10800000">
            <a:off x="6126975" y="3536725"/>
            <a:ext cx="554100" cy="32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 txBox="1"/>
          <p:nvPr>
            <p:ph type="title"/>
          </p:nvPr>
        </p:nvSpPr>
        <p:spPr>
          <a:xfrm>
            <a:off x="6729825" y="445025"/>
            <a:ext cx="210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310" name="Google Shape;310;p46"/>
          <p:cNvSpPr txBox="1"/>
          <p:nvPr/>
        </p:nvSpPr>
        <p:spPr>
          <a:xfrm>
            <a:off x="6729825" y="1017725"/>
            <a:ext cx="2331300" cy="3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highlight>
                  <a:srgbClr val="FFFF00"/>
                </a:highlight>
              </a:rPr>
              <a:t>Question:</a:t>
            </a:r>
            <a:r>
              <a:rPr b="1" lang="en-GB"/>
              <a:t> </a:t>
            </a:r>
            <a:r>
              <a:rPr lang="en-GB">
                <a:solidFill>
                  <a:schemeClr val="dk2"/>
                </a:solidFill>
              </a:rPr>
              <a:t>Can I get a listing of all our </a:t>
            </a:r>
            <a:r>
              <a:rPr b="1" lang="en-GB">
                <a:solidFill>
                  <a:schemeClr val="dk2"/>
                </a:solidFill>
              </a:rPr>
              <a:t>products</a:t>
            </a:r>
            <a:r>
              <a:rPr lang="en-GB">
                <a:solidFill>
                  <a:schemeClr val="dk2"/>
                </a:solidFill>
              </a:rPr>
              <a:t> with prices and </a:t>
            </a:r>
            <a:r>
              <a:rPr b="1" lang="en-GB">
                <a:solidFill>
                  <a:schemeClr val="dk2"/>
                </a:solidFill>
              </a:rPr>
              <a:t>vendor</a:t>
            </a:r>
            <a:r>
              <a:rPr lang="en-GB">
                <a:solidFill>
                  <a:schemeClr val="dk2"/>
                </a:solidFill>
              </a:rPr>
              <a:t> </a:t>
            </a:r>
            <a:r>
              <a:rPr b="1" lang="en-GB">
                <a:solidFill>
                  <a:schemeClr val="dk2"/>
                </a:solidFill>
              </a:rPr>
              <a:t>info</a:t>
            </a:r>
            <a:r>
              <a:rPr lang="en-GB">
                <a:solidFill>
                  <a:schemeClr val="dk2"/>
                </a:solidFill>
              </a:rPr>
              <a:t>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join VENDOR and PRODUCT tables, we need to </a:t>
            </a:r>
            <a:r>
              <a:rPr b="1" lang="en-GB">
                <a:highlight>
                  <a:srgbClr val="00FFFF"/>
                </a:highlight>
              </a:rPr>
              <a:t>find a link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 you think would be an appropriate link between PRODUCT and VENDOR?</a:t>
            </a:r>
            <a:endParaRPr/>
          </a:p>
        </p:txBody>
      </p:sp>
      <p:sp>
        <p:nvSpPr>
          <p:cNvPr id="311" name="Google Shape;311;p46"/>
          <p:cNvSpPr/>
          <p:nvPr/>
        </p:nvSpPr>
        <p:spPr>
          <a:xfrm>
            <a:off x="8171925" y="4554650"/>
            <a:ext cx="6603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25" y="698825"/>
            <a:ext cx="6425024" cy="3745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 txBox="1"/>
          <p:nvPr/>
        </p:nvSpPr>
        <p:spPr>
          <a:xfrm>
            <a:off x="440475" y="263950"/>
            <a:ext cx="76188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SELECT</a:t>
            </a:r>
            <a:r>
              <a:rPr lang="en-GB" sz="2400"/>
              <a:t> </a:t>
            </a:r>
            <a:r>
              <a:rPr i="1" lang="en-GB"/>
              <a:t>P_DECRIPT</a:t>
            </a:r>
            <a:r>
              <a:rPr lang="en-GB"/>
              <a:t>, </a:t>
            </a:r>
            <a:r>
              <a:rPr i="1" lang="en-GB"/>
              <a:t>P_PRICE</a:t>
            </a:r>
            <a:r>
              <a:rPr lang="en-GB"/>
              <a:t>, </a:t>
            </a:r>
            <a:r>
              <a:rPr i="1" lang="en-GB"/>
              <a:t>V_NAME, V_CONTACT, V_AREACODE, V_PHONE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FROM</a:t>
            </a:r>
            <a:r>
              <a:rPr lang="en-GB" sz="2400"/>
              <a:t> </a:t>
            </a:r>
            <a:r>
              <a:rPr i="1" lang="en-GB"/>
              <a:t>PRODUCT</a:t>
            </a:r>
            <a:r>
              <a:rPr i="1" lang="en-GB" sz="1800"/>
              <a:t>  </a:t>
            </a:r>
            <a:r>
              <a:rPr b="1" lang="en-GB" sz="1800">
                <a:solidFill>
                  <a:srgbClr val="9900FF"/>
                </a:solidFill>
              </a:rPr>
              <a:t>JOIN</a:t>
            </a:r>
            <a:r>
              <a:rPr b="1" lang="en-GB" sz="2400">
                <a:solidFill>
                  <a:srgbClr val="9900FF"/>
                </a:solidFill>
              </a:rPr>
              <a:t> </a:t>
            </a:r>
            <a:r>
              <a:rPr i="1" lang="en-GB">
                <a:solidFill>
                  <a:schemeClr val="dk1"/>
                </a:solidFill>
              </a:rPr>
              <a:t>VENDOR</a:t>
            </a:r>
            <a:r>
              <a:rPr i="1" lang="en-GB" sz="1800">
                <a:solidFill>
                  <a:schemeClr val="dk1"/>
                </a:solidFill>
              </a:rPr>
              <a:t> </a:t>
            </a:r>
            <a:r>
              <a:rPr b="1" lang="en-GB" sz="1800">
                <a:solidFill>
                  <a:srgbClr val="9900FF"/>
                </a:solidFill>
              </a:rPr>
              <a:t>ON</a:t>
            </a:r>
            <a:r>
              <a:rPr b="1" lang="en-GB" sz="2400">
                <a:solidFill>
                  <a:srgbClr val="9900FF"/>
                </a:solidFill>
              </a:rPr>
              <a:t> </a:t>
            </a:r>
            <a:r>
              <a:rPr i="1" lang="en-GB">
                <a:solidFill>
                  <a:schemeClr val="dk1"/>
                </a:solidFill>
              </a:rPr>
              <a:t>PRODUCT.V_CODE = VENDOR.V_CODE </a:t>
            </a:r>
            <a:r>
              <a:rPr b="1" lang="en-GB" sz="1800">
                <a:solidFill>
                  <a:srgbClr val="9900FF"/>
                </a:solidFill>
              </a:rPr>
              <a:t>;</a:t>
            </a:r>
            <a:endParaRPr sz="1800"/>
          </a:p>
        </p:txBody>
      </p:sp>
      <p:pic>
        <p:nvPicPr>
          <p:cNvPr id="318" name="Google Shape;31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025" y="1241225"/>
            <a:ext cx="7017951" cy="337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Outer Joins</a:t>
            </a:r>
            <a:endParaRPr/>
          </a:p>
        </p:txBody>
      </p:sp>
      <p:sp>
        <p:nvSpPr>
          <p:cNvPr id="324" name="Google Shape;324;p48"/>
          <p:cNvSpPr txBox="1"/>
          <p:nvPr>
            <p:ph idx="1" type="body"/>
          </p:nvPr>
        </p:nvSpPr>
        <p:spPr>
          <a:xfrm>
            <a:off x="311700" y="1152475"/>
            <a:ext cx="8520600" cy="32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JOIN ON performs what is known as an </a:t>
            </a:r>
            <a:r>
              <a:rPr b="1" lang="en-GB">
                <a:highlight>
                  <a:srgbClr val="FFFF00"/>
                </a:highlight>
              </a:rPr>
              <a:t>inner join</a:t>
            </a:r>
            <a:r>
              <a:rPr lang="en-GB"/>
              <a:t> 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/>
              <a:t>→ Only returns matched records</a:t>
            </a:r>
            <a:endParaRPr sz="14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But there are also </a:t>
            </a:r>
            <a:r>
              <a:rPr b="1" lang="en-GB">
                <a:highlight>
                  <a:srgbClr val="00FFFF"/>
                </a:highlight>
              </a:rPr>
              <a:t>outer joins</a:t>
            </a:r>
            <a:endParaRPr b="1">
              <a:highlight>
                <a:srgbClr val="00FFFF"/>
              </a:highlight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/>
              <a:t>→ (Matched records + unmatched records from one or both of the tables) are returned</a:t>
            </a:r>
            <a:endParaRPr sz="14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400"/>
              <a:t>→ </a:t>
            </a:r>
            <a:r>
              <a:rPr b="1" lang="en-GB" sz="1400">
                <a:highlight>
                  <a:srgbClr val="00FF00"/>
                </a:highlight>
              </a:rPr>
              <a:t>3 types:</a:t>
            </a:r>
            <a:r>
              <a:rPr lang="en-GB" sz="1400"/>
              <a:t> LEFT OUTER JOIN, RIGHT OUTER JOIN, FULL OUTER JOIN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25" name="Google Shape;325;p48"/>
          <p:cNvSpPr/>
          <p:nvPr/>
        </p:nvSpPr>
        <p:spPr>
          <a:xfrm>
            <a:off x="8171925" y="4554650"/>
            <a:ext cx="6603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9"/>
          <p:cNvSpPr txBox="1"/>
          <p:nvPr/>
        </p:nvSpPr>
        <p:spPr>
          <a:xfrm>
            <a:off x="440475" y="263950"/>
            <a:ext cx="85959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SELECT</a:t>
            </a:r>
            <a:r>
              <a:rPr lang="en-GB" sz="2400"/>
              <a:t> </a:t>
            </a:r>
            <a:r>
              <a:rPr i="1" lang="en-GB"/>
              <a:t>P_CODE</a:t>
            </a:r>
            <a:r>
              <a:rPr lang="en-GB"/>
              <a:t>, </a:t>
            </a:r>
            <a:r>
              <a:rPr i="1" lang="en-GB"/>
              <a:t>VENDOR.V_CODE</a:t>
            </a:r>
            <a:r>
              <a:rPr lang="en-GB"/>
              <a:t>, </a:t>
            </a:r>
            <a:r>
              <a:rPr i="1" lang="en-GB"/>
              <a:t>V_NAME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FROM</a:t>
            </a:r>
            <a:r>
              <a:rPr lang="en-GB" sz="2400"/>
              <a:t> </a:t>
            </a:r>
            <a:r>
              <a:rPr i="1" lang="en-GB"/>
              <a:t>VENDOR</a:t>
            </a:r>
            <a:r>
              <a:rPr i="1" lang="en-GB" sz="1800"/>
              <a:t>  </a:t>
            </a:r>
            <a:r>
              <a:rPr b="1" lang="en-GB" sz="1800">
                <a:solidFill>
                  <a:srgbClr val="9900FF"/>
                </a:solidFill>
              </a:rPr>
              <a:t>LEFT JOIN</a:t>
            </a:r>
            <a:r>
              <a:rPr b="1" lang="en-GB" sz="2400">
                <a:solidFill>
                  <a:srgbClr val="9900FF"/>
                </a:solidFill>
              </a:rPr>
              <a:t> </a:t>
            </a:r>
            <a:r>
              <a:rPr i="1" lang="en-GB">
                <a:solidFill>
                  <a:schemeClr val="dk1"/>
                </a:solidFill>
              </a:rPr>
              <a:t>PRODUCT</a:t>
            </a:r>
            <a:r>
              <a:rPr i="1" lang="en-GB" sz="1800">
                <a:solidFill>
                  <a:schemeClr val="dk1"/>
                </a:solidFill>
              </a:rPr>
              <a:t> </a:t>
            </a:r>
            <a:r>
              <a:rPr b="1" lang="en-GB" sz="1800">
                <a:solidFill>
                  <a:srgbClr val="9900FF"/>
                </a:solidFill>
              </a:rPr>
              <a:t>ON</a:t>
            </a:r>
            <a:r>
              <a:rPr b="1" lang="en-GB" sz="2400">
                <a:solidFill>
                  <a:srgbClr val="9900FF"/>
                </a:solidFill>
              </a:rPr>
              <a:t> </a:t>
            </a:r>
            <a:r>
              <a:rPr i="1" lang="en-GB">
                <a:solidFill>
                  <a:schemeClr val="dk1"/>
                </a:solidFill>
              </a:rPr>
              <a:t>VENDOR.V_CODE = PRODUCT.V_CODE</a:t>
            </a:r>
            <a:r>
              <a:rPr b="1" lang="en-GB" sz="1800">
                <a:solidFill>
                  <a:srgbClr val="9900FF"/>
                </a:solidFill>
              </a:rPr>
              <a:t>;</a:t>
            </a:r>
            <a:endParaRPr sz="1800"/>
          </a:p>
        </p:txBody>
      </p:sp>
      <p:pic>
        <p:nvPicPr>
          <p:cNvPr id="331" name="Google Shape;33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7925" y="1278850"/>
            <a:ext cx="4628549" cy="37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9"/>
          <p:cNvSpPr txBox="1"/>
          <p:nvPr/>
        </p:nvSpPr>
        <p:spPr>
          <a:xfrm>
            <a:off x="440475" y="1638500"/>
            <a:ext cx="3708300" cy="30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Returns </a:t>
            </a:r>
            <a:r>
              <a:rPr b="1" lang="en-GB">
                <a:highlight>
                  <a:srgbClr val="FFFF00"/>
                </a:highlight>
              </a:rPr>
              <a:t>all vendors</a:t>
            </a:r>
            <a:r>
              <a:rPr lang="en-GB"/>
              <a:t> and the products they supply.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Vendors who supply more than one product are listed more than once.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GB"/>
              <a:t>Vendors that don’t supply any products are also listed</a:t>
            </a:r>
            <a:r>
              <a:rPr lang="en-GB"/>
              <a:t> → with a NULL product record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i.e </a:t>
            </a:r>
            <a:r>
              <a:rPr b="1" lang="en-GB"/>
              <a:t>all records </a:t>
            </a:r>
            <a:r>
              <a:rPr b="1" lang="en-GB">
                <a:solidFill>
                  <a:schemeClr val="dk1"/>
                </a:solidFill>
              </a:rPr>
              <a:t>from the left table</a:t>
            </a:r>
            <a:r>
              <a:rPr lang="en-GB">
                <a:solidFill>
                  <a:schemeClr val="dk1"/>
                </a:solidFill>
              </a:rPr>
              <a:t> (VENDOR)</a:t>
            </a:r>
            <a:r>
              <a:rPr lang="en-GB"/>
              <a:t> are returned even if unmatched. </a:t>
            </a:r>
            <a:endParaRPr/>
          </a:p>
        </p:txBody>
      </p:sp>
      <p:sp>
        <p:nvSpPr>
          <p:cNvPr id="333" name="Google Shape;333;p49"/>
          <p:cNvSpPr txBox="1"/>
          <p:nvPr/>
        </p:nvSpPr>
        <p:spPr>
          <a:xfrm>
            <a:off x="6258250" y="1770075"/>
            <a:ext cx="1710000" cy="345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4" name="Google Shape;334;p49"/>
          <p:cNvCxnSpPr/>
          <p:nvPr/>
        </p:nvCxnSpPr>
        <p:spPr>
          <a:xfrm flipH="1" rot="10800000">
            <a:off x="4035225" y="1954750"/>
            <a:ext cx="2017800" cy="582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" name="Google Shape;335;p49"/>
          <p:cNvSpPr txBox="1"/>
          <p:nvPr/>
        </p:nvSpPr>
        <p:spPr>
          <a:xfrm>
            <a:off x="5569750" y="2860225"/>
            <a:ext cx="2398500" cy="245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6" name="Google Shape;336;p49"/>
          <p:cNvCxnSpPr>
            <a:stCxn id="332" idx="3"/>
          </p:cNvCxnSpPr>
          <p:nvPr/>
        </p:nvCxnSpPr>
        <p:spPr>
          <a:xfrm flipH="1" rot="10800000">
            <a:off x="4148775" y="3063050"/>
            <a:ext cx="1179300" cy="98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7" name="Google Shape;337;p49"/>
          <p:cNvSpPr txBox="1"/>
          <p:nvPr>
            <p:ph type="title"/>
          </p:nvPr>
        </p:nvSpPr>
        <p:spPr>
          <a:xfrm>
            <a:off x="6428750" y="263950"/>
            <a:ext cx="210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LEFT JOIN</a:t>
            </a:r>
            <a:endParaRPr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/>
        </p:nvSpPr>
        <p:spPr>
          <a:xfrm>
            <a:off x="440475" y="263950"/>
            <a:ext cx="85962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SELECT</a:t>
            </a:r>
            <a:r>
              <a:rPr lang="en-GB" sz="2400"/>
              <a:t> </a:t>
            </a:r>
            <a:r>
              <a:rPr i="1" lang="en-GB"/>
              <a:t>P_CODE</a:t>
            </a:r>
            <a:r>
              <a:rPr lang="en-GB"/>
              <a:t>, </a:t>
            </a:r>
            <a:r>
              <a:rPr i="1" lang="en-GB"/>
              <a:t>VENDOR.V_CODE</a:t>
            </a:r>
            <a:r>
              <a:rPr lang="en-GB"/>
              <a:t>, </a:t>
            </a:r>
            <a:r>
              <a:rPr i="1" lang="en-GB"/>
              <a:t>V_NAME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FROM</a:t>
            </a:r>
            <a:r>
              <a:rPr lang="en-GB" sz="2400"/>
              <a:t> </a:t>
            </a:r>
            <a:r>
              <a:rPr i="1" lang="en-GB"/>
              <a:t>VENDOR</a:t>
            </a:r>
            <a:r>
              <a:rPr i="1" lang="en-GB" sz="1800"/>
              <a:t>  </a:t>
            </a:r>
            <a:r>
              <a:rPr b="1" lang="en-GB" sz="1800">
                <a:solidFill>
                  <a:srgbClr val="9900FF"/>
                </a:solidFill>
              </a:rPr>
              <a:t>RIGHT JOIN</a:t>
            </a:r>
            <a:r>
              <a:rPr b="1" lang="en-GB" sz="2400">
                <a:solidFill>
                  <a:srgbClr val="9900FF"/>
                </a:solidFill>
              </a:rPr>
              <a:t> </a:t>
            </a:r>
            <a:r>
              <a:rPr i="1" lang="en-GB">
                <a:solidFill>
                  <a:schemeClr val="dk1"/>
                </a:solidFill>
              </a:rPr>
              <a:t>PRODUCT</a:t>
            </a:r>
            <a:r>
              <a:rPr i="1" lang="en-GB" sz="1800">
                <a:solidFill>
                  <a:schemeClr val="dk1"/>
                </a:solidFill>
              </a:rPr>
              <a:t> </a:t>
            </a:r>
            <a:r>
              <a:rPr b="1" lang="en-GB" sz="1800">
                <a:solidFill>
                  <a:srgbClr val="9900FF"/>
                </a:solidFill>
              </a:rPr>
              <a:t>ON</a:t>
            </a:r>
            <a:r>
              <a:rPr b="1" lang="en-GB" sz="2400">
                <a:solidFill>
                  <a:srgbClr val="9900FF"/>
                </a:solidFill>
              </a:rPr>
              <a:t> </a:t>
            </a:r>
            <a:r>
              <a:rPr i="1" lang="en-GB">
                <a:solidFill>
                  <a:schemeClr val="dk1"/>
                </a:solidFill>
              </a:rPr>
              <a:t>VENDOR.V_CODE = PRODUCT.V_CODE</a:t>
            </a:r>
            <a:r>
              <a:rPr b="1" lang="en-GB" sz="1800">
                <a:solidFill>
                  <a:srgbClr val="9900FF"/>
                </a:solidFill>
              </a:rPr>
              <a:t>;</a:t>
            </a:r>
            <a:endParaRPr sz="1800"/>
          </a:p>
        </p:txBody>
      </p:sp>
      <p:sp>
        <p:nvSpPr>
          <p:cNvPr id="343" name="Google Shape;343;p50"/>
          <p:cNvSpPr txBox="1"/>
          <p:nvPr/>
        </p:nvSpPr>
        <p:spPr>
          <a:xfrm>
            <a:off x="440475" y="1638500"/>
            <a:ext cx="3480900" cy="30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Returns </a:t>
            </a:r>
            <a:r>
              <a:rPr b="1" lang="en-GB">
                <a:highlight>
                  <a:srgbClr val="FFFF00"/>
                </a:highlight>
              </a:rPr>
              <a:t>all products</a:t>
            </a:r>
            <a:r>
              <a:rPr lang="en-GB"/>
              <a:t> and the vendors.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All products are listed once.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GB"/>
              <a:t>Products that are not supplied by a vendor </a:t>
            </a:r>
            <a:r>
              <a:rPr lang="en-GB"/>
              <a:t>are listed as well. (with NULL vendor info)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i.e </a:t>
            </a:r>
            <a:r>
              <a:rPr b="1" lang="en-GB"/>
              <a:t>all records </a:t>
            </a:r>
            <a:r>
              <a:rPr b="1" lang="en-GB">
                <a:solidFill>
                  <a:schemeClr val="dk1"/>
                </a:solidFill>
              </a:rPr>
              <a:t>from the right table</a:t>
            </a:r>
            <a:r>
              <a:rPr lang="en-GB">
                <a:solidFill>
                  <a:schemeClr val="dk1"/>
                </a:solidFill>
              </a:rPr>
              <a:t> (PRODUCT)</a:t>
            </a:r>
            <a:r>
              <a:rPr lang="en-GB"/>
              <a:t> are returned even if unmatched. </a:t>
            </a:r>
            <a:endParaRPr/>
          </a:p>
        </p:txBody>
      </p:sp>
      <p:pic>
        <p:nvPicPr>
          <p:cNvPr id="344" name="Google Shape;34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1233" y="1278849"/>
            <a:ext cx="5222774" cy="357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0"/>
          <p:cNvSpPr txBox="1"/>
          <p:nvPr/>
        </p:nvSpPr>
        <p:spPr>
          <a:xfrm>
            <a:off x="5306275" y="1855325"/>
            <a:ext cx="2480100" cy="345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6" name="Google Shape;346;p50"/>
          <p:cNvCxnSpPr/>
          <p:nvPr/>
        </p:nvCxnSpPr>
        <p:spPr>
          <a:xfrm flipH="1" rot="10800000">
            <a:off x="3708475" y="2295725"/>
            <a:ext cx="1449300" cy="59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50"/>
          <p:cNvSpPr txBox="1"/>
          <p:nvPr>
            <p:ph type="title"/>
          </p:nvPr>
        </p:nvSpPr>
        <p:spPr>
          <a:xfrm>
            <a:off x="6294400" y="263950"/>
            <a:ext cx="223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RIGHT JOIN</a:t>
            </a:r>
            <a:endParaRPr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1"/>
          <p:cNvSpPr txBox="1"/>
          <p:nvPr/>
        </p:nvSpPr>
        <p:spPr>
          <a:xfrm>
            <a:off x="440475" y="263950"/>
            <a:ext cx="84399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SELECT</a:t>
            </a:r>
            <a:r>
              <a:rPr lang="en-GB" sz="2400"/>
              <a:t> </a:t>
            </a:r>
            <a:r>
              <a:rPr i="1" lang="en-GB"/>
              <a:t>P_CODE</a:t>
            </a:r>
            <a:r>
              <a:rPr lang="en-GB"/>
              <a:t>, </a:t>
            </a:r>
            <a:r>
              <a:rPr i="1" lang="en-GB"/>
              <a:t>VENDOR.V_CODE</a:t>
            </a:r>
            <a:r>
              <a:rPr lang="en-GB"/>
              <a:t>, </a:t>
            </a:r>
            <a:r>
              <a:rPr i="1" lang="en-GB"/>
              <a:t>V_NAME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</a:rPr>
              <a:t>FROM</a:t>
            </a:r>
            <a:r>
              <a:rPr lang="en-GB" sz="2400"/>
              <a:t> </a:t>
            </a:r>
            <a:r>
              <a:rPr i="1" lang="en-GB"/>
              <a:t>VENDOR</a:t>
            </a:r>
            <a:r>
              <a:rPr i="1" lang="en-GB" sz="1800"/>
              <a:t>  </a:t>
            </a:r>
            <a:r>
              <a:rPr b="1" lang="en-GB" sz="1800">
                <a:solidFill>
                  <a:srgbClr val="9900FF"/>
                </a:solidFill>
              </a:rPr>
              <a:t>FULL JOIN</a:t>
            </a:r>
            <a:r>
              <a:rPr b="1" lang="en-GB" sz="2400">
                <a:solidFill>
                  <a:srgbClr val="9900FF"/>
                </a:solidFill>
              </a:rPr>
              <a:t> </a:t>
            </a:r>
            <a:r>
              <a:rPr i="1" lang="en-GB">
                <a:solidFill>
                  <a:schemeClr val="dk1"/>
                </a:solidFill>
              </a:rPr>
              <a:t>PRODUCT</a:t>
            </a:r>
            <a:r>
              <a:rPr i="1" lang="en-GB" sz="1800">
                <a:solidFill>
                  <a:schemeClr val="dk1"/>
                </a:solidFill>
              </a:rPr>
              <a:t> </a:t>
            </a:r>
            <a:r>
              <a:rPr b="1" lang="en-GB" sz="1800">
                <a:solidFill>
                  <a:srgbClr val="9900FF"/>
                </a:solidFill>
              </a:rPr>
              <a:t>ON</a:t>
            </a:r>
            <a:r>
              <a:rPr b="1" lang="en-GB" sz="2400">
                <a:solidFill>
                  <a:srgbClr val="9900FF"/>
                </a:solidFill>
              </a:rPr>
              <a:t> </a:t>
            </a:r>
            <a:r>
              <a:rPr i="1" lang="en-GB">
                <a:solidFill>
                  <a:schemeClr val="dk1"/>
                </a:solidFill>
              </a:rPr>
              <a:t>VENDOR.V_CODE = PRODUCT.V_CODE</a:t>
            </a:r>
            <a:r>
              <a:rPr b="1" lang="en-GB" sz="1800">
                <a:solidFill>
                  <a:srgbClr val="9900FF"/>
                </a:solidFill>
              </a:rPr>
              <a:t>;</a:t>
            </a:r>
            <a:endParaRPr sz="1800"/>
          </a:p>
        </p:txBody>
      </p:sp>
      <p:sp>
        <p:nvSpPr>
          <p:cNvPr id="353" name="Google Shape;353;p51"/>
          <p:cNvSpPr txBox="1"/>
          <p:nvPr/>
        </p:nvSpPr>
        <p:spPr>
          <a:xfrm>
            <a:off x="440475" y="1638500"/>
            <a:ext cx="3480900" cy="30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Returns </a:t>
            </a:r>
            <a:r>
              <a:rPr b="1" lang="en-GB">
                <a:highlight>
                  <a:srgbClr val="FFFF00"/>
                </a:highlight>
              </a:rPr>
              <a:t>all products &amp; all vendors</a:t>
            </a:r>
            <a:r>
              <a:rPr lang="en-GB"/>
              <a:t> either matched or unmatched</a:t>
            </a:r>
            <a:endParaRPr/>
          </a:p>
        </p:txBody>
      </p:sp>
      <p:pic>
        <p:nvPicPr>
          <p:cNvPr id="354" name="Google Shape;35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3775" y="1431250"/>
            <a:ext cx="4522688" cy="355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51"/>
          <p:cNvSpPr txBox="1"/>
          <p:nvPr>
            <p:ph type="title"/>
          </p:nvPr>
        </p:nvSpPr>
        <p:spPr>
          <a:xfrm>
            <a:off x="6428750" y="263950"/>
            <a:ext cx="210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FULL JOIN</a:t>
            </a:r>
            <a:endParaRPr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WHERE Clause</a:t>
            </a:r>
            <a:endParaRPr/>
          </a:p>
        </p:txBody>
      </p:sp>
      <p:sp>
        <p:nvSpPr>
          <p:cNvPr id="361" name="Google Shape;361;p52"/>
          <p:cNvSpPr txBox="1"/>
          <p:nvPr>
            <p:ph idx="1" type="body"/>
          </p:nvPr>
        </p:nvSpPr>
        <p:spPr>
          <a:xfrm>
            <a:off x="311700" y="1152475"/>
            <a:ext cx="8520600" cy="3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Suppose you want to know all VENDORs who are not currently supplying any products.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→ One way to answer this question is to use a JOIN to return all VENDORs matched with their products. If the product info for a vendor is null, we know they don’t supply any products 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900FF"/>
                </a:solidFill>
              </a:rPr>
              <a:t>SELECT</a:t>
            </a:r>
            <a:r>
              <a:rPr lang="en-GB" sz="2400">
                <a:solidFill>
                  <a:schemeClr val="dk1"/>
                </a:solidFill>
              </a:rPr>
              <a:t> </a:t>
            </a:r>
            <a:r>
              <a:rPr i="1" lang="en-GB" sz="1400">
                <a:solidFill>
                  <a:schemeClr val="dk1"/>
                </a:solidFill>
              </a:rPr>
              <a:t>P_CODE</a:t>
            </a:r>
            <a:r>
              <a:rPr lang="en-GB" sz="1400">
                <a:solidFill>
                  <a:schemeClr val="dk1"/>
                </a:solidFill>
              </a:rPr>
              <a:t>, </a:t>
            </a:r>
            <a:r>
              <a:rPr i="1" lang="en-GB" sz="1400">
                <a:solidFill>
                  <a:schemeClr val="dk1"/>
                </a:solidFill>
              </a:rPr>
              <a:t>VENDOR.V_CODE</a:t>
            </a:r>
            <a:r>
              <a:rPr lang="en-GB" sz="1400">
                <a:solidFill>
                  <a:schemeClr val="dk1"/>
                </a:solidFill>
              </a:rPr>
              <a:t>, </a:t>
            </a:r>
            <a:r>
              <a:rPr i="1" lang="en-GB" sz="1400">
                <a:solidFill>
                  <a:schemeClr val="dk1"/>
                </a:solidFill>
              </a:rPr>
              <a:t>V_NAME</a:t>
            </a:r>
            <a:endParaRPr i="1" sz="14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900FF"/>
                </a:solidFill>
              </a:rPr>
              <a:t>FROM</a:t>
            </a:r>
            <a:r>
              <a:rPr lang="en-GB" sz="2400">
                <a:solidFill>
                  <a:schemeClr val="dk1"/>
                </a:solidFill>
              </a:rPr>
              <a:t> </a:t>
            </a:r>
            <a:r>
              <a:rPr i="1" lang="en-GB" sz="1400">
                <a:solidFill>
                  <a:schemeClr val="dk1"/>
                </a:solidFill>
              </a:rPr>
              <a:t>VENDOR</a:t>
            </a:r>
            <a:r>
              <a:rPr i="1" lang="en-GB">
                <a:solidFill>
                  <a:schemeClr val="dk1"/>
                </a:solidFill>
              </a:rPr>
              <a:t>  </a:t>
            </a:r>
            <a:r>
              <a:rPr b="1" lang="en-GB">
                <a:solidFill>
                  <a:srgbClr val="9900FF"/>
                </a:solidFill>
              </a:rPr>
              <a:t>LEFT JOIN</a:t>
            </a:r>
            <a:r>
              <a:rPr b="1" lang="en-GB" sz="2400">
                <a:solidFill>
                  <a:srgbClr val="9900FF"/>
                </a:solidFill>
              </a:rPr>
              <a:t> </a:t>
            </a:r>
            <a:r>
              <a:rPr i="1" lang="en-GB" sz="1400">
                <a:solidFill>
                  <a:schemeClr val="dk1"/>
                </a:solidFill>
              </a:rPr>
              <a:t>PRODUCT</a:t>
            </a:r>
            <a:r>
              <a:rPr i="1" lang="en-GB">
                <a:solidFill>
                  <a:schemeClr val="dk1"/>
                </a:solidFill>
              </a:rPr>
              <a:t> </a:t>
            </a:r>
            <a:r>
              <a:rPr b="1" lang="en-GB">
                <a:solidFill>
                  <a:srgbClr val="9900FF"/>
                </a:solidFill>
              </a:rPr>
              <a:t>ON</a:t>
            </a:r>
            <a:r>
              <a:rPr b="1" lang="en-GB" sz="2400">
                <a:solidFill>
                  <a:srgbClr val="9900FF"/>
                </a:solidFill>
              </a:rPr>
              <a:t> </a:t>
            </a:r>
            <a:r>
              <a:rPr i="1" lang="en-GB" sz="1400">
                <a:solidFill>
                  <a:schemeClr val="dk1"/>
                </a:solidFill>
              </a:rPr>
              <a:t>VENDOR.V_CODE = PRODUCT.V_CODE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900FF"/>
                </a:solidFill>
              </a:rPr>
              <a:t>WHERE </a:t>
            </a:r>
            <a:r>
              <a:rPr i="1" lang="en-GB" sz="1400">
                <a:solidFill>
                  <a:schemeClr val="dk1"/>
                </a:solidFill>
              </a:rPr>
              <a:t>P_CODE </a:t>
            </a:r>
            <a:r>
              <a:rPr b="1" lang="en-GB">
                <a:solidFill>
                  <a:srgbClr val="9900FF"/>
                </a:solidFill>
              </a:rPr>
              <a:t>IS NULL;</a:t>
            </a:r>
            <a:endParaRPr b="1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2"/>
          <p:cNvSpPr/>
          <p:nvPr/>
        </p:nvSpPr>
        <p:spPr>
          <a:xfrm>
            <a:off x="8171925" y="4554650"/>
            <a:ext cx="6603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Notes About JOINs</a:t>
            </a:r>
            <a:endParaRPr/>
          </a:p>
        </p:txBody>
      </p:sp>
      <p:sp>
        <p:nvSpPr>
          <p:cNvPr id="368" name="Google Shape;368;p53"/>
          <p:cNvSpPr txBox="1"/>
          <p:nvPr>
            <p:ph idx="1" type="body"/>
          </p:nvPr>
        </p:nvSpPr>
        <p:spPr>
          <a:xfrm>
            <a:off x="311700" y="1152475"/>
            <a:ext cx="8520600" cy="14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Joins are the </a:t>
            </a:r>
            <a:r>
              <a:rPr b="1" lang="en-GB">
                <a:highlight>
                  <a:srgbClr val="FFFF00"/>
                </a:highlight>
              </a:rPr>
              <a:t>real power</a:t>
            </a:r>
            <a:r>
              <a:rPr lang="en-GB"/>
              <a:t> behind the relational database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allow information to be </a:t>
            </a:r>
            <a:r>
              <a:rPr b="1" lang="en-GB">
                <a:highlight>
                  <a:srgbClr val="B6D7A8"/>
                </a:highlight>
              </a:rPr>
              <a:t>combined intelligently</a:t>
            </a:r>
            <a:r>
              <a:rPr lang="en-GB"/>
              <a:t> from two or more tables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69" name="Google Shape;369;p53"/>
          <p:cNvSpPr txBox="1"/>
          <p:nvPr/>
        </p:nvSpPr>
        <p:spPr>
          <a:xfrm>
            <a:off x="1804500" y="2770713"/>
            <a:ext cx="1918200" cy="48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DESIGN </a:t>
            </a:r>
            <a:endParaRPr/>
          </a:p>
        </p:txBody>
      </p:sp>
      <p:sp>
        <p:nvSpPr>
          <p:cNvPr id="370" name="Google Shape;370;p53"/>
          <p:cNvSpPr txBox="1"/>
          <p:nvPr/>
        </p:nvSpPr>
        <p:spPr>
          <a:xfrm>
            <a:off x="5933400" y="2770725"/>
            <a:ext cx="1918200" cy="48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RETRIEVAL</a:t>
            </a:r>
            <a:endParaRPr/>
          </a:p>
        </p:txBody>
      </p:sp>
      <p:sp>
        <p:nvSpPr>
          <p:cNvPr id="371" name="Google Shape;371;p53"/>
          <p:cNvSpPr txBox="1"/>
          <p:nvPr/>
        </p:nvSpPr>
        <p:spPr>
          <a:xfrm>
            <a:off x="767250" y="3410050"/>
            <a:ext cx="39927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DECOMPOSE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Designer decomposes an integrated set of data into separate entities.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3"/>
          <p:cNvSpPr txBox="1"/>
          <p:nvPr/>
        </p:nvSpPr>
        <p:spPr>
          <a:xfrm>
            <a:off x="5139600" y="3366875"/>
            <a:ext cx="3505800" cy="8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JOIN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Programmer re-integrates pieces of the data. </a:t>
            </a:r>
            <a:endParaRPr/>
          </a:p>
        </p:txBody>
      </p:sp>
      <p:pic>
        <p:nvPicPr>
          <p:cNvPr id="373" name="Google Shape;37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6975" y="4152500"/>
            <a:ext cx="1232392" cy="764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2434" y="4152500"/>
            <a:ext cx="1276675" cy="76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4"/>
          <p:cNvSpPr txBox="1"/>
          <p:nvPr>
            <p:ph type="title"/>
          </p:nvPr>
        </p:nvSpPr>
        <p:spPr>
          <a:xfrm>
            <a:off x="539925" y="445025"/>
            <a:ext cx="768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Few Notes</a:t>
            </a:r>
            <a:endParaRPr/>
          </a:p>
        </p:txBody>
      </p:sp>
      <p:sp>
        <p:nvSpPr>
          <p:cNvPr id="380" name="Google Shape;380;p54"/>
          <p:cNvSpPr txBox="1"/>
          <p:nvPr/>
        </p:nvSpPr>
        <p:spPr>
          <a:xfrm>
            <a:off x="539925" y="1017725"/>
            <a:ext cx="8521200" cy="3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Different DMBSs expect different </a:t>
            </a:r>
            <a:r>
              <a:rPr b="1" lang="en-GB" sz="1800">
                <a:highlight>
                  <a:srgbClr val="FFFF00"/>
                </a:highlight>
              </a:rPr>
              <a:t>Date formats</a:t>
            </a:r>
            <a:endParaRPr b="1" sz="1800"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Character &amp; Date values must be </a:t>
            </a:r>
            <a:r>
              <a:rPr b="1" lang="en-GB" sz="1800">
                <a:highlight>
                  <a:srgbClr val="00FFFF"/>
                </a:highlight>
              </a:rPr>
              <a:t>quoted</a:t>
            </a:r>
            <a:r>
              <a:rPr lang="en-GB" sz="1800"/>
              <a:t> with apostrophes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As with creating tables, the </a:t>
            </a:r>
            <a:r>
              <a:rPr b="1" lang="en-GB" sz="1800">
                <a:highlight>
                  <a:srgbClr val="00FF00"/>
                </a:highlight>
              </a:rPr>
              <a:t>order</a:t>
            </a:r>
            <a:r>
              <a:rPr lang="en-GB" sz="1800"/>
              <a:t> of operations </a:t>
            </a:r>
            <a:r>
              <a:rPr b="1" lang="en-GB" sz="1800"/>
              <a:t>matters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Most RDBMSs allow you to </a:t>
            </a:r>
            <a:r>
              <a:rPr b="1" lang="en-GB" sz="1800">
                <a:highlight>
                  <a:srgbClr val="B6D7A8"/>
                </a:highlight>
              </a:rPr>
              <a:t>import</a:t>
            </a:r>
            <a:r>
              <a:rPr b="1" lang="en-GB" sz="1800"/>
              <a:t> </a:t>
            </a:r>
            <a:r>
              <a:rPr lang="en-GB" sz="1800"/>
              <a:t>data from CSV files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5"/>
          <p:cNvSpPr txBox="1"/>
          <p:nvPr>
            <p:ph idx="1" type="body"/>
          </p:nvPr>
        </p:nvSpPr>
        <p:spPr>
          <a:xfrm>
            <a:off x="311700" y="1438900"/>
            <a:ext cx="8520600" cy="23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SELECT -- specifies attributes to be returned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FROM -- specifies the table(s) from which data will be retrieved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WHERE -- filters the rows of data based on provided condition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ORDER By -- sorts the final results (ASC, DESC)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JOIN --  combines data from two or more tables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