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5143500" cx="9144000"/>
  <p:notesSz cx="6858000" cy="9144000"/>
  <p:embeddedFontLst>
    <p:embeddedFont>
      <p:font typeface="Lora"/>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Lora-bold.fntdata"/><Relationship Id="rId41" Type="http://schemas.openxmlformats.org/officeDocument/2006/relationships/font" Target="fonts/Lora-regular.fntdata"/><Relationship Id="rId22" Type="http://schemas.openxmlformats.org/officeDocument/2006/relationships/slide" Target="slides/slide18.xml"/><Relationship Id="rId44" Type="http://schemas.openxmlformats.org/officeDocument/2006/relationships/font" Target="fonts/Lora-boldItalic.fntdata"/><Relationship Id="rId21" Type="http://schemas.openxmlformats.org/officeDocument/2006/relationships/slide" Target="slides/slide17.xml"/><Relationship Id="rId43" Type="http://schemas.openxmlformats.org/officeDocument/2006/relationships/font" Target="fonts/Lora-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aaa996c10_0_2: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g37aaa996c10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Welcome students. Introduce course and Module 1 objectives.</a:t>
            </a:r>
            <a:endParaRPr/>
          </a:p>
        </p:txBody>
      </p:sp>
      <p:sp>
        <p:nvSpPr>
          <p:cNvPr id="60" name="Google Shape;60;g37aaa996c10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4c2308d52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4c2308d52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2308d52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2308d52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highlight>
                  <a:srgbClr val="FFFF00"/>
                </a:highlight>
              </a:rPr>
              <a:t>Examples</a:t>
            </a:r>
            <a:r>
              <a:rPr lang="en-GB"/>
              <a:t>:</a:t>
            </a:r>
            <a:endParaRPr/>
          </a:p>
          <a:p>
            <a:pPr indent="-298450" lvl="0" marL="457200" rtl="0" algn="l">
              <a:spcBef>
                <a:spcPts val="0"/>
              </a:spcBef>
              <a:spcAft>
                <a:spcPts val="0"/>
              </a:spcAft>
              <a:buSzPts val="1100"/>
              <a:buChar char="-"/>
            </a:pPr>
            <a:r>
              <a:rPr b="1" lang="en-GB"/>
              <a:t>Government</a:t>
            </a:r>
            <a:r>
              <a:rPr lang="en-GB"/>
              <a:t> has invested in open data initiatives</a:t>
            </a:r>
            <a:endParaRPr/>
          </a:p>
          <a:p>
            <a:pPr indent="-298450" lvl="0" marL="457200" rtl="0" algn="l">
              <a:spcBef>
                <a:spcPts val="0"/>
              </a:spcBef>
              <a:spcAft>
                <a:spcPts val="0"/>
              </a:spcAft>
              <a:buSzPts val="1100"/>
              <a:buChar char="-"/>
            </a:pPr>
            <a:r>
              <a:rPr lang="en-GB"/>
              <a:t>A lot of </a:t>
            </a:r>
            <a:r>
              <a:rPr b="1" lang="en-GB"/>
              <a:t>companies</a:t>
            </a:r>
            <a:r>
              <a:rPr lang="en-GB"/>
              <a:t> want to use data to make better decisions</a:t>
            </a:r>
            <a:endParaRPr/>
          </a:p>
          <a:p>
            <a:pPr indent="-298450" lvl="0" marL="457200" rtl="0" algn="l">
              <a:spcBef>
                <a:spcPts val="0"/>
              </a:spcBef>
              <a:spcAft>
                <a:spcPts val="0"/>
              </a:spcAft>
              <a:buSzPts val="1100"/>
              <a:buChar char="-"/>
            </a:pPr>
            <a:r>
              <a:rPr b="1" lang="en-GB"/>
              <a:t>People</a:t>
            </a:r>
            <a:r>
              <a:rPr lang="en-GB"/>
              <a:t> love data visualizations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highlight>
                  <a:srgbClr val="FFFF00"/>
                </a:highlight>
              </a:rPr>
              <a:t>Ask them to give examples of Data &amp; Information</a:t>
            </a:r>
            <a:endParaRPr b="1">
              <a:highlight>
                <a:srgbClr val="FFFF00"/>
              </a:highlight>
            </a:endParaRPr>
          </a:p>
          <a:p>
            <a:pPr indent="-298450" lvl="0" marL="457200" rtl="0" algn="l">
              <a:spcBef>
                <a:spcPts val="0"/>
              </a:spcBef>
              <a:spcAft>
                <a:spcPts val="0"/>
              </a:spcAft>
              <a:buSzPts val="1100"/>
              <a:buChar char="-"/>
            </a:pPr>
            <a:r>
              <a:rPr lang="en-GB"/>
              <a:t>This could work as pretest.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4c2308d52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4c2308d52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GB"/>
              <a:t>Exploration to reveal the </a:t>
            </a:r>
            <a:r>
              <a:rPr b="1" lang="en-GB"/>
              <a:t>patterns</a:t>
            </a:r>
            <a:endParaRPr b="1"/>
          </a:p>
          <a:p>
            <a:pPr indent="-298450" lvl="0" marL="457200" rtl="0" algn="l">
              <a:lnSpc>
                <a:spcPct val="115000"/>
              </a:lnSpc>
              <a:spcBef>
                <a:spcPts val="0"/>
              </a:spcBef>
              <a:spcAft>
                <a:spcPts val="0"/>
              </a:spcAft>
              <a:buClr>
                <a:schemeClr val="dk1"/>
              </a:buClr>
              <a:buSzPts val="1100"/>
              <a:buChar char="●"/>
            </a:pPr>
            <a:r>
              <a:rPr b="1" lang="en-GB"/>
              <a:t>Predication and Inference</a:t>
            </a:r>
            <a:r>
              <a:rPr lang="en-GB"/>
              <a:t> using statistical modelling </a:t>
            </a:r>
            <a:endParaRPr/>
          </a:p>
          <a:p>
            <a:pPr indent="-298450" lvl="0" marL="457200" rtl="0" algn="l">
              <a:lnSpc>
                <a:spcPct val="115000"/>
              </a:lnSpc>
              <a:spcBef>
                <a:spcPts val="0"/>
              </a:spcBef>
              <a:spcAft>
                <a:spcPts val="0"/>
              </a:spcAft>
              <a:buClr>
                <a:schemeClr val="dk1"/>
              </a:buClr>
              <a:buSzPts val="1100"/>
              <a:buChar char="●"/>
            </a:pPr>
            <a:r>
              <a:rPr lang="en-GB"/>
              <a:t>to reveal meaning information needs </a:t>
            </a:r>
            <a:r>
              <a:rPr b="1" lang="en-GB"/>
              <a:t>context</a:t>
            </a:r>
            <a:endParaRPr b="1"/>
          </a:p>
          <a:p>
            <a:pPr indent="-298450" lvl="0" marL="457200" rtl="0" algn="l">
              <a:lnSpc>
                <a:spcPct val="115000"/>
              </a:lnSpc>
              <a:spcBef>
                <a:spcPts val="0"/>
              </a:spcBef>
              <a:spcAft>
                <a:spcPts val="0"/>
              </a:spcAft>
              <a:buClr>
                <a:schemeClr val="dk1"/>
              </a:buClr>
              <a:buSzPts val="1100"/>
              <a:buChar char="●"/>
            </a:pPr>
            <a:r>
              <a:rPr b="1" lang="en-GB"/>
              <a:t>A data summary that answers your question is meaningful. It provides information and insight into the raw data.</a:t>
            </a:r>
            <a:endParaRPr b="1"/>
          </a:p>
          <a:p>
            <a:pPr indent="-298450" lvl="1" marL="914400" rtl="0" algn="l">
              <a:lnSpc>
                <a:spcPct val="115000"/>
              </a:lnSpc>
              <a:spcBef>
                <a:spcPts val="0"/>
              </a:spcBef>
              <a:spcAft>
                <a:spcPts val="0"/>
              </a:spcAft>
              <a:buClr>
                <a:schemeClr val="dk1"/>
              </a:buClr>
              <a:buSzPts val="1100"/>
              <a:buAutoNum type="alphaLcPeriod"/>
            </a:pPr>
            <a:r>
              <a:rPr lang="en-GB"/>
              <a:t>Connecting back to initial survey / My questions</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4c2308d52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4c2308d52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We need data, there is so much data, we need a system to help us. </a:t>
            </a:r>
            <a:endParaRPr/>
          </a:p>
          <a:p>
            <a:pPr indent="-298450" lvl="0" marL="457200" rtl="0" algn="l">
              <a:spcBef>
                <a:spcPts val="0"/>
              </a:spcBef>
              <a:spcAft>
                <a:spcPts val="0"/>
              </a:spcAft>
              <a:buSzPts val="1100"/>
              <a:buChar char="-"/>
            </a:pPr>
            <a:r>
              <a:rPr lang="en-GB"/>
              <a:t>Buzz, Buzz: Decision Support, Operations Research, and data science all require skills that you will learn in this course</a:t>
            </a:r>
            <a:endParaRPr/>
          </a:p>
          <a:p>
            <a:pPr indent="0" lvl="0" marL="45720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c2308d52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4c2308d52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We won’t understand the importance of databases and the type of problems they tackle, unless we review the </a:t>
            </a:r>
            <a:r>
              <a:rPr b="1" lang="en-GB"/>
              <a:t>file system approach to information storage and </a:t>
            </a:r>
            <a:r>
              <a:rPr b="1" lang="en-GB"/>
              <a:t>management</a:t>
            </a:r>
            <a:r>
              <a:rPr lang="en-GB"/>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4c2308d52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4c2308d52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Before database systems, there were file systems. </a:t>
            </a:r>
            <a:endParaRPr/>
          </a:p>
          <a:p>
            <a:pPr indent="-298450" lvl="0" marL="457200" rtl="0" algn="l">
              <a:spcBef>
                <a:spcPts val="0"/>
              </a:spcBef>
              <a:spcAft>
                <a:spcPts val="0"/>
              </a:spcAft>
              <a:buSzPts val="1100"/>
              <a:buChar char="-"/>
            </a:pPr>
            <a:r>
              <a:rPr lang="en-GB"/>
              <a:t>Redux means returned, brought back, revived.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4c2308d52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4c2308d52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GB">
                <a:solidFill>
                  <a:schemeClr val="dk1"/>
                </a:solidFill>
              </a:rPr>
              <a:t>Lengthy development times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DP had to write a program even for the simplest data-</a:t>
            </a:r>
            <a:r>
              <a:rPr lang="en-GB">
                <a:solidFill>
                  <a:schemeClr val="dk1"/>
                </a:solidFill>
              </a:rPr>
              <a:t>retrieval</a:t>
            </a:r>
            <a:r>
              <a:rPr lang="en-GB">
                <a:solidFill>
                  <a:schemeClr val="dk1"/>
                </a:solidFill>
              </a:rPr>
              <a:t>.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 programer had to identify </a:t>
            </a:r>
            <a:r>
              <a:rPr b="1" lang="en-GB">
                <a:solidFill>
                  <a:schemeClr val="dk1"/>
                </a:solidFill>
              </a:rPr>
              <a:t>what</a:t>
            </a:r>
            <a:r>
              <a:rPr lang="en-GB">
                <a:solidFill>
                  <a:schemeClr val="dk1"/>
                </a:solidFill>
              </a:rPr>
              <a:t> needs to be done and </a:t>
            </a:r>
            <a:r>
              <a:rPr b="1" lang="en-GB">
                <a:solidFill>
                  <a:schemeClr val="dk1"/>
                </a:solidFill>
              </a:rPr>
              <a:t>how</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Modern databases use a </a:t>
            </a:r>
            <a:r>
              <a:rPr b="1" lang="en-GB">
                <a:solidFill>
                  <a:schemeClr val="dk1"/>
                </a:solidFill>
              </a:rPr>
              <a:t>non-procedural data manipulation language</a:t>
            </a:r>
            <a:r>
              <a:rPr lang="en-GB">
                <a:solidFill>
                  <a:schemeClr val="dk1"/>
                </a:solidFill>
              </a:rPr>
              <a:t> that allows the use to specify what must be done without specifying how.</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Difficulty of getting quick answers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Complex system administration:</a:t>
            </a:r>
            <a:r>
              <a:rPr lang="en-GB">
                <a:solidFill>
                  <a:schemeClr val="dk1"/>
                </a:solidFill>
              </a:rPr>
              <a:t> The file system method requires </a:t>
            </a:r>
            <a:r>
              <a:rPr b="1" lang="en-GB">
                <a:solidFill>
                  <a:schemeClr val="dk1"/>
                </a:solidFill>
              </a:rPr>
              <a:t>file management programs</a:t>
            </a:r>
            <a:r>
              <a:rPr lang="en-GB">
                <a:solidFill>
                  <a:schemeClr val="dk1"/>
                </a:solidFill>
              </a:rPr>
              <a:t> to access and manipulate data.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Each file needs its own management program</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there are many files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each department owns their own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all this make the administration of data difficult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Lack of security and limited data sharing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Security and data sharing are closely related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security measures are difficult to implements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 file system application provide rudimentary security features but even those are often not used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security features include password protection, locking parts of the data or the management system and maintaining the confidentiality of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Hardship in managing security leads to limited data sharing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Extensive programming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Any minor change to the structure of the file, needs a change in all the programs that use that file (the data management programs)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these extensive changes lead to errors / bugs which in turn need debugging programs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These limitations lead to structural and data dependence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4c2308d52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4c2308d52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4c2308d52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4c2308d52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Logical - how we think about it.</a:t>
            </a:r>
            <a:endParaRPr/>
          </a:p>
          <a:p>
            <a:pPr indent="0" lvl="0" marL="0" rtl="0" algn="l">
              <a:spcBef>
                <a:spcPts val="0"/>
              </a:spcBef>
              <a:spcAft>
                <a:spcPts val="0"/>
              </a:spcAft>
              <a:buNone/>
            </a:pPr>
            <a:r>
              <a:rPr lang="en-GB"/>
              <a:t>Physical - how it is actually done by the computer.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When we have data dependence, we always have to worry about how the computer actually does it. And cannot think in a higher level of abstraction.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55e359eb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55e359eb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For the user to experience data independence, the DB designer needs to translate from logical format to physical format. And make the storage, access and management still work even after the data type is changed.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4c2308d52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4c2308d52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therefore the file management programs need to know how to open a specific file, they need to know the specifications of the records in that file and the definition of the fields to be able to work with the file. </a:t>
            </a:r>
            <a:r>
              <a:rPr b="1" lang="en-GB">
                <a:solidFill>
                  <a:schemeClr val="dk1"/>
                </a:solidFill>
              </a:rPr>
              <a:t>Data dependence makes managing the file system extremely cumbersome</a:t>
            </a:r>
            <a:r>
              <a:rPr lang="en-GB">
                <a:solidFill>
                  <a:schemeClr val="dk1"/>
                </a:solidFill>
              </a:rPr>
              <a:t> for the programmer and database manager as they need to mediate between the logical data format and physical data format </a:t>
            </a:r>
            <a:r>
              <a:rPr b="1" lang="en-GB">
                <a:solidFill>
                  <a:schemeClr val="dk1"/>
                </a:solidFill>
              </a:rPr>
              <a:t>to be able to tell the computer how to do things.</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c2308d52e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c2308d52e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4c2308d52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4c2308d52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GB">
                <a:solidFill>
                  <a:schemeClr val="dk1"/>
                </a:solidFill>
              </a:rPr>
              <a:t>poor data security:</a:t>
            </a:r>
            <a:r>
              <a:rPr lang="en-GB">
                <a:solidFill>
                  <a:schemeClr val="dk1"/>
                </a:solidFill>
              </a:rPr>
              <a:t> multiple versions of the data increases the risk of data exposed to unauthorized access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data inconsistency:</a:t>
            </a:r>
            <a:r>
              <a:rPr lang="en-GB">
                <a:solidFill>
                  <a:schemeClr val="dk1"/>
                </a:solidFill>
              </a:rPr>
              <a:t> data in multiple places needs updating multiple places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data entry errors:</a:t>
            </a:r>
            <a:r>
              <a:rPr lang="en-GB">
                <a:solidFill>
                  <a:schemeClr val="dk1"/>
                </a:solidFill>
              </a:rPr>
              <a:t> more places to edit, more chances to make mistakes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data integrity problems:</a:t>
            </a:r>
            <a:r>
              <a:rPr lang="en-GB">
                <a:solidFill>
                  <a:schemeClr val="dk1"/>
                </a:solidFill>
              </a:rPr>
              <a:t> maybe this becomes more clear with an example. take the customer and agent files. Each agent is a customer. but it is possible to enter into the agent’s file a non-</a:t>
            </a:r>
            <a:r>
              <a:rPr lang="en-GB">
                <a:solidFill>
                  <a:schemeClr val="dk1"/>
                </a:solidFill>
              </a:rPr>
              <a:t>existing</a:t>
            </a:r>
            <a:r>
              <a:rPr lang="en-GB">
                <a:solidFill>
                  <a:schemeClr val="dk1"/>
                </a:solidFill>
              </a:rPr>
              <a:t> customer.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4c2308d52e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4c2308d52e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4c2308d52e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4c2308d52e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c2308d52e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c2308d52e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n-GB" sz="1800">
                <a:solidFill>
                  <a:schemeClr val="dk2"/>
                </a:solidFill>
              </a:rPr>
              <a:t>but what is a DBMS really? and how does it fit into the picture? </a:t>
            </a:r>
            <a:endParaRPr sz="1800">
              <a:solidFill>
                <a:schemeClr val="dk2"/>
              </a:solidFill>
            </a:endParaRPr>
          </a:p>
          <a:p>
            <a:pPr indent="-342900" lvl="0" marL="457200" rtl="0" algn="l">
              <a:lnSpc>
                <a:spcPct val="115000"/>
              </a:lnSpc>
              <a:spcBef>
                <a:spcPts val="1600"/>
              </a:spcBef>
              <a:spcAft>
                <a:spcPts val="1600"/>
              </a:spcAft>
              <a:buClr>
                <a:schemeClr val="dk2"/>
              </a:buClr>
              <a:buSzPts val="1800"/>
              <a:buChar char="-"/>
            </a:pPr>
            <a:r>
              <a:rPr lang="en-GB" sz="1800">
                <a:solidFill>
                  <a:schemeClr val="dk2"/>
                </a:solidFill>
              </a:rPr>
              <a:t>To answer this question we need to learn the components that build up a complete database system.</a:t>
            </a:r>
            <a:endParaRPr b="1" sz="1800">
              <a:solidFill>
                <a:schemeClr val="dk2"/>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62c0bd104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62c0bd104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62c0bd104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62c0bd104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4c2308d52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c2308d52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4c2308d52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4c2308d52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4c2308d52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c2308d52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4c2308d52e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4c2308d52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aaa996c10_0_124: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7aaa996c10_0_1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Introduce example that will recur.</a:t>
            </a:r>
            <a:endParaRPr/>
          </a:p>
        </p:txBody>
      </p:sp>
      <p:sp>
        <p:nvSpPr>
          <p:cNvPr id="204" name="Google Shape;204;g37aaa996c10_0_1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aaa996c10_0_187: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g37aaa996c10_0_1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Explain why metadata matters (self-describing).</a:t>
            </a:r>
            <a:endParaRPr/>
          </a:p>
        </p:txBody>
      </p:sp>
      <p:sp>
        <p:nvSpPr>
          <p:cNvPr id="212" name="Google Shape;212;g37aaa996c10_0_1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aaa996c10_0_245: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7aaa996c10_0_2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Explain categories with examples.</a:t>
            </a:r>
            <a:endParaRPr/>
          </a:p>
        </p:txBody>
      </p:sp>
      <p:sp>
        <p:nvSpPr>
          <p:cNvPr id="220" name="Google Shape;220;g37aaa996c10_0_2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aaa996c10_0_251: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37aaa996c10_0_2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Mention behind-the-scenes contributors.</a:t>
            </a:r>
            <a:endParaRPr/>
          </a:p>
        </p:txBody>
      </p:sp>
      <p:sp>
        <p:nvSpPr>
          <p:cNvPr id="227" name="Google Shape;227;g37aaa996c10_0_2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4c2308d52e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4c2308d52e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4c2308d52e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4c2308d52e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4c2308d52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4c2308d52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4c2308d52e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4c2308d52e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7aaa996c10_0_308: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7aaa996c10_0_3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Introduce relational terminology.</a:t>
            </a:r>
            <a:endParaRPr/>
          </a:p>
        </p:txBody>
      </p:sp>
      <p:sp>
        <p:nvSpPr>
          <p:cNvPr id="255" name="Google Shape;255;g37aaa996c10_0_3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aaa996c10_0_315: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g37aaa996c10_0_3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Point out PKs and FKs in schema diagram.</a:t>
            </a:r>
            <a:endParaRPr/>
          </a:p>
        </p:txBody>
      </p:sp>
      <p:sp>
        <p:nvSpPr>
          <p:cNvPr id="263" name="Google Shape;263;g37aaa996c10_0_3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aaa996c10_0_322: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37aaa996c10_0_3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Use schema diagram arrows to explain constraints.</a:t>
            </a:r>
            <a:endParaRPr/>
          </a:p>
        </p:txBody>
      </p:sp>
      <p:sp>
        <p:nvSpPr>
          <p:cNvPr id="271" name="Google Shape;271;g37aaa996c10_0_3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aaa996c10_0_329: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g37aaa996c10_0_3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Explain with analogy: blueprint vs current house state.</a:t>
            </a:r>
            <a:endParaRPr/>
          </a:p>
        </p:txBody>
      </p:sp>
      <p:sp>
        <p:nvSpPr>
          <p:cNvPr id="279" name="Google Shape;279;g37aaa996c10_0_3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7aaa996c10_0_342:notes"/>
          <p:cNvSpPr/>
          <p:nvPr>
            <p:ph idx="2" type="sldImg"/>
          </p:nvPr>
        </p:nvSpPr>
        <p:spPr>
          <a:xfrm>
            <a:off x="-500000" y="0"/>
            <a:ext cx="39999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7aaa996c10_0_3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Show flexibility in design.</a:t>
            </a:r>
            <a:endParaRPr/>
          </a:p>
        </p:txBody>
      </p:sp>
      <p:sp>
        <p:nvSpPr>
          <p:cNvPr id="286" name="Google Shape;286;g37aaa996c10_0_3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 name="Google Shape;53;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600"/>
              </a:spcBef>
              <a:spcAft>
                <a:spcPts val="0"/>
              </a:spcAft>
              <a:buClr>
                <a:schemeClr val="dk1"/>
              </a:buClr>
              <a:buSzPts val="1800"/>
              <a:buChar char="○"/>
              <a:defRPr/>
            </a:lvl2pPr>
            <a:lvl3pPr indent="-342900" lvl="2" marL="1371600" algn="l">
              <a:spcBef>
                <a:spcPts val="1600"/>
              </a:spcBef>
              <a:spcAft>
                <a:spcPts val="0"/>
              </a:spcAft>
              <a:buClr>
                <a:schemeClr val="dk1"/>
              </a:buClr>
              <a:buSzPts val="1800"/>
              <a:buChar char="■"/>
              <a:defRPr/>
            </a:lvl3pPr>
            <a:lvl4pPr indent="-342900" lvl="3" marL="1828800" algn="l">
              <a:spcBef>
                <a:spcPts val="1600"/>
              </a:spcBef>
              <a:spcAft>
                <a:spcPts val="0"/>
              </a:spcAft>
              <a:buClr>
                <a:schemeClr val="dk1"/>
              </a:buClr>
              <a:buSzPts val="1800"/>
              <a:buChar char="●"/>
              <a:defRPr/>
            </a:lvl4pPr>
            <a:lvl5pPr indent="-342900" lvl="4" marL="2286000" algn="l">
              <a:spcBef>
                <a:spcPts val="1600"/>
              </a:spcBef>
              <a:spcAft>
                <a:spcPts val="0"/>
              </a:spcAft>
              <a:buClr>
                <a:schemeClr val="dk1"/>
              </a:buClr>
              <a:buSzPts val="1800"/>
              <a:buChar char="○"/>
              <a:defRPr/>
            </a:lvl5pPr>
            <a:lvl6pPr indent="-342900" lvl="5" marL="2743200" algn="l">
              <a:spcBef>
                <a:spcPts val="1600"/>
              </a:spcBef>
              <a:spcAft>
                <a:spcPts val="0"/>
              </a:spcAft>
              <a:buClr>
                <a:schemeClr val="dk1"/>
              </a:buClr>
              <a:buSzPts val="1800"/>
              <a:buChar char="■"/>
              <a:defRPr/>
            </a:lvl6pPr>
            <a:lvl7pPr indent="-342900" lvl="6" marL="3200400" algn="l">
              <a:spcBef>
                <a:spcPts val="1600"/>
              </a:spcBef>
              <a:spcAft>
                <a:spcPts val="0"/>
              </a:spcAft>
              <a:buClr>
                <a:schemeClr val="dk1"/>
              </a:buClr>
              <a:buSzPts val="1800"/>
              <a:buChar char="●"/>
              <a:defRPr/>
            </a:lvl7pPr>
            <a:lvl8pPr indent="-342900" lvl="7" marL="3657600" algn="l">
              <a:spcBef>
                <a:spcPts val="1600"/>
              </a:spcBef>
              <a:spcAft>
                <a:spcPts val="0"/>
              </a:spcAft>
              <a:buClr>
                <a:schemeClr val="dk1"/>
              </a:buClr>
              <a:buSzPts val="1800"/>
              <a:buChar char="○"/>
              <a:defRPr/>
            </a:lvl8pPr>
            <a:lvl9pPr indent="-342900" lvl="8" marL="4114800" algn="l">
              <a:spcBef>
                <a:spcPts val="1600"/>
              </a:spcBef>
              <a:spcAft>
                <a:spcPts val="1600"/>
              </a:spcAft>
              <a:buClr>
                <a:schemeClr val="dk1"/>
              </a:buClr>
              <a:buSzPts val="1800"/>
              <a:buChar char="■"/>
              <a:defRPr/>
            </a:lvl9pPr>
          </a:lstStyle>
          <a:p/>
        </p:txBody>
      </p:sp>
      <p:sp>
        <p:nvSpPr>
          <p:cNvPr id="54" name="Google Shape;54;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nvSpPr>
        <p:spPr>
          <a:xfrm>
            <a:off x="311700" y="4663225"/>
            <a:ext cx="34593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E56B6A"/>
                </a:solidFill>
                <a:latin typeface="Lora"/>
                <a:ea typeface="Lora"/>
                <a:cs typeface="Lora"/>
                <a:sym typeface="Lora"/>
              </a:rPr>
              <a:t>COMP 2714</a:t>
            </a:r>
            <a:r>
              <a:rPr lang="en-GB" sz="1000">
                <a:latin typeface="Lora"/>
                <a:ea typeface="Lora"/>
                <a:cs typeface="Lora"/>
                <a:sym typeface="Lora"/>
              </a:rPr>
              <a:t> - </a:t>
            </a:r>
            <a:r>
              <a:rPr b="1" lang="en-GB" sz="1000">
                <a:latin typeface="Lora"/>
                <a:ea typeface="Lora"/>
                <a:cs typeface="Lora"/>
                <a:sym typeface="Lora"/>
              </a:rPr>
              <a:t>Maryam Khezrzadeh</a:t>
            </a:r>
            <a:endParaRPr b="1" sz="1000">
              <a:latin typeface="Lora"/>
              <a:ea typeface="Lora"/>
              <a:cs typeface="Lora"/>
              <a:sym typeface="Lora"/>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558431"/>
            <a:ext cx="8520600" cy="1539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Module 1: Introduction to Relational Databases</a:t>
            </a:r>
            <a:endParaRPr/>
          </a:p>
        </p:txBody>
      </p:sp>
      <p:sp>
        <p:nvSpPr>
          <p:cNvPr id="63" name="Google Shape;63;p14"/>
          <p:cNvSpPr txBox="1"/>
          <p:nvPr>
            <p:ph idx="1" type="subTitle"/>
          </p:nvPr>
        </p:nvSpPr>
        <p:spPr>
          <a:xfrm>
            <a:off x="311700" y="2125594"/>
            <a:ext cx="8520600" cy="594600"/>
          </a:xfrm>
          <a:prstGeom prst="rect">
            <a:avLst/>
          </a:prstGeom>
          <a:noFill/>
          <a:ln>
            <a:noFill/>
          </a:ln>
        </p:spPr>
        <p:txBody>
          <a:bodyPr anchorCtr="0" anchor="t" bIns="45700" lIns="91425" spcFirstLastPara="1" rIns="91425" wrap="square" tIns="45700">
            <a:normAutofit fontScale="47500"/>
          </a:bodyPr>
          <a:lstStyle/>
          <a:p>
            <a:pPr indent="0" lvl="0" marL="0" rtl="0" algn="ctr">
              <a:spcBef>
                <a:spcPts val="0"/>
              </a:spcBef>
              <a:spcAft>
                <a:spcPts val="0"/>
              </a:spcAft>
              <a:buClr>
                <a:srgbClr val="888888"/>
              </a:buClr>
              <a:buSzPct val="114285"/>
              <a:buNone/>
            </a:pPr>
            <a:r>
              <a:rPr lang="en-GB">
                <a:solidFill>
                  <a:srgbClr val="888888"/>
                </a:solidFill>
              </a:rPr>
              <a:t>COMP 2714 – Relational Database Systems</a:t>
            </a:r>
            <a:endParaRPr/>
          </a:p>
          <a:p>
            <a:pPr indent="0" lvl="0" marL="0" rtl="0" algn="ctr">
              <a:spcBef>
                <a:spcPts val="640"/>
              </a:spcBef>
              <a:spcAft>
                <a:spcPts val="0"/>
              </a:spcAft>
              <a:buClr>
                <a:srgbClr val="888888"/>
              </a:buClr>
              <a:buSzPct val="114285"/>
              <a:buNone/>
            </a:pPr>
            <a:r>
              <a:rPr lang="en-GB">
                <a:solidFill>
                  <a:srgbClr val="888888"/>
                </a:solidFill>
              </a:rPr>
              <a:t>Learning Outcome: LO1 – Describe the functions and characteristics of the relational database model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What you will learn …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the end of this class you will be able to:</a:t>
            </a:r>
            <a:endParaRPr/>
          </a:p>
          <a:p>
            <a:pPr indent="-317500" lvl="0" marL="457200" rtl="0" algn="l">
              <a:spcBef>
                <a:spcPts val="1600"/>
              </a:spcBef>
              <a:spcAft>
                <a:spcPts val="0"/>
              </a:spcAft>
              <a:buSzPts val="1400"/>
              <a:buChar char="-"/>
            </a:pPr>
            <a:r>
              <a:rPr lang="en-GB" sz="1400"/>
              <a:t>Define the </a:t>
            </a:r>
            <a:r>
              <a:rPr b="1" lang="en-GB" sz="1400"/>
              <a:t>difference between data and information</a:t>
            </a:r>
            <a:endParaRPr b="1" sz="1400"/>
          </a:p>
          <a:p>
            <a:pPr indent="-317500" lvl="0" marL="457200" rtl="0" algn="l">
              <a:spcBef>
                <a:spcPts val="0"/>
              </a:spcBef>
              <a:spcAft>
                <a:spcPts val="0"/>
              </a:spcAft>
              <a:buSzPts val="1400"/>
              <a:buChar char="-"/>
            </a:pPr>
            <a:r>
              <a:rPr lang="en-GB" sz="1400"/>
              <a:t>See how modern databases evolved from </a:t>
            </a:r>
            <a:r>
              <a:rPr b="1" lang="en-GB" sz="1400"/>
              <a:t>file systems</a:t>
            </a:r>
            <a:endParaRPr b="1" sz="1400"/>
          </a:p>
          <a:p>
            <a:pPr indent="-317500" lvl="0" marL="457200" rtl="0" algn="l">
              <a:spcBef>
                <a:spcPts val="0"/>
              </a:spcBef>
              <a:spcAft>
                <a:spcPts val="0"/>
              </a:spcAft>
              <a:buSzPts val="1400"/>
              <a:buChar char="-"/>
            </a:pPr>
            <a:r>
              <a:rPr lang="en-GB" sz="1400"/>
              <a:t>Understand </a:t>
            </a:r>
            <a:r>
              <a:rPr b="1" lang="en-GB" sz="1400"/>
              <a:t>flaws</a:t>
            </a:r>
            <a:r>
              <a:rPr lang="en-GB" sz="1400"/>
              <a:t> in file system data management</a:t>
            </a:r>
            <a:endParaRPr sz="1400"/>
          </a:p>
          <a:p>
            <a:pPr indent="-317500" lvl="0" marL="457200" rtl="0" algn="l">
              <a:spcBef>
                <a:spcPts val="0"/>
              </a:spcBef>
              <a:spcAft>
                <a:spcPts val="0"/>
              </a:spcAft>
              <a:buSzPts val="1400"/>
              <a:buChar char="-"/>
            </a:pPr>
            <a:r>
              <a:rPr lang="en-GB" sz="1400"/>
              <a:t>Describe what a </a:t>
            </a:r>
            <a:r>
              <a:rPr b="1" lang="en-GB" sz="1400"/>
              <a:t>database</a:t>
            </a:r>
            <a:r>
              <a:rPr lang="en-GB" sz="1400"/>
              <a:t> is, various types of database, and why they are valuable assets for decision making</a:t>
            </a:r>
            <a:endParaRPr sz="1400"/>
          </a:p>
          <a:p>
            <a:pPr indent="-317500" lvl="0" marL="457200" rtl="0" algn="l">
              <a:spcBef>
                <a:spcPts val="0"/>
              </a:spcBef>
              <a:spcAft>
                <a:spcPts val="0"/>
              </a:spcAft>
              <a:buSzPts val="1400"/>
              <a:buChar char="-"/>
            </a:pPr>
            <a:r>
              <a:rPr lang="en-GB" sz="1400"/>
              <a:t>Explain the </a:t>
            </a:r>
            <a:r>
              <a:rPr b="1" lang="en-GB" sz="1400"/>
              <a:t>importance of database design</a:t>
            </a:r>
            <a:endParaRPr sz="1400"/>
          </a:p>
          <a:p>
            <a:pPr indent="-317500" lvl="0" marL="457200" rtl="0" algn="l">
              <a:spcBef>
                <a:spcPts val="0"/>
              </a:spcBef>
              <a:spcAft>
                <a:spcPts val="0"/>
              </a:spcAft>
              <a:buSzPts val="1400"/>
              <a:buChar char="-"/>
            </a:pPr>
            <a:r>
              <a:rPr lang="en-GB" sz="1400"/>
              <a:t>Outline the </a:t>
            </a:r>
            <a:r>
              <a:rPr b="1" lang="en-GB" sz="1400"/>
              <a:t>main components</a:t>
            </a:r>
            <a:r>
              <a:rPr lang="en-GB" sz="1400"/>
              <a:t> of the database system</a:t>
            </a:r>
            <a:endParaRPr sz="1400"/>
          </a:p>
          <a:p>
            <a:pPr indent="-317500" lvl="0" marL="457200" rtl="0" algn="l">
              <a:spcBef>
                <a:spcPts val="0"/>
              </a:spcBef>
              <a:spcAft>
                <a:spcPts val="0"/>
              </a:spcAft>
              <a:buSzPts val="1400"/>
              <a:buChar char="-"/>
            </a:pPr>
            <a:r>
              <a:rPr lang="en-GB" sz="1400"/>
              <a:t>Describe the main functions of a database management system (</a:t>
            </a:r>
            <a:r>
              <a:rPr b="1" lang="en-GB" sz="1400"/>
              <a:t>DBMS</a:t>
            </a:r>
            <a:r>
              <a:rPr lang="en-GB" sz="1400"/>
              <a:t>)</a:t>
            </a:r>
            <a:endParaRPr sz="1400"/>
          </a:p>
          <a:p>
            <a:pPr indent="0" lvl="0" marL="0" rtl="0" algn="l">
              <a:spcBef>
                <a:spcPts val="1600"/>
              </a:spcBef>
              <a:spcAft>
                <a:spcPts val="160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Everybody is talking about Data!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Why is it that </a:t>
            </a:r>
            <a:r>
              <a:rPr b="1" lang="en-GB">
                <a:highlight>
                  <a:srgbClr val="FFFF00"/>
                </a:highlight>
              </a:rPr>
              <a:t>data &amp; information</a:t>
            </a:r>
            <a:r>
              <a:rPr lang="en-GB"/>
              <a:t> have become so important? </a:t>
            </a:r>
            <a:endParaRPr/>
          </a:p>
          <a:p>
            <a:pPr indent="-342900" lvl="0" marL="457200" rtl="0" algn="l">
              <a:spcBef>
                <a:spcPts val="0"/>
              </a:spcBef>
              <a:spcAft>
                <a:spcPts val="0"/>
              </a:spcAft>
              <a:buSzPts val="1800"/>
              <a:buChar char="-"/>
            </a:pPr>
            <a:r>
              <a:rPr lang="en-GB"/>
              <a:t>Data is nothing extraordinary - everything that captures our attention and is </a:t>
            </a:r>
            <a:r>
              <a:rPr b="1" lang="en-GB">
                <a:highlight>
                  <a:srgbClr val="00FFFF"/>
                </a:highlight>
              </a:rPr>
              <a:t>relevant</a:t>
            </a:r>
            <a:r>
              <a:rPr lang="en-GB"/>
              <a:t> to us to know is data.</a:t>
            </a:r>
            <a:endParaRPr/>
          </a:p>
          <a:p>
            <a:pPr indent="-342900" lvl="0" marL="457200" rtl="0" algn="l">
              <a:spcBef>
                <a:spcPts val="0"/>
              </a:spcBef>
              <a:spcAft>
                <a:spcPts val="0"/>
              </a:spcAft>
              <a:buSzPts val="1800"/>
              <a:buChar char="-"/>
            </a:pPr>
            <a:r>
              <a:rPr lang="en-GB"/>
              <a:t>We, as humans have to have information </a:t>
            </a:r>
            <a:r>
              <a:rPr b="1" lang="en-GB">
                <a:highlight>
                  <a:srgbClr val="00FF00"/>
                </a:highlight>
              </a:rPr>
              <a:t>to make decisions.</a:t>
            </a:r>
            <a:endParaRPr/>
          </a:p>
          <a:p>
            <a:pPr indent="0" lvl="0" marL="0" rtl="0" algn="l">
              <a:spcBef>
                <a:spcPts val="1600"/>
              </a:spcBef>
              <a:spcAft>
                <a:spcPts val="0"/>
              </a:spcAft>
              <a:buNone/>
            </a:pPr>
            <a:r>
              <a:t/>
            </a:r>
            <a:endParaRPr/>
          </a:p>
          <a:p>
            <a:pPr indent="0" lvl="0" marL="457200" rtl="0" algn="ctr">
              <a:spcBef>
                <a:spcPts val="1600"/>
              </a:spcBef>
              <a:spcAft>
                <a:spcPts val="1600"/>
              </a:spcAft>
              <a:buNone/>
            </a:pPr>
            <a:r>
              <a:t/>
            </a:r>
            <a:endParaRPr b="1"/>
          </a:p>
        </p:txBody>
      </p:sp>
      <p:pic>
        <p:nvPicPr>
          <p:cNvPr id="76" name="Google Shape;76;p16"/>
          <p:cNvPicPr preferRelativeResize="0"/>
          <p:nvPr/>
        </p:nvPicPr>
        <p:blipFill>
          <a:blip r:embed="rId3">
            <a:alphaModFix/>
          </a:blip>
          <a:stretch>
            <a:fillRect/>
          </a:stretch>
        </p:blipFill>
        <p:spPr>
          <a:xfrm>
            <a:off x="476168" y="3141443"/>
            <a:ext cx="1005600" cy="1005600"/>
          </a:xfrm>
          <a:prstGeom prst="rect">
            <a:avLst/>
          </a:prstGeom>
          <a:noFill/>
          <a:ln>
            <a:noFill/>
          </a:ln>
        </p:spPr>
      </p:pic>
      <p:sp>
        <p:nvSpPr>
          <p:cNvPr id="77" name="Google Shape;77;p16"/>
          <p:cNvSpPr txBox="1"/>
          <p:nvPr/>
        </p:nvSpPr>
        <p:spPr>
          <a:xfrm>
            <a:off x="593400" y="3429025"/>
            <a:ext cx="7957200" cy="894000"/>
          </a:xfrm>
          <a:prstGeom prst="rect">
            <a:avLst/>
          </a:prstGeom>
          <a:noFill/>
          <a:ln>
            <a:noFill/>
          </a:ln>
        </p:spPr>
        <p:txBody>
          <a:bodyPr anchorCtr="0" anchor="t" bIns="91425" lIns="91425" spcFirstLastPara="1" rIns="91425" wrap="square" tIns="91425">
            <a:noAutofit/>
          </a:bodyPr>
          <a:lstStyle/>
          <a:p>
            <a:pPr indent="0" lvl="0" marL="457200" rtl="0" algn="ctr">
              <a:lnSpc>
                <a:spcPct val="115000"/>
              </a:lnSpc>
              <a:spcBef>
                <a:spcPts val="0"/>
              </a:spcBef>
              <a:spcAft>
                <a:spcPts val="1600"/>
              </a:spcAft>
              <a:buClr>
                <a:schemeClr val="dk1"/>
              </a:buClr>
              <a:buSzPts val="1100"/>
              <a:buFont typeface="Arial"/>
              <a:buNone/>
            </a:pPr>
            <a:r>
              <a:rPr lang="en-GB" sz="1800">
                <a:solidFill>
                  <a:schemeClr val="dk2"/>
                </a:solidFill>
              </a:rPr>
              <a:t>     </a:t>
            </a:r>
            <a:r>
              <a:rPr b="1" lang="en-GB" sz="1800">
                <a:solidFill>
                  <a:schemeClr val="dk2"/>
                </a:solidFill>
              </a:rPr>
              <a:t>But what is information and what do we exactly mean by data?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&amp; Information</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Data are the </a:t>
            </a:r>
            <a:r>
              <a:rPr b="1" lang="en-GB">
                <a:highlight>
                  <a:srgbClr val="FFFF00"/>
                </a:highlight>
              </a:rPr>
              <a:t>raw facts</a:t>
            </a:r>
            <a:endParaRPr b="1">
              <a:highlight>
                <a:srgbClr val="FFFF00"/>
              </a:highlight>
            </a:endParaRPr>
          </a:p>
          <a:p>
            <a:pPr indent="-342900" lvl="0" marL="457200" rtl="0" algn="l">
              <a:spcBef>
                <a:spcPts val="0"/>
              </a:spcBef>
              <a:spcAft>
                <a:spcPts val="0"/>
              </a:spcAft>
              <a:buSzPts val="1800"/>
              <a:buChar char="-"/>
            </a:pPr>
            <a:r>
              <a:rPr lang="en-GB"/>
              <a:t>Information is the result of processing raw data to reveal its </a:t>
            </a:r>
            <a:r>
              <a:rPr b="1" lang="en-GB">
                <a:highlight>
                  <a:srgbClr val="00FFFF"/>
                </a:highlight>
              </a:rPr>
              <a:t>meaning</a:t>
            </a:r>
            <a:endParaRPr b="1">
              <a:highlight>
                <a:srgbClr val="00FFFF"/>
              </a:highlight>
            </a:endParaRPr>
          </a:p>
          <a:p>
            <a:pPr indent="-342900" lvl="0" marL="457200" rtl="0" algn="l">
              <a:spcBef>
                <a:spcPts val="0"/>
              </a:spcBef>
              <a:spcAft>
                <a:spcPts val="0"/>
              </a:spcAft>
              <a:buSzPts val="1800"/>
              <a:buChar char="-"/>
            </a:pPr>
            <a:r>
              <a:rPr lang="en-GB"/>
              <a:t>To produce information you need to </a:t>
            </a:r>
            <a:r>
              <a:rPr lang="en-GB">
                <a:highlight>
                  <a:srgbClr val="00FF00"/>
                </a:highlight>
              </a:rPr>
              <a:t>start with a </a:t>
            </a:r>
            <a:r>
              <a:rPr b="1" lang="en-GB">
                <a:highlight>
                  <a:srgbClr val="00FF00"/>
                </a:highlight>
              </a:rPr>
              <a:t>question</a:t>
            </a:r>
            <a:endParaRPr b="1">
              <a:highlight>
                <a:srgbClr val="00FF00"/>
              </a:highlight>
            </a:endParaRPr>
          </a:p>
          <a:p>
            <a:pPr indent="0" lvl="0" marL="0" rtl="0" algn="l">
              <a:spcBef>
                <a:spcPts val="1600"/>
              </a:spcBef>
              <a:spcAft>
                <a:spcPts val="0"/>
              </a:spcAft>
              <a:buNone/>
            </a:pPr>
            <a:r>
              <a:t/>
            </a:r>
            <a:endParaRPr b="1">
              <a:highlight>
                <a:srgbClr val="00FF00"/>
              </a:highlight>
            </a:endParaRPr>
          </a:p>
          <a:p>
            <a:pPr indent="0" lvl="0" marL="0" rtl="0" algn="l">
              <a:spcBef>
                <a:spcPts val="1600"/>
              </a:spcBef>
              <a:spcAft>
                <a:spcPts val="0"/>
              </a:spcAft>
              <a:buNone/>
            </a:pPr>
            <a:r>
              <a:t/>
            </a:r>
            <a:endParaRPr b="1">
              <a:highlight>
                <a:srgbClr val="00FF00"/>
              </a:highlight>
            </a:endParaRPr>
          </a:p>
          <a:p>
            <a:pPr indent="0" lvl="0" marL="0" rtl="0" algn="l">
              <a:spcBef>
                <a:spcPts val="1600"/>
              </a:spcBef>
              <a:spcAft>
                <a:spcPts val="1600"/>
              </a:spcAft>
              <a:buNone/>
            </a:pPr>
            <a:r>
              <a:t/>
            </a:r>
            <a:endParaRPr b="1">
              <a:highlight>
                <a:srgbClr val="00FF00"/>
              </a:highlight>
            </a:endParaRPr>
          </a:p>
        </p:txBody>
      </p:sp>
      <p:sp>
        <p:nvSpPr>
          <p:cNvPr id="84" name="Google Shape;84;p17"/>
          <p:cNvSpPr txBox="1"/>
          <p:nvPr>
            <p:ph idx="1" type="body"/>
          </p:nvPr>
        </p:nvSpPr>
        <p:spPr>
          <a:xfrm>
            <a:off x="491325" y="3055425"/>
            <a:ext cx="8520600" cy="108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How do we</a:t>
            </a:r>
            <a:r>
              <a:rPr b="1" lang="en-GB"/>
              <a:t> store, process and manage </a:t>
            </a:r>
            <a:r>
              <a:rPr lang="en-GB"/>
              <a:t>data and information? </a:t>
            </a:r>
            <a:endParaRPr>
              <a:highlight>
                <a:srgbClr val="00FF00"/>
              </a:highlight>
            </a:endParaRPr>
          </a:p>
          <a:p>
            <a:pPr indent="0" lvl="0" marL="0" rtl="0" algn="l">
              <a:spcBef>
                <a:spcPts val="1600"/>
              </a:spcBef>
              <a:spcAft>
                <a:spcPts val="0"/>
              </a:spcAft>
              <a:buNone/>
            </a:pPr>
            <a:r>
              <a:t/>
            </a:r>
            <a:endParaRPr b="1">
              <a:highlight>
                <a:srgbClr val="00FF00"/>
              </a:highlight>
            </a:endParaRPr>
          </a:p>
          <a:p>
            <a:pPr indent="0" lvl="0" marL="0" rtl="0" algn="l">
              <a:spcBef>
                <a:spcPts val="1600"/>
              </a:spcBef>
              <a:spcAft>
                <a:spcPts val="0"/>
              </a:spcAft>
              <a:buNone/>
            </a:pPr>
            <a:r>
              <a:t/>
            </a:r>
            <a:endParaRPr b="1">
              <a:highlight>
                <a:srgbClr val="00FF00"/>
              </a:highlight>
            </a:endParaRPr>
          </a:p>
          <a:p>
            <a:pPr indent="0" lvl="0" marL="0" rtl="0" algn="l">
              <a:spcBef>
                <a:spcPts val="1600"/>
              </a:spcBef>
              <a:spcAft>
                <a:spcPts val="1600"/>
              </a:spcAft>
              <a:buNone/>
            </a:pPr>
            <a:r>
              <a:t/>
            </a:r>
            <a:endParaRPr b="1">
              <a:highlight>
                <a:srgbClr val="00FF00"/>
              </a:highlight>
            </a:endParaRPr>
          </a:p>
        </p:txBody>
      </p:sp>
      <p:pic>
        <p:nvPicPr>
          <p:cNvPr id="85" name="Google Shape;85;p17"/>
          <p:cNvPicPr preferRelativeResize="0"/>
          <p:nvPr/>
        </p:nvPicPr>
        <p:blipFill>
          <a:blip r:embed="rId3">
            <a:alphaModFix/>
          </a:blip>
          <a:stretch>
            <a:fillRect/>
          </a:stretch>
        </p:blipFill>
        <p:spPr>
          <a:xfrm>
            <a:off x="491318" y="2757618"/>
            <a:ext cx="1005600" cy="1005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Why Databases?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We need information </a:t>
            </a:r>
            <a:r>
              <a:rPr b="1" lang="en-GB">
                <a:highlight>
                  <a:srgbClr val="FFFF00"/>
                </a:highlight>
              </a:rPr>
              <a:t>to make better decisions</a:t>
            </a:r>
            <a:endParaRPr/>
          </a:p>
          <a:p>
            <a:pPr indent="-342900" lvl="0" marL="457200" rtl="0" algn="l">
              <a:spcBef>
                <a:spcPts val="0"/>
              </a:spcBef>
              <a:spcAft>
                <a:spcPts val="0"/>
              </a:spcAft>
              <a:buSzPts val="1800"/>
              <a:buChar char="-"/>
            </a:pPr>
            <a:r>
              <a:rPr lang="en-GB"/>
              <a:t>Our brain has evolved to </a:t>
            </a:r>
            <a:r>
              <a:rPr b="1" lang="en-GB">
                <a:highlight>
                  <a:srgbClr val="00FFFF"/>
                </a:highlight>
              </a:rPr>
              <a:t>create categories of information</a:t>
            </a:r>
            <a:r>
              <a:rPr lang="en-GB"/>
              <a:t> and then somehow </a:t>
            </a:r>
            <a:r>
              <a:rPr b="1" lang="en-GB">
                <a:highlight>
                  <a:srgbClr val="00FF00"/>
                </a:highlight>
              </a:rPr>
              <a:t>link them together</a:t>
            </a:r>
            <a:r>
              <a:rPr lang="en-GB"/>
              <a:t>, building a structure</a:t>
            </a:r>
            <a:endParaRPr/>
          </a:p>
          <a:p>
            <a:pPr indent="-342900" lvl="0" marL="457200" rtl="0" algn="l">
              <a:spcBef>
                <a:spcPts val="0"/>
              </a:spcBef>
              <a:spcAft>
                <a:spcPts val="0"/>
              </a:spcAft>
              <a:buSzPts val="1800"/>
              <a:buChar char="-"/>
            </a:pPr>
            <a:r>
              <a:rPr lang="en-GB"/>
              <a:t>Our memory accesses the data &amp; information we need through these structures </a:t>
            </a:r>
            <a:endParaRPr/>
          </a:p>
          <a:p>
            <a:pPr indent="-342900" lvl="0" marL="457200" rtl="0" algn="l">
              <a:spcBef>
                <a:spcPts val="0"/>
              </a:spcBef>
              <a:spcAft>
                <a:spcPts val="0"/>
              </a:spcAft>
              <a:buSzPts val="1800"/>
              <a:buChar char="-"/>
            </a:pPr>
            <a:r>
              <a:rPr lang="en-GB"/>
              <a:t>With </a:t>
            </a:r>
            <a:r>
              <a:rPr b="1" lang="en-GB">
                <a:highlight>
                  <a:srgbClr val="FFE599"/>
                </a:highlight>
              </a:rPr>
              <a:t>Relational Database Design</a:t>
            </a:r>
            <a:r>
              <a:rPr lang="en-GB"/>
              <a:t>, we are trying to do (for the computer) what our brain does naturally: defining structures for storing data to make </a:t>
            </a:r>
            <a:r>
              <a:rPr i="1" lang="en-GB"/>
              <a:t>finding</a:t>
            </a:r>
            <a:r>
              <a:rPr lang="en-GB"/>
              <a:t>, </a:t>
            </a:r>
            <a:r>
              <a:rPr i="1" lang="en-GB"/>
              <a:t>changing</a:t>
            </a:r>
            <a:r>
              <a:rPr lang="en-GB"/>
              <a:t> and </a:t>
            </a:r>
            <a:r>
              <a:rPr i="1" lang="en-GB"/>
              <a:t>managing</a:t>
            </a:r>
            <a:r>
              <a:rPr lang="en-GB"/>
              <a:t> information more seamless, efficient and reliable. </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490250" y="450150"/>
            <a:ext cx="80925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2400"/>
              <a:t>Databases are </a:t>
            </a:r>
            <a:r>
              <a:rPr b="1" lang="en-GB" sz="2400">
                <a:highlight>
                  <a:srgbClr val="FFFF00"/>
                </a:highlight>
              </a:rPr>
              <a:t>the tool</a:t>
            </a:r>
            <a:r>
              <a:rPr lang="en-GB" sz="2400"/>
              <a:t> for data &amp; information storage </a:t>
            </a:r>
            <a:r>
              <a:rPr lang="en-GB" sz="2400"/>
              <a:t>and</a:t>
            </a:r>
            <a:r>
              <a:rPr lang="en-GB" sz="2400"/>
              <a:t> management. They have </a:t>
            </a:r>
            <a:r>
              <a:rPr b="1" lang="en-GB" sz="2400">
                <a:highlight>
                  <a:srgbClr val="00FFFF"/>
                </a:highlight>
              </a:rPr>
              <a:t>evolved over decades</a:t>
            </a:r>
            <a:r>
              <a:rPr lang="en-GB" sz="2400"/>
              <a:t> to respond to our </a:t>
            </a:r>
            <a:r>
              <a:rPr b="1" lang="en-GB" sz="2400">
                <a:highlight>
                  <a:srgbClr val="FFE599"/>
                </a:highlight>
              </a:rPr>
              <a:t>information needs</a:t>
            </a:r>
            <a:r>
              <a:rPr lang="en-GB" sz="2400"/>
              <a:t>.</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Evolution of File System Data Processing</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Manual file systems</a:t>
            </a:r>
            <a:endParaRPr/>
          </a:p>
          <a:p>
            <a:pPr indent="457200" lvl="0" marL="0" rtl="0" algn="l">
              <a:spcBef>
                <a:spcPts val="1600"/>
              </a:spcBef>
              <a:spcAft>
                <a:spcPts val="0"/>
              </a:spcAft>
              <a:buClr>
                <a:schemeClr val="dk1"/>
              </a:buClr>
              <a:buSzPts val="1100"/>
              <a:buFont typeface="Arial"/>
              <a:buNone/>
            </a:pPr>
            <a:r>
              <a:rPr lang="en-GB" sz="1400"/>
              <a:t>Accomplished through a system of </a:t>
            </a:r>
            <a:r>
              <a:rPr b="1" lang="en-GB" sz="1400">
                <a:highlight>
                  <a:srgbClr val="FFFF00"/>
                </a:highlight>
              </a:rPr>
              <a:t>file folders and filing cabinets</a:t>
            </a:r>
            <a:endParaRPr b="1" sz="1400">
              <a:highlight>
                <a:srgbClr val="FFFF00"/>
              </a:highlight>
            </a:endParaRPr>
          </a:p>
          <a:p>
            <a:pPr indent="-342900" lvl="0" marL="457200" rtl="0" algn="l">
              <a:spcBef>
                <a:spcPts val="1600"/>
              </a:spcBef>
              <a:spcAft>
                <a:spcPts val="0"/>
              </a:spcAft>
              <a:buSzPts val="1800"/>
              <a:buAutoNum type="arabicPeriod"/>
            </a:pPr>
            <a:r>
              <a:rPr lang="en-GB"/>
              <a:t>Computerized file systems </a:t>
            </a:r>
            <a:endParaRPr/>
          </a:p>
          <a:p>
            <a:pPr indent="0" lvl="0" marL="457200" rtl="0" algn="l">
              <a:spcBef>
                <a:spcPts val="1600"/>
              </a:spcBef>
              <a:spcAft>
                <a:spcPts val="0"/>
              </a:spcAft>
              <a:buClr>
                <a:schemeClr val="dk1"/>
              </a:buClr>
              <a:buSzPts val="1100"/>
              <a:buFont typeface="Arial"/>
              <a:buNone/>
            </a:pPr>
            <a:r>
              <a:rPr b="1" lang="en-GB" sz="1400">
                <a:highlight>
                  <a:srgbClr val="D9EAD3"/>
                </a:highlight>
              </a:rPr>
              <a:t>Data processing (DP) specialist</a:t>
            </a:r>
            <a:r>
              <a:rPr lang="en-GB" sz="1400"/>
              <a:t> created a computer-based system to track data and produce required reports</a:t>
            </a:r>
            <a:endParaRPr sz="1400"/>
          </a:p>
          <a:p>
            <a:pPr indent="-342900" lvl="0" marL="457200" rtl="0" algn="l">
              <a:spcBef>
                <a:spcPts val="1600"/>
              </a:spcBef>
              <a:spcAft>
                <a:spcPts val="0"/>
              </a:spcAft>
              <a:buSzPts val="1800"/>
              <a:buAutoNum type="arabicPeriod"/>
            </a:pPr>
            <a:r>
              <a:rPr lang="en-GB"/>
              <a:t>Modern end-user productivity tools (</a:t>
            </a:r>
            <a:r>
              <a:rPr lang="en-GB" sz="1400"/>
              <a:t>kind of going back to file systems! </a:t>
            </a:r>
            <a:r>
              <a:rPr lang="en-GB"/>
              <a:t>)</a:t>
            </a:r>
            <a:endParaRPr/>
          </a:p>
          <a:p>
            <a:pPr indent="457200" lvl="0" marL="0" rtl="0" algn="l">
              <a:spcBef>
                <a:spcPts val="1600"/>
              </a:spcBef>
              <a:spcAft>
                <a:spcPts val="0"/>
              </a:spcAft>
              <a:buClr>
                <a:schemeClr val="dk1"/>
              </a:buClr>
              <a:buSzPts val="1100"/>
              <a:buFont typeface="Arial"/>
              <a:buNone/>
            </a:pPr>
            <a:r>
              <a:rPr lang="en-GB" sz="1400"/>
              <a:t>Includes </a:t>
            </a:r>
            <a:r>
              <a:rPr b="1" lang="en-GB" sz="1400">
                <a:highlight>
                  <a:srgbClr val="FFF2CC"/>
                </a:highlight>
              </a:rPr>
              <a:t>spreadsheet programs</a:t>
            </a:r>
            <a:r>
              <a:rPr lang="en-GB" sz="1400"/>
              <a:t> such as Microsoft Excel</a:t>
            </a:r>
            <a:endParaRPr sz="1400"/>
          </a:p>
          <a:p>
            <a:pPr indent="0" lvl="0" marL="457200" rtl="0" algn="l">
              <a:spcBef>
                <a:spcPts val="1600"/>
              </a:spcBef>
              <a:spcAft>
                <a:spcPts val="1600"/>
              </a:spcAft>
              <a:buNone/>
            </a:pPr>
            <a:r>
              <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Problems with File System Data Processing</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1600"/>
              </a:spcBef>
              <a:spcAft>
                <a:spcPts val="0"/>
              </a:spcAft>
              <a:buSzPts val="1800"/>
              <a:buChar char="-"/>
            </a:pPr>
            <a:r>
              <a:rPr lang="en-GB"/>
              <a:t>Lengthy development times</a:t>
            </a:r>
            <a:endParaRPr/>
          </a:p>
          <a:p>
            <a:pPr indent="-342900" lvl="0" marL="457200" rtl="0" algn="l">
              <a:spcBef>
                <a:spcPts val="0"/>
              </a:spcBef>
              <a:spcAft>
                <a:spcPts val="0"/>
              </a:spcAft>
              <a:buSzPts val="1800"/>
              <a:buChar char="-"/>
            </a:pPr>
            <a:r>
              <a:rPr lang="en-GB"/>
              <a:t>Difficulty of getting quick answers</a:t>
            </a:r>
            <a:endParaRPr/>
          </a:p>
          <a:p>
            <a:pPr indent="-342900" lvl="0" marL="457200" rtl="0" algn="l">
              <a:spcBef>
                <a:spcPts val="0"/>
              </a:spcBef>
              <a:spcAft>
                <a:spcPts val="0"/>
              </a:spcAft>
              <a:buSzPts val="1800"/>
              <a:buChar char="-"/>
            </a:pPr>
            <a:r>
              <a:rPr lang="en-GB"/>
              <a:t>Complex system administration</a:t>
            </a:r>
            <a:endParaRPr/>
          </a:p>
          <a:p>
            <a:pPr indent="-342900" lvl="0" marL="457200" rtl="0" algn="l">
              <a:spcBef>
                <a:spcPts val="0"/>
              </a:spcBef>
              <a:spcAft>
                <a:spcPts val="0"/>
              </a:spcAft>
              <a:buSzPts val="1800"/>
              <a:buChar char="-"/>
            </a:pPr>
            <a:r>
              <a:rPr lang="en-GB"/>
              <a:t>Lack of security and limited data sharing</a:t>
            </a:r>
            <a:endParaRPr/>
          </a:p>
          <a:p>
            <a:pPr indent="-342900" lvl="0" marL="457200" rtl="0" algn="l">
              <a:spcBef>
                <a:spcPts val="0"/>
              </a:spcBef>
              <a:spcAft>
                <a:spcPts val="0"/>
              </a:spcAft>
              <a:buSzPts val="1800"/>
              <a:buChar char="-"/>
            </a:pPr>
            <a:r>
              <a:rPr lang="en-GB"/>
              <a:t>Extensive programming</a:t>
            </a:r>
            <a:endParaRPr/>
          </a:p>
          <a:p>
            <a:pPr indent="0" lvl="0" marL="45720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Structural and Data Dependence (1 of 2)</a:t>
            </a:r>
            <a:endParaRPr/>
          </a:p>
          <a:p>
            <a:pPr indent="0" lvl="0" marL="0" rtl="0" algn="l">
              <a:spcBef>
                <a:spcPts val="0"/>
              </a:spcBef>
              <a:spcAft>
                <a:spcPts val="0"/>
              </a:spcAft>
              <a:buNone/>
            </a:pPr>
            <a:r>
              <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t>Structural dependence</a:t>
            </a:r>
            <a:endParaRPr b="1"/>
          </a:p>
          <a:p>
            <a:pPr indent="-342900" lvl="0" marL="457200" rtl="0" algn="l">
              <a:spcBef>
                <a:spcPts val="1600"/>
              </a:spcBef>
              <a:spcAft>
                <a:spcPts val="0"/>
              </a:spcAft>
              <a:buSzPts val="1800"/>
              <a:buChar char="-"/>
            </a:pPr>
            <a:r>
              <a:rPr lang="en-GB"/>
              <a:t>Access to a file is </a:t>
            </a:r>
            <a:r>
              <a:rPr b="1" lang="en-GB">
                <a:highlight>
                  <a:srgbClr val="FFFF00"/>
                </a:highlight>
              </a:rPr>
              <a:t>dependent on its own structure</a:t>
            </a:r>
            <a:endParaRPr b="1">
              <a:highlight>
                <a:srgbClr val="FFFF00"/>
              </a:highlight>
            </a:endParaRPr>
          </a:p>
          <a:p>
            <a:pPr indent="-342900" lvl="0" marL="457200" rtl="0" algn="l">
              <a:spcBef>
                <a:spcPts val="0"/>
              </a:spcBef>
              <a:spcAft>
                <a:spcPts val="0"/>
              </a:spcAft>
              <a:buSzPts val="1800"/>
              <a:buChar char="-"/>
            </a:pPr>
            <a:r>
              <a:rPr lang="en-GB"/>
              <a:t>All file system programs are modified to conform to a new file structure</a:t>
            </a:r>
            <a:endParaRPr/>
          </a:p>
          <a:p>
            <a:pPr indent="0" lvl="0" marL="0" rtl="0" algn="l">
              <a:spcBef>
                <a:spcPts val="1600"/>
              </a:spcBef>
              <a:spcAft>
                <a:spcPts val="0"/>
              </a:spcAft>
              <a:buClr>
                <a:schemeClr val="dk1"/>
              </a:buClr>
              <a:buSzPts val="1100"/>
              <a:buFont typeface="Arial"/>
              <a:buNone/>
            </a:pPr>
            <a:r>
              <a:rPr lang="en-GB"/>
              <a:t>Structural</a:t>
            </a:r>
            <a:r>
              <a:rPr b="1" lang="en-GB"/>
              <a:t> independence</a:t>
            </a:r>
            <a:endParaRPr b="1"/>
          </a:p>
          <a:p>
            <a:pPr indent="-342900" lvl="0" marL="457200" rtl="0" algn="l">
              <a:spcBef>
                <a:spcPts val="1600"/>
              </a:spcBef>
              <a:spcAft>
                <a:spcPts val="0"/>
              </a:spcAft>
              <a:buSzPts val="1800"/>
              <a:buChar char="-"/>
            </a:pPr>
            <a:r>
              <a:rPr lang="en-GB"/>
              <a:t>File </a:t>
            </a:r>
            <a:r>
              <a:rPr b="1" lang="en-GB">
                <a:highlight>
                  <a:srgbClr val="D9EAD3"/>
                </a:highlight>
              </a:rPr>
              <a:t>structure is changed without affecting</a:t>
            </a:r>
            <a:r>
              <a:rPr lang="en-GB"/>
              <a:t> the application’s ability to access the data</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Structural and Data Dependence (2 of 2)</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t>Data dependence</a:t>
            </a:r>
            <a:endParaRPr b="1"/>
          </a:p>
          <a:p>
            <a:pPr indent="-342900" lvl="0" marL="457200" rtl="0" algn="l">
              <a:spcBef>
                <a:spcPts val="1600"/>
              </a:spcBef>
              <a:spcAft>
                <a:spcPts val="0"/>
              </a:spcAft>
              <a:buSzPts val="1800"/>
              <a:buChar char="-"/>
            </a:pPr>
            <a:r>
              <a:rPr lang="en-GB"/>
              <a:t>Data access changes when </a:t>
            </a:r>
            <a:r>
              <a:rPr b="1" lang="en-GB">
                <a:highlight>
                  <a:srgbClr val="FFFF00"/>
                </a:highlight>
              </a:rPr>
              <a:t>data storage characteristics</a:t>
            </a:r>
            <a:r>
              <a:rPr lang="en-GB">
                <a:highlight>
                  <a:srgbClr val="FFFF00"/>
                </a:highlight>
              </a:rPr>
              <a:t> </a:t>
            </a:r>
            <a:r>
              <a:rPr lang="en-GB"/>
              <a:t>change</a:t>
            </a:r>
            <a:endParaRPr/>
          </a:p>
          <a:p>
            <a:pPr indent="0" lvl="0" marL="0" rtl="0" algn="l">
              <a:spcBef>
                <a:spcPts val="1600"/>
              </a:spcBef>
              <a:spcAft>
                <a:spcPts val="0"/>
              </a:spcAft>
              <a:buClr>
                <a:schemeClr val="dk1"/>
              </a:buClr>
              <a:buSzPts val="1100"/>
              <a:buFont typeface="Arial"/>
              <a:buNone/>
            </a:pPr>
            <a:r>
              <a:rPr lang="en-GB"/>
              <a:t>Data</a:t>
            </a:r>
            <a:r>
              <a:rPr b="1" lang="en-GB"/>
              <a:t> independence</a:t>
            </a:r>
            <a:endParaRPr b="1"/>
          </a:p>
          <a:p>
            <a:pPr indent="-342900" lvl="0" marL="457200" rtl="0" algn="l">
              <a:spcBef>
                <a:spcPts val="1600"/>
              </a:spcBef>
              <a:spcAft>
                <a:spcPts val="0"/>
              </a:spcAft>
              <a:buSzPts val="1800"/>
              <a:buChar char="-"/>
            </a:pPr>
            <a:r>
              <a:rPr lang="en-GB"/>
              <a:t>Data storage characteristics are changed </a:t>
            </a:r>
            <a:r>
              <a:rPr b="1" lang="en-GB">
                <a:highlight>
                  <a:srgbClr val="FFFF00"/>
                </a:highlight>
              </a:rPr>
              <a:t>without affecting</a:t>
            </a:r>
            <a:r>
              <a:rPr lang="en-GB"/>
              <a:t> the program’s ability to access the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Practical </a:t>
            </a:r>
            <a:r>
              <a:rPr b="1" lang="en-GB" sz="2400">
                <a:highlight>
                  <a:srgbClr val="FFFF00"/>
                </a:highlight>
              </a:rPr>
              <a:t>significance</a:t>
            </a:r>
            <a:r>
              <a:rPr lang="en-GB" sz="2400"/>
              <a:t> of data dependence is the difference between </a:t>
            </a:r>
            <a:r>
              <a:rPr b="1" lang="en-GB" sz="2400">
                <a:highlight>
                  <a:srgbClr val="D9EAD3"/>
                </a:highlight>
              </a:rPr>
              <a:t>logical and physical format</a:t>
            </a:r>
            <a:endParaRPr b="1" sz="2400">
              <a:highlight>
                <a:srgbClr val="D9EAD3"/>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Logical &amp; Physical Data Format </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342900" lvl="0" marL="457200" rtl="0" algn="l">
              <a:spcBef>
                <a:spcPts val="1600"/>
              </a:spcBef>
              <a:spcAft>
                <a:spcPts val="0"/>
              </a:spcAft>
              <a:buSzPts val="1800"/>
              <a:buChar char="-"/>
            </a:pPr>
            <a:r>
              <a:rPr lang="en-GB"/>
              <a:t>Logical data format is how </a:t>
            </a:r>
            <a:r>
              <a:rPr b="1" lang="en-GB">
                <a:highlight>
                  <a:srgbClr val="FFFF00"/>
                </a:highlight>
              </a:rPr>
              <a:t>humans</a:t>
            </a:r>
            <a:r>
              <a:rPr lang="en-GB"/>
              <a:t> view the data</a:t>
            </a:r>
            <a:endParaRPr/>
          </a:p>
          <a:p>
            <a:pPr indent="-342900" lvl="0" marL="457200" rtl="0" algn="l">
              <a:spcBef>
                <a:spcPts val="0"/>
              </a:spcBef>
              <a:spcAft>
                <a:spcPts val="0"/>
              </a:spcAft>
              <a:buSzPts val="1800"/>
              <a:buChar char="-"/>
            </a:pPr>
            <a:r>
              <a:rPr lang="en-GB"/>
              <a:t>Physical data format is how the </a:t>
            </a:r>
            <a:r>
              <a:rPr b="1" lang="en-GB">
                <a:highlight>
                  <a:srgbClr val="00FFFF"/>
                </a:highlight>
              </a:rPr>
              <a:t>computer</a:t>
            </a:r>
            <a:r>
              <a:rPr lang="en-GB"/>
              <a:t> must work with the data</a:t>
            </a:r>
            <a:endParaRPr/>
          </a:p>
          <a:p>
            <a:pPr indent="-342900" lvl="0" marL="457200" rtl="0" algn="l">
              <a:spcBef>
                <a:spcPts val="0"/>
              </a:spcBef>
              <a:spcAft>
                <a:spcPts val="0"/>
              </a:spcAft>
              <a:buSzPts val="1800"/>
              <a:buChar char="-"/>
            </a:pPr>
            <a:r>
              <a:rPr lang="en-GB"/>
              <a:t>Data dependence makes managing the file system extremely </a:t>
            </a:r>
            <a:r>
              <a:rPr b="1" lang="en-GB">
                <a:highlight>
                  <a:srgbClr val="FFF2CC"/>
                </a:highlight>
              </a:rPr>
              <a:t>cumbersome</a:t>
            </a:r>
            <a:endParaRPr b="1">
              <a:highlight>
                <a:srgbClr val="FFF2CC"/>
              </a:highlight>
            </a:endParaRPr>
          </a:p>
          <a:p>
            <a:pPr indent="-342900" lvl="0" marL="457200" rtl="0" algn="l">
              <a:spcBef>
                <a:spcPts val="0"/>
              </a:spcBef>
              <a:spcAft>
                <a:spcPts val="0"/>
              </a:spcAft>
              <a:buSzPts val="1800"/>
              <a:buChar char="-"/>
            </a:pPr>
            <a:r>
              <a:rPr lang="en-GB"/>
              <a:t>E</a:t>
            </a:r>
            <a:r>
              <a:rPr lang="en-GB"/>
              <a:t>very file access program must tell the computer not only </a:t>
            </a:r>
            <a:r>
              <a:rPr b="1" lang="en-GB">
                <a:highlight>
                  <a:srgbClr val="D9EAD3"/>
                </a:highlight>
              </a:rPr>
              <a:t>what to do</a:t>
            </a:r>
            <a:r>
              <a:rPr lang="en-GB"/>
              <a:t> but also </a:t>
            </a:r>
            <a:r>
              <a:rPr b="1" lang="en-GB">
                <a:highlight>
                  <a:srgbClr val="D9EAD3"/>
                </a:highlight>
              </a:rPr>
              <a:t>how to do it</a:t>
            </a:r>
            <a:endParaRPr b="1">
              <a:highlight>
                <a:srgbClr val="D9EAD3"/>
              </a:highlight>
            </a:endParaRPr>
          </a:p>
          <a:p>
            <a:pPr indent="0" lvl="0" marL="45720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Redundancy (1 of 2)</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It is </a:t>
            </a:r>
            <a:r>
              <a:rPr b="1" lang="en-GB">
                <a:highlight>
                  <a:srgbClr val="FFFF00"/>
                </a:highlight>
              </a:rPr>
              <a:t>difficult to combine data</a:t>
            </a:r>
            <a:r>
              <a:rPr lang="en-GB"/>
              <a:t> from different sources in a file system environment</a:t>
            </a:r>
            <a:endParaRPr/>
          </a:p>
          <a:p>
            <a:pPr indent="-342900" lvl="0" marL="457200" rtl="0" algn="l">
              <a:spcBef>
                <a:spcPts val="0"/>
              </a:spcBef>
              <a:spcAft>
                <a:spcPts val="0"/>
              </a:spcAft>
              <a:buSzPts val="1800"/>
              <a:buChar char="-"/>
            </a:pPr>
            <a:r>
              <a:rPr lang="en-GB"/>
              <a:t>Often different users/ departments keep their own copy of the data (</a:t>
            </a:r>
            <a:r>
              <a:rPr b="1" lang="en-GB">
                <a:highlight>
                  <a:srgbClr val="00FFFF"/>
                </a:highlight>
              </a:rPr>
              <a:t>islands of information</a:t>
            </a:r>
            <a:r>
              <a:rPr lang="en-GB"/>
              <a:t>)</a:t>
            </a:r>
            <a:endParaRPr/>
          </a:p>
          <a:p>
            <a:pPr indent="-342900" lvl="0" marL="457200" rtl="0" algn="l">
              <a:spcBef>
                <a:spcPts val="0"/>
              </a:spcBef>
              <a:spcAft>
                <a:spcPts val="0"/>
              </a:spcAft>
              <a:buSzPts val="1800"/>
              <a:buChar char="-"/>
            </a:pPr>
            <a:r>
              <a:rPr lang="en-GB"/>
              <a:t>these data are </a:t>
            </a:r>
            <a:r>
              <a:rPr b="1" lang="en-GB">
                <a:highlight>
                  <a:srgbClr val="D9EAD3"/>
                </a:highlight>
              </a:rPr>
              <a:t>not consistently updated</a:t>
            </a:r>
            <a:r>
              <a:rPr lang="en-GB"/>
              <a:t> and each contain a slightly different version of the same data</a:t>
            </a:r>
            <a:endParaRPr/>
          </a:p>
          <a:p>
            <a:pPr indent="-342900" lvl="0" marL="457200" rtl="0" algn="l">
              <a:spcBef>
                <a:spcPts val="0"/>
              </a:spcBef>
              <a:spcAft>
                <a:spcPts val="0"/>
              </a:spcAft>
              <a:buSzPts val="1800"/>
              <a:buChar char="-"/>
            </a:pPr>
            <a:r>
              <a:rPr b="1" lang="en-GB"/>
              <a:t>Data Redundancy:</a:t>
            </a:r>
            <a:r>
              <a:rPr lang="en-GB"/>
              <a:t> when the same data is unnecessarily kept at </a:t>
            </a:r>
            <a:r>
              <a:rPr b="1" lang="en-GB">
                <a:highlight>
                  <a:srgbClr val="FFF2CC"/>
                </a:highlight>
              </a:rPr>
              <a:t>different locations</a:t>
            </a:r>
            <a:endParaRPr b="1">
              <a:highlight>
                <a:srgbClr val="FFF2CC"/>
              </a:highlight>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Redundancy (2 of 2)</a:t>
            </a:r>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Possible results of </a:t>
            </a:r>
            <a:r>
              <a:rPr b="1" lang="en-GB">
                <a:highlight>
                  <a:srgbClr val="FFFF00"/>
                </a:highlight>
              </a:rPr>
              <a:t>uncontrolled data redundancy </a:t>
            </a:r>
            <a:endParaRPr b="1">
              <a:highlight>
                <a:srgbClr val="FFFF00"/>
              </a:highlight>
            </a:endParaRPr>
          </a:p>
          <a:p>
            <a:pPr indent="-342900" lvl="0" marL="457200" rtl="0" algn="l">
              <a:spcBef>
                <a:spcPts val="1600"/>
              </a:spcBef>
              <a:spcAft>
                <a:spcPts val="0"/>
              </a:spcAft>
              <a:buSzPts val="1800"/>
              <a:buChar char="-"/>
            </a:pPr>
            <a:r>
              <a:rPr lang="en-GB"/>
              <a:t>Poor data security </a:t>
            </a:r>
            <a:endParaRPr/>
          </a:p>
          <a:p>
            <a:pPr indent="-342900" lvl="0" marL="457200" rtl="0" algn="l">
              <a:spcBef>
                <a:spcPts val="0"/>
              </a:spcBef>
              <a:spcAft>
                <a:spcPts val="0"/>
              </a:spcAft>
              <a:buSzPts val="1800"/>
              <a:buChar char="-"/>
            </a:pPr>
            <a:r>
              <a:rPr lang="en-GB"/>
              <a:t>Data inconsistency </a:t>
            </a:r>
            <a:endParaRPr/>
          </a:p>
          <a:p>
            <a:pPr indent="-342900" lvl="0" marL="457200" rtl="0" algn="l">
              <a:spcBef>
                <a:spcPts val="0"/>
              </a:spcBef>
              <a:spcAft>
                <a:spcPts val="0"/>
              </a:spcAft>
              <a:buSzPts val="1800"/>
              <a:buChar char="-"/>
            </a:pPr>
            <a:r>
              <a:rPr lang="en-GB"/>
              <a:t>Data-entry errors </a:t>
            </a:r>
            <a:endParaRPr/>
          </a:p>
          <a:p>
            <a:pPr indent="-342900" lvl="0" marL="457200" rtl="0" algn="l">
              <a:spcBef>
                <a:spcPts val="0"/>
              </a:spcBef>
              <a:spcAft>
                <a:spcPts val="0"/>
              </a:spcAft>
              <a:buSzPts val="1800"/>
              <a:buChar char="-"/>
            </a:pPr>
            <a:r>
              <a:rPr lang="en-GB"/>
              <a:t>Data integrity problems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400"/>
          </a:p>
          <a:p>
            <a:pPr indent="0" lvl="0" marL="0" rtl="0" algn="ctr">
              <a:spcBef>
                <a:spcPts val="1600"/>
              </a:spcBef>
              <a:spcAft>
                <a:spcPts val="0"/>
              </a:spcAft>
              <a:buNone/>
            </a:pPr>
            <a:r>
              <a:rPr lang="en-GB" sz="2400"/>
              <a:t>Data Integrity is present when the </a:t>
            </a:r>
            <a:r>
              <a:rPr b="1" lang="en-GB" sz="2400">
                <a:highlight>
                  <a:srgbClr val="FFFF00"/>
                </a:highlight>
              </a:rPr>
              <a:t>data corresponds to reality.</a:t>
            </a:r>
            <a:r>
              <a:rPr lang="en-GB" sz="2400"/>
              <a:t> that the data is </a:t>
            </a:r>
            <a:r>
              <a:rPr b="1" lang="en-GB" sz="2400">
                <a:highlight>
                  <a:srgbClr val="00FFFF"/>
                </a:highlight>
              </a:rPr>
              <a:t>accurate </a:t>
            </a:r>
            <a:r>
              <a:rPr i="1" lang="en-GB" sz="2400">
                <a:highlight>
                  <a:srgbClr val="00FFFF"/>
                </a:highlight>
              </a:rPr>
              <a:t>and</a:t>
            </a:r>
            <a:r>
              <a:rPr b="1" lang="en-GB" sz="2400">
                <a:highlight>
                  <a:srgbClr val="00FFFF"/>
                </a:highlight>
              </a:rPr>
              <a:t> consistent</a:t>
            </a:r>
            <a:r>
              <a:rPr lang="en-GB" sz="2400"/>
              <a:t>. data integrity is closely related to data consistency.</a:t>
            </a:r>
            <a:endParaRPr sz="2400"/>
          </a:p>
          <a:p>
            <a:pPr indent="0" lvl="0" marL="0" rtl="0" algn="l">
              <a:spcBef>
                <a:spcPts val="1600"/>
              </a:spcBef>
              <a:spcAft>
                <a:spcPts val="1600"/>
              </a:spcAft>
              <a:buNone/>
            </a:pPr>
            <a:r>
              <a:t/>
            </a:r>
            <a:endParaRPr sz="2400"/>
          </a:p>
        </p:txBody>
      </p:sp>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Integrity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Anomalies</a:t>
            </a:r>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Develops when not all of the </a:t>
            </a:r>
            <a:r>
              <a:rPr b="1" lang="en-GB"/>
              <a:t>required changes</a:t>
            </a:r>
            <a:r>
              <a:rPr lang="en-GB"/>
              <a:t> in the redundant data are made successfully. e.g:</a:t>
            </a:r>
            <a:endParaRPr/>
          </a:p>
          <a:p>
            <a:pPr indent="-342900" lvl="0" marL="457200" rtl="0" algn="l">
              <a:spcBef>
                <a:spcPts val="1600"/>
              </a:spcBef>
              <a:spcAft>
                <a:spcPts val="0"/>
              </a:spcAft>
              <a:buSzPts val="1800"/>
              <a:buChar char="-"/>
            </a:pPr>
            <a:r>
              <a:rPr lang="en-GB"/>
              <a:t>Update anomalies</a:t>
            </a:r>
            <a:endParaRPr/>
          </a:p>
          <a:p>
            <a:pPr indent="-342900" lvl="0" marL="457200" rtl="0" algn="l">
              <a:spcBef>
                <a:spcPts val="0"/>
              </a:spcBef>
              <a:spcAft>
                <a:spcPts val="0"/>
              </a:spcAft>
              <a:buSzPts val="1800"/>
              <a:buChar char="-"/>
            </a:pPr>
            <a:r>
              <a:rPr lang="en-GB"/>
              <a:t>Insertion anomalies</a:t>
            </a:r>
            <a:endParaRPr/>
          </a:p>
          <a:p>
            <a:pPr indent="-342900" lvl="0" marL="457200" rtl="0" algn="l">
              <a:spcBef>
                <a:spcPts val="0"/>
              </a:spcBef>
              <a:spcAft>
                <a:spcPts val="0"/>
              </a:spcAft>
              <a:buSzPts val="1800"/>
              <a:buChar char="-"/>
            </a:pPr>
            <a:r>
              <a:rPr lang="en-GB"/>
              <a:t>Deletion anomalies</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Database Systems</a:t>
            </a:r>
            <a:endParaRPr/>
          </a:p>
        </p:txBody>
      </p:sp>
      <p:sp>
        <p:nvSpPr>
          <p:cNvPr id="161" name="Google Shape;161;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the file system consists of </a:t>
            </a:r>
            <a:r>
              <a:rPr b="1" lang="en-GB">
                <a:highlight>
                  <a:srgbClr val="FFF2CC"/>
                </a:highlight>
              </a:rPr>
              <a:t>many separate and unrelated files</a:t>
            </a:r>
            <a:endParaRPr>
              <a:highlight>
                <a:srgbClr val="FFF2CC"/>
              </a:highlight>
            </a:endParaRPr>
          </a:p>
          <a:p>
            <a:pPr indent="-342900" lvl="0" marL="457200" rtl="0" algn="l">
              <a:spcBef>
                <a:spcPts val="0"/>
              </a:spcBef>
              <a:spcAft>
                <a:spcPts val="0"/>
              </a:spcAft>
              <a:buSzPts val="1800"/>
              <a:buChar char="-"/>
            </a:pPr>
            <a:r>
              <a:rPr lang="en-GB"/>
              <a:t>appears to the end user, as </a:t>
            </a:r>
            <a:r>
              <a:rPr b="1" lang="en-GB">
                <a:highlight>
                  <a:srgbClr val="FFFF00"/>
                </a:highlight>
              </a:rPr>
              <a:t>a single logical unit</a:t>
            </a:r>
            <a:endParaRPr b="1">
              <a:highlight>
                <a:srgbClr val="FFFF00"/>
              </a:highlight>
            </a:endParaRPr>
          </a:p>
          <a:p>
            <a:pPr indent="-342900" lvl="0" marL="457200" rtl="0" algn="l">
              <a:spcBef>
                <a:spcPts val="0"/>
              </a:spcBef>
              <a:spcAft>
                <a:spcPts val="0"/>
              </a:spcAft>
              <a:buSzPts val="1800"/>
              <a:buChar char="-"/>
            </a:pPr>
            <a:r>
              <a:rPr lang="en-GB"/>
              <a:t>Enables end user to only think of </a:t>
            </a:r>
            <a:r>
              <a:rPr b="1" lang="en-GB">
                <a:highlight>
                  <a:srgbClr val="00FFFF"/>
                </a:highlight>
              </a:rPr>
              <a:t>what to do</a:t>
            </a:r>
            <a:r>
              <a:rPr lang="en-GB"/>
              <a:t> and </a:t>
            </a:r>
            <a:r>
              <a:rPr b="1" lang="en-GB">
                <a:highlight>
                  <a:srgbClr val="00FFFF"/>
                </a:highlight>
              </a:rPr>
              <a:t>not how to do it</a:t>
            </a:r>
            <a:r>
              <a:rPr lang="en-GB">
                <a:highlight>
                  <a:srgbClr val="00FFFF"/>
                </a:highlight>
              </a:rPr>
              <a:t>.</a:t>
            </a:r>
            <a:r>
              <a:rPr lang="en-GB"/>
              <a:t> </a:t>
            </a:r>
            <a:endParaRPr/>
          </a:p>
          <a:p>
            <a:pPr indent="-342900" lvl="0" marL="457200" rtl="0" algn="l">
              <a:spcBef>
                <a:spcPts val="0"/>
              </a:spcBef>
              <a:spcAft>
                <a:spcPts val="0"/>
              </a:spcAft>
              <a:buSzPts val="1800"/>
              <a:buChar char="-"/>
            </a:pPr>
            <a:r>
              <a:rPr lang="en-GB"/>
              <a:t>DBMS eliminates data inconsistencies, data anomaly, data dependence and structural dependence problems, </a:t>
            </a:r>
            <a:r>
              <a:rPr i="1" lang="en-GB"/>
              <a:t>if</a:t>
            </a:r>
            <a:r>
              <a:rPr lang="en-GB"/>
              <a:t> the database is </a:t>
            </a:r>
            <a:r>
              <a:rPr b="1" lang="en-GB">
                <a:highlight>
                  <a:srgbClr val="00FF00"/>
                </a:highlight>
              </a:rPr>
              <a:t>designed properly</a:t>
            </a:r>
            <a:r>
              <a:rPr lang="en-GB"/>
              <a:t>. </a:t>
            </a:r>
            <a:endParaRPr/>
          </a:p>
          <a:p>
            <a:pPr indent="-342900" lvl="0" marL="457200" rtl="0" algn="l">
              <a:spcBef>
                <a:spcPts val="0"/>
              </a:spcBef>
              <a:spcAft>
                <a:spcPts val="0"/>
              </a:spcAft>
              <a:buSzPts val="1800"/>
              <a:buChar char="-"/>
            </a:pPr>
            <a:r>
              <a:rPr b="1" lang="en-GB">
                <a:highlight>
                  <a:srgbClr val="D9EAD3"/>
                </a:highlight>
              </a:rPr>
              <a:t>DBMS</a:t>
            </a:r>
            <a:r>
              <a:rPr lang="en-GB"/>
              <a:t> stores the data structures, relationships between structures, and access paths</a:t>
            </a:r>
            <a:r>
              <a:rPr lang="en-GB"/>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Database Defined</a:t>
            </a:r>
            <a:endParaRPr/>
          </a:p>
        </p:txBody>
      </p:sp>
      <p:sp>
        <p:nvSpPr>
          <p:cNvPr id="167" name="Google Shape;167;p31"/>
          <p:cNvSpPr txBox="1"/>
          <p:nvPr>
            <p:ph idx="1" type="body"/>
          </p:nvPr>
        </p:nvSpPr>
        <p:spPr>
          <a:xfrm>
            <a:off x="311700" y="1152475"/>
            <a:ext cx="5777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Database:</a:t>
            </a:r>
            <a:r>
              <a:rPr lang="en-GB"/>
              <a:t> </a:t>
            </a:r>
            <a:endParaRPr/>
          </a:p>
          <a:p>
            <a:pPr indent="-342900" lvl="0" marL="457200" rtl="0" algn="l">
              <a:spcBef>
                <a:spcPts val="1600"/>
              </a:spcBef>
              <a:spcAft>
                <a:spcPts val="0"/>
              </a:spcAft>
              <a:buSzPts val="1800"/>
              <a:buChar char="-"/>
            </a:pPr>
            <a:r>
              <a:rPr lang="en-GB"/>
              <a:t>A shared, integrated computer structure that houses a collection of related data.</a:t>
            </a:r>
            <a:endParaRPr/>
          </a:p>
          <a:p>
            <a:pPr indent="-342900" lvl="0" marL="457200" rtl="0" algn="l">
              <a:spcBef>
                <a:spcPts val="0"/>
              </a:spcBef>
              <a:spcAft>
                <a:spcPts val="0"/>
              </a:spcAft>
              <a:buSzPts val="1800"/>
              <a:buChar char="-"/>
            </a:pPr>
            <a:r>
              <a:rPr lang="en-GB"/>
              <a:t>contains two types of data: </a:t>
            </a:r>
            <a:r>
              <a:rPr b="1" lang="en-GB">
                <a:highlight>
                  <a:srgbClr val="FFFF00"/>
                </a:highlight>
              </a:rPr>
              <a:t>end-user data</a:t>
            </a:r>
            <a:r>
              <a:rPr lang="en-GB"/>
              <a:t> (raw facts) and </a:t>
            </a:r>
            <a:r>
              <a:rPr b="1" lang="en-GB">
                <a:highlight>
                  <a:srgbClr val="FFFF00"/>
                </a:highlight>
              </a:rPr>
              <a:t>metadata.</a:t>
            </a:r>
            <a:endParaRPr b="1">
              <a:highlight>
                <a:srgbClr val="FFFF00"/>
              </a:highlight>
            </a:endParaRPr>
          </a:p>
          <a:p>
            <a:pPr indent="0" lvl="0" marL="0" rtl="0" algn="l">
              <a:spcBef>
                <a:spcPts val="1600"/>
              </a:spcBef>
              <a:spcAft>
                <a:spcPts val="0"/>
              </a:spcAft>
              <a:buNone/>
            </a:pPr>
            <a:r>
              <a:rPr b="1" lang="en-GB"/>
              <a:t>Metadata:</a:t>
            </a:r>
            <a:r>
              <a:rPr lang="en-GB"/>
              <a:t> </a:t>
            </a:r>
            <a:endParaRPr/>
          </a:p>
          <a:p>
            <a:pPr indent="-342900" lvl="0" marL="457200" rtl="0" algn="l">
              <a:spcBef>
                <a:spcPts val="1600"/>
              </a:spcBef>
              <a:spcAft>
                <a:spcPts val="0"/>
              </a:spcAft>
              <a:buSzPts val="1800"/>
              <a:buChar char="-"/>
            </a:pPr>
            <a:r>
              <a:rPr lang="en-GB"/>
              <a:t>Data about data; that is, data about data characteristics and relationships. </a:t>
            </a:r>
            <a:endParaRPr/>
          </a:p>
        </p:txBody>
      </p:sp>
      <p:pic>
        <p:nvPicPr>
          <p:cNvPr descr="chap1_fig1.jpg" id="168" name="Google Shape;168;p31"/>
          <p:cNvPicPr preferRelativeResize="0"/>
          <p:nvPr/>
        </p:nvPicPr>
        <p:blipFill rotWithShape="1">
          <a:blip r:embed="rId3">
            <a:alphaModFix/>
          </a:blip>
          <a:srcRect b="0" l="0" r="0" t="0"/>
          <a:stretch/>
        </p:blipFill>
        <p:spPr>
          <a:xfrm>
            <a:off x="6089100" y="1243406"/>
            <a:ext cx="2743200" cy="31525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DBMS Defined</a:t>
            </a:r>
            <a:endParaRPr/>
          </a:p>
        </p:txBody>
      </p:sp>
      <p:sp>
        <p:nvSpPr>
          <p:cNvPr id="174" name="Google Shape;174;p32"/>
          <p:cNvSpPr txBox="1"/>
          <p:nvPr>
            <p:ph idx="1" type="body"/>
          </p:nvPr>
        </p:nvSpPr>
        <p:spPr>
          <a:xfrm>
            <a:off x="311700" y="1152475"/>
            <a:ext cx="57774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collection of programs that </a:t>
            </a:r>
            <a:r>
              <a:rPr lang="en-GB">
                <a:highlight>
                  <a:srgbClr val="FFFF00"/>
                </a:highlight>
              </a:rPr>
              <a:t>manages the database structure</a:t>
            </a:r>
            <a:r>
              <a:rPr lang="en-GB"/>
              <a:t> and </a:t>
            </a:r>
            <a:r>
              <a:rPr lang="en-GB">
                <a:highlight>
                  <a:srgbClr val="FFFF00"/>
                </a:highlight>
              </a:rPr>
              <a:t>controls access to the data</a:t>
            </a:r>
            <a:r>
              <a:rPr lang="en-GB"/>
              <a:t> stored in the database.</a:t>
            </a:r>
            <a:endParaRPr/>
          </a:p>
          <a:p>
            <a:pPr indent="-342900" lvl="0" marL="457200" rtl="0" algn="l">
              <a:spcBef>
                <a:spcPts val="0"/>
              </a:spcBef>
              <a:spcAft>
                <a:spcPts val="0"/>
              </a:spcAft>
              <a:buSzPts val="1800"/>
              <a:buChar char="-"/>
            </a:pPr>
            <a:r>
              <a:rPr lang="en-GB"/>
              <a:t>acts as an </a:t>
            </a:r>
            <a:r>
              <a:rPr lang="en-GB">
                <a:highlight>
                  <a:srgbClr val="00FFFF"/>
                </a:highlight>
              </a:rPr>
              <a:t>intermediary between the end use and the database</a:t>
            </a:r>
            <a:r>
              <a:rPr lang="en-GB"/>
              <a:t> hiding much of the database internal complexity and presents the use with a single, integrated view of the data. </a:t>
            </a:r>
            <a:endParaRPr/>
          </a:p>
          <a:p>
            <a:pPr indent="-342900" lvl="0" marL="457200" rtl="0" algn="l">
              <a:spcBef>
                <a:spcPts val="0"/>
              </a:spcBef>
              <a:spcAft>
                <a:spcPts val="0"/>
              </a:spcAft>
              <a:buSzPts val="1800"/>
              <a:buChar char="-"/>
            </a:pPr>
            <a:r>
              <a:rPr lang="en-GB"/>
              <a:t>Access to the database is only through the DBMS</a:t>
            </a:r>
            <a:endParaRPr/>
          </a:p>
          <a:p>
            <a:pPr indent="-342900" lvl="0" marL="457200" rtl="0" algn="l">
              <a:spcBef>
                <a:spcPts val="0"/>
              </a:spcBef>
              <a:spcAft>
                <a:spcPts val="0"/>
              </a:spcAft>
              <a:buSzPts val="1800"/>
              <a:buChar char="-"/>
            </a:pPr>
            <a:r>
              <a:rPr lang="en-GB"/>
              <a:t>makes it possible to </a:t>
            </a:r>
            <a:r>
              <a:rPr lang="en-GB">
                <a:highlight>
                  <a:srgbClr val="00FF00"/>
                </a:highlight>
              </a:rPr>
              <a:t>share data</a:t>
            </a:r>
            <a:r>
              <a:rPr lang="en-GB"/>
              <a:t> across multiple applications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descr="chap1_fig1.jpg" id="175" name="Google Shape;175;p32"/>
          <p:cNvPicPr preferRelativeResize="0"/>
          <p:nvPr/>
        </p:nvPicPr>
        <p:blipFill rotWithShape="1">
          <a:blip r:embed="rId3">
            <a:alphaModFix/>
          </a:blip>
          <a:srcRect b="0" l="0" r="0" t="0"/>
          <a:stretch/>
        </p:blipFill>
        <p:spPr>
          <a:xfrm>
            <a:off x="6089100" y="1243406"/>
            <a:ext cx="2743200" cy="31525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DBMS Functions (1 of 3)</a:t>
            </a:r>
            <a:endParaRPr/>
          </a:p>
          <a:p>
            <a:pPr indent="0" lvl="0" marL="0" rtl="0" algn="l">
              <a:spcBef>
                <a:spcPts val="0"/>
              </a:spcBef>
              <a:spcAft>
                <a:spcPts val="0"/>
              </a:spcAft>
              <a:buNone/>
            </a:pPr>
            <a:r>
              <a:t/>
            </a:r>
            <a:endParaRPr/>
          </a:p>
        </p:txBody>
      </p:sp>
      <p:sp>
        <p:nvSpPr>
          <p:cNvPr id="181" name="Google Shape;181;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a:t>Data dictionary management</a:t>
            </a:r>
            <a:endParaRPr b="1"/>
          </a:p>
          <a:p>
            <a:pPr indent="457200" lvl="0" marL="0" rtl="0" algn="l">
              <a:lnSpc>
                <a:spcPct val="100000"/>
              </a:lnSpc>
              <a:spcBef>
                <a:spcPts val="1600"/>
              </a:spcBef>
              <a:spcAft>
                <a:spcPts val="0"/>
              </a:spcAft>
              <a:buNone/>
            </a:pPr>
            <a:r>
              <a:rPr lang="en-GB" sz="1400"/>
              <a:t>Data dictionary: stores </a:t>
            </a:r>
            <a:r>
              <a:rPr lang="en-GB" sz="1400">
                <a:highlight>
                  <a:srgbClr val="FFFF00"/>
                </a:highlight>
              </a:rPr>
              <a:t>definitions of data elements and their relationships</a:t>
            </a:r>
            <a:endParaRPr sz="1400">
              <a:highlight>
                <a:srgbClr val="FFFF00"/>
              </a:highlight>
            </a:endParaRPr>
          </a:p>
          <a:p>
            <a:pPr indent="0" lvl="0" marL="0" rtl="0" algn="l">
              <a:lnSpc>
                <a:spcPct val="100000"/>
              </a:lnSpc>
              <a:spcBef>
                <a:spcPts val="1600"/>
              </a:spcBef>
              <a:spcAft>
                <a:spcPts val="0"/>
              </a:spcAft>
              <a:buClr>
                <a:schemeClr val="dk1"/>
              </a:buClr>
              <a:buSzPts val="1100"/>
              <a:buFont typeface="Arial"/>
              <a:buNone/>
            </a:pPr>
            <a:r>
              <a:rPr b="1" lang="en-GB"/>
              <a:t>Data storage management</a:t>
            </a:r>
            <a:endParaRPr b="1"/>
          </a:p>
          <a:p>
            <a:pPr indent="457200" lvl="0" marL="0" rtl="0" algn="l">
              <a:lnSpc>
                <a:spcPct val="100000"/>
              </a:lnSpc>
              <a:spcBef>
                <a:spcPts val="1600"/>
              </a:spcBef>
              <a:spcAft>
                <a:spcPts val="0"/>
              </a:spcAft>
              <a:buClr>
                <a:schemeClr val="dk1"/>
              </a:buClr>
              <a:buSzPts val="1100"/>
              <a:buFont typeface="Arial"/>
              <a:buNone/>
            </a:pPr>
            <a:r>
              <a:rPr lang="en-GB" sz="1400"/>
              <a:t>Performance tuning ensures </a:t>
            </a:r>
            <a:r>
              <a:rPr lang="en-GB" sz="1400">
                <a:highlight>
                  <a:srgbClr val="00FFFF"/>
                </a:highlight>
              </a:rPr>
              <a:t>efficient performance</a:t>
            </a:r>
            <a:r>
              <a:rPr lang="en-GB" sz="1400"/>
              <a:t> </a:t>
            </a:r>
            <a:endParaRPr sz="1400"/>
          </a:p>
          <a:p>
            <a:pPr indent="0" lvl="0" marL="0" rtl="0" algn="l">
              <a:lnSpc>
                <a:spcPct val="100000"/>
              </a:lnSpc>
              <a:spcBef>
                <a:spcPts val="1600"/>
              </a:spcBef>
              <a:spcAft>
                <a:spcPts val="0"/>
              </a:spcAft>
              <a:buClr>
                <a:schemeClr val="dk1"/>
              </a:buClr>
              <a:buSzPts val="1100"/>
              <a:buFont typeface="Arial"/>
              <a:buNone/>
            </a:pPr>
            <a:r>
              <a:rPr b="1" lang="en-GB"/>
              <a:t>Data transformation and presentation</a:t>
            </a:r>
            <a:endParaRPr b="1"/>
          </a:p>
          <a:p>
            <a:pPr indent="457200" lvl="0" marL="0" rtl="0" algn="l">
              <a:lnSpc>
                <a:spcPct val="100000"/>
              </a:lnSpc>
              <a:spcBef>
                <a:spcPts val="1600"/>
              </a:spcBef>
              <a:spcAft>
                <a:spcPts val="0"/>
              </a:spcAft>
              <a:buClr>
                <a:schemeClr val="dk1"/>
              </a:buClr>
              <a:buSzPts val="1100"/>
              <a:buFont typeface="Arial"/>
              <a:buNone/>
            </a:pPr>
            <a:r>
              <a:rPr lang="en-GB" sz="1400"/>
              <a:t>Data is </a:t>
            </a:r>
            <a:r>
              <a:rPr lang="en-GB" sz="1400">
                <a:highlight>
                  <a:srgbClr val="00FF00"/>
                </a:highlight>
              </a:rPr>
              <a:t>formatted</a:t>
            </a:r>
            <a:r>
              <a:rPr lang="en-GB" sz="1400"/>
              <a:t> to conform to logical expectations</a:t>
            </a:r>
            <a:endParaRPr sz="1400"/>
          </a:p>
          <a:p>
            <a:pPr indent="0" lvl="0" marL="0" rtl="0" algn="l">
              <a:lnSpc>
                <a:spcPct val="100000"/>
              </a:lnSpc>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DBMS Functions (2 of 3)</a:t>
            </a:r>
            <a:endParaRPr/>
          </a:p>
          <a:p>
            <a:pPr indent="0" lvl="0" marL="0" rtl="0" algn="l">
              <a:spcBef>
                <a:spcPts val="0"/>
              </a:spcBef>
              <a:spcAft>
                <a:spcPts val="0"/>
              </a:spcAft>
              <a:buNone/>
            </a:pPr>
            <a:r>
              <a:t/>
            </a:r>
            <a:endParaRPr/>
          </a:p>
        </p:txBody>
      </p:sp>
      <p:sp>
        <p:nvSpPr>
          <p:cNvPr id="187" name="Google Shape;187;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a:t>Security management</a:t>
            </a:r>
            <a:endParaRPr b="1"/>
          </a:p>
          <a:p>
            <a:pPr indent="457200" lvl="0" marL="0" rtl="0" algn="l">
              <a:lnSpc>
                <a:spcPct val="100000"/>
              </a:lnSpc>
              <a:spcBef>
                <a:spcPts val="1600"/>
              </a:spcBef>
              <a:spcAft>
                <a:spcPts val="0"/>
              </a:spcAft>
              <a:buNone/>
            </a:pPr>
            <a:r>
              <a:rPr lang="en-GB" sz="1400">
                <a:highlight>
                  <a:srgbClr val="FFFF00"/>
                </a:highlight>
              </a:rPr>
              <a:t>Enforces</a:t>
            </a:r>
            <a:r>
              <a:rPr lang="en-GB" sz="1400"/>
              <a:t> user security and data privacy </a:t>
            </a:r>
            <a:endParaRPr sz="1400"/>
          </a:p>
          <a:p>
            <a:pPr indent="0" lvl="0" marL="0" rtl="0" algn="l">
              <a:lnSpc>
                <a:spcPct val="100000"/>
              </a:lnSpc>
              <a:spcBef>
                <a:spcPts val="1600"/>
              </a:spcBef>
              <a:spcAft>
                <a:spcPts val="0"/>
              </a:spcAft>
              <a:buNone/>
            </a:pPr>
            <a:r>
              <a:rPr b="1" lang="en-GB"/>
              <a:t>Multi User access control</a:t>
            </a:r>
            <a:endParaRPr b="1"/>
          </a:p>
          <a:p>
            <a:pPr indent="0" lvl="0" marL="457200" rtl="0" algn="l">
              <a:lnSpc>
                <a:spcPct val="100000"/>
              </a:lnSpc>
              <a:spcBef>
                <a:spcPts val="1600"/>
              </a:spcBef>
              <a:spcAft>
                <a:spcPts val="0"/>
              </a:spcAft>
              <a:buNone/>
            </a:pPr>
            <a:r>
              <a:rPr lang="en-GB" sz="1400"/>
              <a:t>Sophisticated algorithms ensure that multiple users can access the database </a:t>
            </a:r>
            <a:r>
              <a:rPr lang="en-GB" sz="1400">
                <a:highlight>
                  <a:srgbClr val="00FFFF"/>
                </a:highlight>
              </a:rPr>
              <a:t>concurrently</a:t>
            </a:r>
            <a:r>
              <a:rPr lang="en-GB" sz="1400"/>
              <a:t> without compromising its integrity</a:t>
            </a:r>
            <a:endParaRPr sz="1400"/>
          </a:p>
          <a:p>
            <a:pPr indent="0" lvl="0" marL="0" rtl="0" algn="l">
              <a:lnSpc>
                <a:spcPct val="100000"/>
              </a:lnSpc>
              <a:spcBef>
                <a:spcPts val="1600"/>
              </a:spcBef>
              <a:spcAft>
                <a:spcPts val="0"/>
              </a:spcAft>
              <a:buNone/>
            </a:pPr>
            <a:r>
              <a:rPr b="1" lang="en-GB"/>
              <a:t>Backup and recovery management</a:t>
            </a:r>
            <a:endParaRPr b="1"/>
          </a:p>
          <a:p>
            <a:pPr indent="457200" lvl="0" marL="0" rtl="0" algn="l">
              <a:lnSpc>
                <a:spcPct val="100000"/>
              </a:lnSpc>
              <a:spcBef>
                <a:spcPts val="1600"/>
              </a:spcBef>
              <a:spcAft>
                <a:spcPts val="1600"/>
              </a:spcAft>
              <a:buClr>
                <a:schemeClr val="dk1"/>
              </a:buClr>
              <a:buSzPts val="1100"/>
              <a:buFont typeface="Arial"/>
              <a:buNone/>
            </a:pPr>
            <a:r>
              <a:rPr lang="en-GB" sz="1400"/>
              <a:t>Enables </a:t>
            </a:r>
            <a:r>
              <a:rPr lang="en-GB" sz="1400">
                <a:highlight>
                  <a:srgbClr val="00FF00"/>
                </a:highlight>
              </a:rPr>
              <a:t>recovery</a:t>
            </a:r>
            <a:r>
              <a:rPr lang="en-GB" sz="1400"/>
              <a:t> of the database after a failure</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DBMS Functions (3 of 3)</a:t>
            </a:r>
            <a:endParaRPr/>
          </a:p>
          <a:p>
            <a:pPr indent="0" lvl="0" marL="0" rtl="0" algn="l">
              <a:spcBef>
                <a:spcPts val="0"/>
              </a:spcBef>
              <a:spcAft>
                <a:spcPts val="0"/>
              </a:spcAft>
              <a:buNone/>
            </a:pPr>
            <a:r>
              <a:t/>
            </a:r>
            <a:endParaRPr/>
          </a:p>
        </p:txBody>
      </p:sp>
      <p:sp>
        <p:nvSpPr>
          <p:cNvPr id="193" name="Google Shape;193;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1700"/>
              <a:t>Data integrity management </a:t>
            </a:r>
            <a:endParaRPr b="1" sz="1700"/>
          </a:p>
          <a:p>
            <a:pPr indent="457200" lvl="0" marL="0" rtl="0" algn="l">
              <a:lnSpc>
                <a:spcPct val="100000"/>
              </a:lnSpc>
              <a:spcBef>
                <a:spcPts val="1600"/>
              </a:spcBef>
              <a:spcAft>
                <a:spcPts val="0"/>
              </a:spcAft>
              <a:buClr>
                <a:schemeClr val="dk1"/>
              </a:buClr>
              <a:buSzPts val="1100"/>
              <a:buFont typeface="Arial"/>
              <a:buNone/>
            </a:pPr>
            <a:r>
              <a:rPr lang="en-GB" sz="1400">
                <a:highlight>
                  <a:srgbClr val="FFFF00"/>
                </a:highlight>
              </a:rPr>
              <a:t>Minimizes redundancy and maximizes consistency</a:t>
            </a:r>
            <a:endParaRPr sz="1400">
              <a:highlight>
                <a:srgbClr val="FFFF00"/>
              </a:highlight>
            </a:endParaRPr>
          </a:p>
          <a:p>
            <a:pPr indent="0" lvl="0" marL="0" rtl="0" algn="l">
              <a:spcBef>
                <a:spcPts val="1600"/>
              </a:spcBef>
              <a:spcAft>
                <a:spcPts val="0"/>
              </a:spcAft>
              <a:buClr>
                <a:schemeClr val="dk1"/>
              </a:buClr>
              <a:buSzPts val="1100"/>
              <a:buFont typeface="Arial"/>
              <a:buNone/>
            </a:pPr>
            <a:r>
              <a:rPr b="1" lang="en-GB" sz="1700"/>
              <a:t>Database access languages and application programming interfaces </a:t>
            </a:r>
            <a:endParaRPr b="1" sz="1700"/>
          </a:p>
          <a:p>
            <a:pPr indent="-317500" lvl="0" marL="457200" rtl="0" algn="l">
              <a:spcBef>
                <a:spcPts val="1600"/>
              </a:spcBef>
              <a:spcAft>
                <a:spcPts val="0"/>
              </a:spcAft>
              <a:buSzPts val="1400"/>
              <a:buChar char="-"/>
            </a:pPr>
            <a:r>
              <a:rPr lang="en-GB" sz="1400"/>
              <a:t>Query language: lets the user specify </a:t>
            </a:r>
            <a:r>
              <a:rPr lang="en-GB" sz="1400">
                <a:highlight>
                  <a:srgbClr val="00FFFF"/>
                </a:highlight>
              </a:rPr>
              <a:t>what</a:t>
            </a:r>
            <a:r>
              <a:rPr lang="en-GB" sz="1400"/>
              <a:t> must be done </a:t>
            </a:r>
            <a:r>
              <a:rPr lang="en-GB" sz="1400">
                <a:highlight>
                  <a:srgbClr val="00FFFF"/>
                </a:highlight>
              </a:rPr>
              <a:t>without having to specify how</a:t>
            </a:r>
            <a:r>
              <a:rPr lang="en-GB" sz="1400"/>
              <a:t> </a:t>
            </a:r>
            <a:endParaRPr sz="1400"/>
          </a:p>
          <a:p>
            <a:pPr indent="-317500" lvl="0" marL="457200" rtl="0" algn="l">
              <a:spcBef>
                <a:spcPts val="0"/>
              </a:spcBef>
              <a:spcAft>
                <a:spcPts val="0"/>
              </a:spcAft>
              <a:buSzPts val="1400"/>
              <a:buChar char="-"/>
            </a:pPr>
            <a:r>
              <a:rPr lang="en-GB" sz="1400"/>
              <a:t>Structured Query Language (</a:t>
            </a:r>
            <a:r>
              <a:rPr lang="en-GB" sz="1400">
                <a:highlight>
                  <a:srgbClr val="00FF00"/>
                </a:highlight>
              </a:rPr>
              <a:t>SQL)</a:t>
            </a:r>
            <a:r>
              <a:rPr lang="en-GB" sz="1400"/>
              <a:t>: de facto query language and data access standard supported by the majority of DBMS vendors</a:t>
            </a:r>
            <a:endParaRPr sz="1400"/>
          </a:p>
          <a:p>
            <a:pPr indent="0" lvl="0" marL="0" rtl="0" algn="l">
              <a:spcBef>
                <a:spcPts val="1600"/>
              </a:spcBef>
              <a:spcAft>
                <a:spcPts val="0"/>
              </a:spcAft>
              <a:buClr>
                <a:schemeClr val="dk1"/>
              </a:buClr>
              <a:buSzPts val="1100"/>
              <a:buFont typeface="Arial"/>
              <a:buNone/>
            </a:pPr>
            <a:r>
              <a:rPr b="1" lang="en-GB" sz="1700"/>
              <a:t>Database communication interfaces</a:t>
            </a:r>
            <a:endParaRPr b="1" sz="1700"/>
          </a:p>
          <a:p>
            <a:pPr indent="457200" lvl="0" marL="0" rtl="0" algn="l">
              <a:spcBef>
                <a:spcPts val="1600"/>
              </a:spcBef>
              <a:spcAft>
                <a:spcPts val="0"/>
              </a:spcAft>
              <a:buClr>
                <a:schemeClr val="dk1"/>
              </a:buClr>
              <a:buSzPts val="1100"/>
              <a:buFont typeface="Arial"/>
              <a:buNone/>
            </a:pPr>
            <a:r>
              <a:rPr lang="en-GB" sz="1400"/>
              <a:t>Accept </a:t>
            </a:r>
            <a:r>
              <a:rPr lang="en-GB" sz="1400">
                <a:highlight>
                  <a:srgbClr val="FFF2CC"/>
                </a:highlight>
              </a:rPr>
              <a:t>end-user requests</a:t>
            </a:r>
            <a:r>
              <a:rPr lang="en-GB" sz="1400"/>
              <a:t> via multiple, different network environments </a:t>
            </a:r>
            <a:endParaRPr sz="1400"/>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The Database System Environment</a:t>
            </a:r>
            <a:endParaRPr/>
          </a:p>
          <a:p>
            <a:pPr indent="0" lvl="0" marL="0" rtl="0" algn="l">
              <a:spcBef>
                <a:spcPts val="0"/>
              </a:spcBef>
              <a:spcAft>
                <a:spcPts val="0"/>
              </a:spcAft>
              <a:buNone/>
            </a:pPr>
            <a:r>
              <a:t/>
            </a:r>
            <a:endParaRPr/>
          </a:p>
        </p:txBody>
      </p:sp>
      <p:sp>
        <p:nvSpPr>
          <p:cNvPr id="199" name="Google Shape;199;p36"/>
          <p:cNvSpPr txBox="1"/>
          <p:nvPr>
            <p:ph idx="1" type="body"/>
          </p:nvPr>
        </p:nvSpPr>
        <p:spPr>
          <a:xfrm>
            <a:off x="311700" y="1152475"/>
            <a:ext cx="4542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Database system: organization of </a:t>
            </a:r>
            <a:r>
              <a:rPr b="1" lang="en-GB">
                <a:highlight>
                  <a:srgbClr val="FFFF00"/>
                </a:highlight>
              </a:rPr>
              <a:t>components</a:t>
            </a:r>
            <a:r>
              <a:rPr lang="en-GB"/>
              <a:t> that define and regulate the collection, storage, management, and use of data within a database environment</a:t>
            </a:r>
            <a:endParaRPr/>
          </a:p>
          <a:p>
            <a:pPr indent="-342900" lvl="0" marL="457200" rtl="0" algn="l">
              <a:spcBef>
                <a:spcPts val="1600"/>
              </a:spcBef>
              <a:spcAft>
                <a:spcPts val="0"/>
              </a:spcAft>
              <a:buSzPts val="1800"/>
              <a:buChar char="-"/>
            </a:pPr>
            <a:r>
              <a:rPr lang="en-GB"/>
              <a:t>Hardware</a:t>
            </a:r>
            <a:endParaRPr/>
          </a:p>
          <a:p>
            <a:pPr indent="-342900" lvl="0" marL="457200" rtl="0" algn="l">
              <a:spcBef>
                <a:spcPts val="0"/>
              </a:spcBef>
              <a:spcAft>
                <a:spcPts val="0"/>
              </a:spcAft>
              <a:buSzPts val="1800"/>
              <a:buChar char="-"/>
            </a:pPr>
            <a:r>
              <a:rPr lang="en-GB"/>
              <a:t>Software</a:t>
            </a:r>
            <a:endParaRPr/>
          </a:p>
          <a:p>
            <a:pPr indent="-342900" lvl="0" marL="457200" rtl="0" algn="l">
              <a:spcBef>
                <a:spcPts val="0"/>
              </a:spcBef>
              <a:spcAft>
                <a:spcPts val="0"/>
              </a:spcAft>
              <a:buSzPts val="1800"/>
              <a:buChar char="-"/>
            </a:pPr>
            <a:r>
              <a:rPr lang="en-GB"/>
              <a:t>People</a:t>
            </a:r>
            <a:endParaRPr/>
          </a:p>
          <a:p>
            <a:pPr indent="-342900" lvl="0" marL="457200" rtl="0" algn="l">
              <a:spcBef>
                <a:spcPts val="0"/>
              </a:spcBef>
              <a:spcAft>
                <a:spcPts val="0"/>
              </a:spcAft>
              <a:buSzPts val="1800"/>
              <a:buChar char="-"/>
            </a:pPr>
            <a:r>
              <a:rPr lang="en-GB"/>
              <a:t>Procedures</a:t>
            </a:r>
            <a:endParaRPr/>
          </a:p>
          <a:p>
            <a:pPr indent="-342900" lvl="0" marL="457200" rtl="0" algn="l">
              <a:spcBef>
                <a:spcPts val="0"/>
              </a:spcBef>
              <a:spcAft>
                <a:spcPts val="0"/>
              </a:spcAft>
              <a:buSzPts val="1800"/>
              <a:buChar char="-"/>
            </a:pPr>
            <a:r>
              <a:rPr lang="en-GB"/>
              <a:t>Data</a:t>
            </a:r>
            <a:endParaRPr/>
          </a:p>
          <a:p>
            <a:pPr indent="0" lvl="0" marL="0" rtl="0" algn="l">
              <a:spcBef>
                <a:spcPts val="1600"/>
              </a:spcBef>
              <a:spcAft>
                <a:spcPts val="1600"/>
              </a:spcAft>
              <a:buNone/>
            </a:pPr>
            <a:r>
              <a:t/>
            </a:r>
            <a:endParaRPr/>
          </a:p>
        </p:txBody>
      </p:sp>
      <p:pic>
        <p:nvPicPr>
          <p:cNvPr descr="chap2_fig3.jpg" id="200" name="Google Shape;200;p36"/>
          <p:cNvPicPr preferRelativeResize="0"/>
          <p:nvPr/>
        </p:nvPicPr>
        <p:blipFill rotWithShape="1">
          <a:blip r:embed="rId3">
            <a:alphaModFix/>
          </a:blip>
          <a:srcRect b="0" l="0" r="0" t="0"/>
          <a:stretch/>
        </p:blipFill>
        <p:spPr>
          <a:xfrm>
            <a:off x="4854450" y="1284600"/>
            <a:ext cx="3657600" cy="33661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Mini-world Example</a:t>
            </a:r>
            <a:endParaRPr/>
          </a:p>
        </p:txBody>
      </p:sp>
      <p:pic>
        <p:nvPicPr>
          <p:cNvPr id="207" name="Google Shape;207;p37"/>
          <p:cNvPicPr preferRelativeResize="0"/>
          <p:nvPr/>
        </p:nvPicPr>
        <p:blipFill>
          <a:blip r:embed="rId3">
            <a:alphaModFix/>
          </a:blip>
          <a:stretch>
            <a:fillRect/>
          </a:stretch>
        </p:blipFill>
        <p:spPr>
          <a:xfrm>
            <a:off x="457200" y="736009"/>
            <a:ext cx="4110211" cy="4041016"/>
          </a:xfrm>
          <a:prstGeom prst="rect">
            <a:avLst/>
          </a:prstGeom>
          <a:noFill/>
          <a:ln>
            <a:noFill/>
          </a:ln>
        </p:spPr>
      </p:pic>
      <p:pic>
        <p:nvPicPr>
          <p:cNvPr id="208" name="Google Shape;208;p37"/>
          <p:cNvPicPr preferRelativeResize="0"/>
          <p:nvPr/>
        </p:nvPicPr>
        <p:blipFill>
          <a:blip r:embed="rId4">
            <a:alphaModFix/>
          </a:blip>
          <a:stretch>
            <a:fillRect/>
          </a:stretch>
        </p:blipFill>
        <p:spPr>
          <a:xfrm>
            <a:off x="5026625" y="1356412"/>
            <a:ext cx="3062275" cy="2800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Metadata &amp; Catalog</a:t>
            </a:r>
            <a:endParaRPr/>
          </a:p>
        </p:txBody>
      </p:sp>
      <p:sp>
        <p:nvSpPr>
          <p:cNvPr id="215" name="Google Shape;215;p38"/>
          <p:cNvSpPr txBox="1"/>
          <p:nvPr>
            <p:ph idx="1" type="body"/>
          </p:nvPr>
        </p:nvSpPr>
        <p:spPr>
          <a:xfrm>
            <a:off x="457200" y="900125"/>
            <a:ext cx="4572000" cy="25458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Metadata = data about data</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Catalog stores schema, constraints, data types</a:t>
            </a:r>
            <a:endParaRPr/>
          </a:p>
        </p:txBody>
      </p:sp>
      <p:pic>
        <p:nvPicPr>
          <p:cNvPr descr="chap1_fig3.jpg" id="216" name="Google Shape;216;p38"/>
          <p:cNvPicPr preferRelativeResize="0"/>
          <p:nvPr/>
        </p:nvPicPr>
        <p:blipFill rotWithShape="1">
          <a:blip r:embed="rId3">
            <a:alphaModFix/>
          </a:blip>
          <a:srcRect b="0" l="0" r="0" t="0"/>
          <a:stretch/>
        </p:blipFill>
        <p:spPr>
          <a:xfrm>
            <a:off x="5029200" y="900125"/>
            <a:ext cx="3657600" cy="403273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Database Users – Actors on the Scene</a:t>
            </a:r>
            <a:endParaRPr/>
          </a:p>
        </p:txBody>
      </p:sp>
      <p:sp>
        <p:nvSpPr>
          <p:cNvPr id="223" name="Google Shape;223;p39"/>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DBAs: manage system, authorize access</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Designers: define structure and constraints</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End users: casual, naive, sophisticated, standalone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Database Users – Behind the Scene</a:t>
            </a:r>
            <a:endParaRPr/>
          </a:p>
        </p:txBody>
      </p:sp>
      <p:sp>
        <p:nvSpPr>
          <p:cNvPr id="230" name="Google Shape;230;p40"/>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System implementors</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Tool developers</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Operators/maintenance staff</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Why Database Design is Important</a:t>
            </a:r>
            <a:endParaRPr/>
          </a:p>
        </p:txBody>
      </p:sp>
      <p:sp>
        <p:nvSpPr>
          <p:cNvPr id="236" name="Google Shape;23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People naturally have a </a:t>
            </a:r>
            <a:r>
              <a:rPr b="1" lang="en-GB">
                <a:highlight>
                  <a:srgbClr val="FFFF00"/>
                </a:highlight>
              </a:rPr>
              <a:t>“narrow” view</a:t>
            </a:r>
            <a:r>
              <a:rPr lang="en-GB"/>
              <a:t> of the data in their environment.</a:t>
            </a:r>
            <a:endParaRPr/>
          </a:p>
          <a:p>
            <a:pPr indent="-342900" lvl="0" marL="457200" rtl="0" algn="l">
              <a:spcBef>
                <a:spcPts val="0"/>
              </a:spcBef>
              <a:spcAft>
                <a:spcPts val="0"/>
              </a:spcAft>
              <a:buSzPts val="1800"/>
              <a:buChar char="-"/>
            </a:pPr>
            <a:r>
              <a:rPr lang="en-GB"/>
              <a:t>this narrow view and </a:t>
            </a:r>
            <a:r>
              <a:rPr b="1" lang="en-GB">
                <a:highlight>
                  <a:srgbClr val="00FFFF"/>
                </a:highlight>
              </a:rPr>
              <a:t>lack of proper data modelling</a:t>
            </a:r>
            <a:r>
              <a:rPr lang="en-GB"/>
              <a:t> and database design skills leads to poor database design choices which is </a:t>
            </a:r>
            <a:r>
              <a:rPr b="1" lang="en-GB">
                <a:highlight>
                  <a:srgbClr val="00FFFF"/>
                </a:highlight>
              </a:rPr>
              <a:t>typical in spreadsheet</a:t>
            </a:r>
            <a:r>
              <a:rPr lang="en-GB"/>
              <a:t> and and desktop database programs (e.g. MS Access)</a:t>
            </a:r>
            <a:endParaRPr/>
          </a:p>
          <a:p>
            <a:pPr indent="-342900" lvl="0" marL="457200" rtl="0" algn="l">
              <a:spcBef>
                <a:spcPts val="0"/>
              </a:spcBef>
              <a:spcAft>
                <a:spcPts val="0"/>
              </a:spcAft>
              <a:buSzPts val="1800"/>
              <a:buChar char="-"/>
            </a:pPr>
            <a:r>
              <a:rPr b="1" lang="en-GB">
                <a:highlight>
                  <a:srgbClr val="00FF00"/>
                </a:highlight>
              </a:rPr>
              <a:t>Database Design</a:t>
            </a:r>
            <a:r>
              <a:rPr lang="en-GB"/>
              <a:t>, is to build the structure that facilitates storing and managing end-user data. So it meets all user requirements.</a:t>
            </a:r>
            <a:endParaRPr/>
          </a:p>
          <a:p>
            <a:pPr indent="-342900" lvl="0" marL="457200" rtl="0" algn="l">
              <a:spcBef>
                <a:spcPts val="0"/>
              </a:spcBef>
              <a:spcAft>
                <a:spcPts val="0"/>
              </a:spcAft>
              <a:buSzPts val="1800"/>
              <a:buChar char="-"/>
            </a:pPr>
            <a:r>
              <a:rPr lang="en-GB"/>
              <a:t>Even a good DBMS performs poorly with a badly designed database</a:t>
            </a:r>
            <a:endParaRPr b="1" sz="1100">
              <a:solidFill>
                <a:schemeClr val="dk1"/>
              </a:solidFill>
            </a:endParaRPr>
          </a:p>
          <a:p>
            <a:pPr indent="-342900" lvl="0" marL="457200" rtl="0" algn="l">
              <a:spcBef>
                <a:spcPts val="0"/>
              </a:spcBef>
              <a:spcAft>
                <a:spcPts val="0"/>
              </a:spcAft>
              <a:buSzPts val="1800"/>
              <a:buChar char="-"/>
            </a:pPr>
            <a:r>
              <a:rPr lang="en-GB"/>
              <a:t>To properly design a database we must first </a:t>
            </a:r>
            <a:r>
              <a:rPr b="1" lang="en-GB">
                <a:highlight>
                  <a:srgbClr val="FFF2CC"/>
                </a:highlight>
              </a:rPr>
              <a:t>precisely identify databases expected use</a:t>
            </a:r>
            <a:endParaRPr b="1">
              <a:highlight>
                <a:srgbClr val="FFF2CC"/>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42"/>
          <p:cNvPicPr preferRelativeResize="0"/>
          <p:nvPr/>
        </p:nvPicPr>
        <p:blipFill>
          <a:blip r:embed="rId3">
            <a:alphaModFix/>
          </a:blip>
          <a:stretch>
            <a:fillRect/>
          </a:stretch>
        </p:blipFill>
        <p:spPr>
          <a:xfrm>
            <a:off x="557513" y="551575"/>
            <a:ext cx="8028974" cy="3794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43"/>
          <p:cNvPicPr preferRelativeResize="0"/>
          <p:nvPr/>
        </p:nvPicPr>
        <p:blipFill>
          <a:blip r:embed="rId3">
            <a:alphaModFix/>
          </a:blip>
          <a:stretch>
            <a:fillRect/>
          </a:stretch>
        </p:blipFill>
        <p:spPr>
          <a:xfrm>
            <a:off x="2117175" y="161850"/>
            <a:ext cx="4909650" cy="4364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490250" y="450150"/>
            <a:ext cx="83535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2400"/>
              <a:t>Database design is </a:t>
            </a:r>
            <a:r>
              <a:rPr lang="en-GB" sz="2400">
                <a:highlight>
                  <a:srgbClr val="FFFF00"/>
                </a:highlight>
              </a:rPr>
              <a:t>a process of decomposition</a:t>
            </a:r>
            <a:r>
              <a:rPr lang="en-GB" sz="2400"/>
              <a:t>: the integrated data must be decomposed into its constituent parts. </a:t>
            </a:r>
            <a:r>
              <a:rPr lang="en-GB" sz="2400">
                <a:highlight>
                  <a:srgbClr val="FFFF00"/>
                </a:highlight>
              </a:rPr>
              <a:t>each part stored in its own table</a:t>
            </a:r>
            <a:endParaRPr sz="240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457200" y="154475"/>
            <a:ext cx="53607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Relational Model Basics</a:t>
            </a:r>
            <a:endParaRPr/>
          </a:p>
        </p:txBody>
      </p:sp>
      <p:sp>
        <p:nvSpPr>
          <p:cNvPr id="258" name="Google Shape;258;p45"/>
          <p:cNvSpPr txBox="1"/>
          <p:nvPr>
            <p:ph idx="1" type="body"/>
          </p:nvPr>
        </p:nvSpPr>
        <p:spPr>
          <a:xfrm>
            <a:off x="457200" y="900125"/>
            <a:ext cx="4114800" cy="2545800"/>
          </a:xfrm>
          <a:prstGeom prst="rect">
            <a:avLst/>
          </a:prstGeom>
          <a:noFill/>
          <a:ln>
            <a:noFill/>
          </a:ln>
        </p:spPr>
        <p:txBody>
          <a:bodyPr anchorCtr="0" anchor="t" bIns="45700" lIns="91425" spcFirstLastPara="1" rIns="91425" wrap="square" tIns="45700">
            <a:normAutofit fontScale="70000"/>
          </a:bodyPr>
          <a:lstStyle/>
          <a:p>
            <a:pPr indent="-37084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Relation (table) = set of tuples (rows) with attributes (columns)</a:t>
            </a:r>
            <a:endParaRPr/>
          </a:p>
          <a:p>
            <a:pPr indent="-37084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Tuple (row) = record of data</a:t>
            </a:r>
            <a:endParaRPr/>
          </a:p>
          <a:p>
            <a:pPr indent="-37084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Attribute (column) = property with a domain (data type)</a:t>
            </a:r>
            <a:endParaRPr/>
          </a:p>
        </p:txBody>
      </p:sp>
      <p:pic>
        <p:nvPicPr>
          <p:cNvPr descr="chap1_fig2.jpg" id="259" name="Google Shape;259;p45"/>
          <p:cNvPicPr preferRelativeResize="0"/>
          <p:nvPr/>
        </p:nvPicPr>
        <p:blipFill rotWithShape="1">
          <a:blip r:embed="rId3">
            <a:alphaModFix/>
          </a:blip>
          <a:srcRect b="0" l="0" r="0" t="0"/>
          <a:stretch/>
        </p:blipFill>
        <p:spPr>
          <a:xfrm>
            <a:off x="6023150" y="170813"/>
            <a:ext cx="2743199" cy="48018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Keys in the Relational Model</a:t>
            </a:r>
            <a:endParaRPr/>
          </a:p>
        </p:txBody>
      </p:sp>
      <p:sp>
        <p:nvSpPr>
          <p:cNvPr id="266" name="Google Shape;266;p46"/>
          <p:cNvSpPr txBox="1"/>
          <p:nvPr>
            <p:ph idx="1" type="body"/>
          </p:nvPr>
        </p:nvSpPr>
        <p:spPr>
          <a:xfrm>
            <a:off x="457200" y="900125"/>
            <a:ext cx="4114800" cy="2545800"/>
          </a:xfrm>
          <a:prstGeom prst="rect">
            <a:avLst/>
          </a:prstGeom>
          <a:noFill/>
          <a:ln>
            <a:noFill/>
          </a:ln>
        </p:spPr>
        <p:txBody>
          <a:bodyPr anchorCtr="0" anchor="t" bIns="45700" lIns="91425" spcFirstLastPara="1" rIns="91425" wrap="square" tIns="45700">
            <a:normAutofit fontScale="85000" lnSpcReduction="20000"/>
          </a:bodyPr>
          <a:lstStyle/>
          <a:p>
            <a:pPr indent="-40132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Primary key = unique identifier</a:t>
            </a:r>
            <a:endParaRPr/>
          </a:p>
          <a:p>
            <a:pPr indent="-40132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Candidate keys = alternative choices</a:t>
            </a:r>
            <a:endParaRPr/>
          </a:p>
          <a:p>
            <a:pPr indent="-40132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Foreign key = reference to another relation</a:t>
            </a:r>
            <a:endParaRPr/>
          </a:p>
        </p:txBody>
      </p:sp>
      <p:pic>
        <p:nvPicPr>
          <p:cNvPr descr="chap2_fig1.jpg" id="267" name="Google Shape;267;p46"/>
          <p:cNvPicPr preferRelativeResize="0"/>
          <p:nvPr/>
        </p:nvPicPr>
        <p:blipFill rotWithShape="1">
          <a:blip r:embed="rId3">
            <a:alphaModFix/>
          </a:blip>
          <a:srcRect b="0" l="0" r="0" t="0"/>
          <a:stretch/>
        </p:blipFill>
        <p:spPr>
          <a:xfrm>
            <a:off x="4572000" y="1028700"/>
            <a:ext cx="2743202" cy="185839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Integrity Constraints</a:t>
            </a:r>
            <a:endParaRPr/>
          </a:p>
        </p:txBody>
      </p:sp>
      <p:sp>
        <p:nvSpPr>
          <p:cNvPr id="274" name="Google Shape;274;p47"/>
          <p:cNvSpPr txBox="1"/>
          <p:nvPr>
            <p:ph idx="1" type="body"/>
          </p:nvPr>
        </p:nvSpPr>
        <p:spPr>
          <a:xfrm>
            <a:off x="457200" y="900125"/>
            <a:ext cx="4114800" cy="2545800"/>
          </a:xfrm>
          <a:prstGeom prst="rect">
            <a:avLst/>
          </a:prstGeom>
          <a:noFill/>
          <a:ln>
            <a:noFill/>
          </a:ln>
        </p:spPr>
        <p:txBody>
          <a:bodyPr anchorCtr="0" anchor="t" bIns="45700" lIns="91425" spcFirstLastPara="1" rIns="91425" wrap="square" tIns="45700">
            <a:normAutofit lnSpcReduction="20000"/>
          </a:bodyPr>
          <a:lstStyle/>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Entity integrity: no NULL in primary keys</a:t>
            </a:r>
            <a:endParaRPr/>
          </a:p>
          <a:p>
            <a:pPr indent="-431800" lvl="0" marL="457200" rtl="0" algn="l">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Referential integrity: foreign keys must match primary keys</a:t>
            </a:r>
            <a:endParaRPr/>
          </a:p>
        </p:txBody>
      </p:sp>
      <p:pic>
        <p:nvPicPr>
          <p:cNvPr descr="chap2_fig1.jpg" id="275" name="Google Shape;275;p47"/>
          <p:cNvPicPr preferRelativeResize="0"/>
          <p:nvPr/>
        </p:nvPicPr>
        <p:blipFill rotWithShape="1">
          <a:blip r:embed="rId3">
            <a:alphaModFix/>
          </a:blip>
          <a:srcRect b="0" l="0" r="0" t="0"/>
          <a:stretch/>
        </p:blipFill>
        <p:spPr>
          <a:xfrm>
            <a:off x="4572000" y="1028700"/>
            <a:ext cx="2743202" cy="185839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8"/>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Schemas vs Instances</a:t>
            </a:r>
            <a:endParaRPr/>
          </a:p>
        </p:txBody>
      </p:sp>
      <p:sp>
        <p:nvSpPr>
          <p:cNvPr id="282" name="Google Shape;282;p48"/>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GB" sz="3200">
                <a:solidFill>
                  <a:schemeClr val="dk1"/>
                </a:solidFill>
                <a:latin typeface="Calibri"/>
                <a:ea typeface="Calibri"/>
                <a:cs typeface="Calibri"/>
                <a:sym typeface="Calibri"/>
              </a:rPr>
              <a:t>Schema = description (changes rarely)</a:t>
            </a:r>
            <a:endParaRPr/>
          </a:p>
          <a:p>
            <a:pPr indent="-342900" lvl="0" marL="342900" rtl="0" algn="l">
              <a:spcBef>
                <a:spcPts val="640"/>
              </a:spcBef>
              <a:spcAft>
                <a:spcPts val="0"/>
              </a:spcAft>
              <a:buClr>
                <a:schemeClr val="dk1"/>
              </a:buClr>
              <a:buSzPts val="3200"/>
              <a:buChar char="●"/>
            </a:pPr>
            <a:r>
              <a:rPr lang="en-GB" sz="3200">
                <a:solidFill>
                  <a:schemeClr val="dk1"/>
                </a:solidFill>
                <a:latin typeface="Calibri"/>
                <a:ea typeface="Calibri"/>
                <a:cs typeface="Calibri"/>
                <a:sym typeface="Calibri"/>
              </a:rPr>
              <a:t>Instance = data state (changes frequently)</a:t>
            </a:r>
            <a:endParaRPr/>
          </a:p>
          <a:p>
            <a:pPr indent="-342900" lvl="0" marL="342900" rtl="0" algn="l">
              <a:spcBef>
                <a:spcPts val="640"/>
              </a:spcBef>
              <a:spcAft>
                <a:spcPts val="1600"/>
              </a:spcAft>
              <a:buClr>
                <a:schemeClr val="dk1"/>
              </a:buClr>
              <a:buSzPts val="3200"/>
              <a:buChar char="●"/>
            </a:pPr>
            <a:r>
              <a:rPr lang="en-GB" sz="3200">
                <a:solidFill>
                  <a:schemeClr val="dk1"/>
                </a:solidFill>
                <a:latin typeface="Calibri"/>
                <a:ea typeface="Calibri"/>
                <a:cs typeface="Calibri"/>
                <a:sym typeface="Calibri"/>
              </a:rPr>
              <a:t>Schema = intension, Instance = extension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9"/>
          <p:cNvSpPr txBox="1"/>
          <p:nvPr>
            <p:ph type="title"/>
          </p:nvPr>
        </p:nvSpPr>
        <p:spPr>
          <a:xfrm>
            <a:off x="457200" y="154467"/>
            <a:ext cx="8229600" cy="1258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Data Independence &amp; Three-Schem</a:t>
            </a:r>
            <a:r>
              <a:rPr lang="en-GB" sz="4400">
                <a:latin typeface="Calibri"/>
                <a:ea typeface="Calibri"/>
                <a:cs typeface="Calibri"/>
                <a:sym typeface="Calibri"/>
              </a:rPr>
              <a:t>a Architecture</a:t>
            </a:r>
            <a:endParaRPr/>
          </a:p>
        </p:txBody>
      </p:sp>
      <p:sp>
        <p:nvSpPr>
          <p:cNvPr id="289" name="Google Shape;289;p49"/>
          <p:cNvSpPr txBox="1"/>
          <p:nvPr>
            <p:ph idx="1" type="body"/>
          </p:nvPr>
        </p:nvSpPr>
        <p:spPr>
          <a:xfrm>
            <a:off x="393400" y="1507925"/>
            <a:ext cx="4116600" cy="2545800"/>
          </a:xfrm>
          <a:prstGeom prst="rect">
            <a:avLst/>
          </a:prstGeom>
          <a:noFill/>
          <a:ln>
            <a:noFill/>
          </a:ln>
        </p:spPr>
        <p:txBody>
          <a:bodyPr anchorCtr="0" anchor="t" bIns="45700" lIns="91425" spcFirstLastPara="1" rIns="91425" wrap="square" tIns="45700">
            <a:normAutofit fontScale="70000" lnSpcReduction="20000"/>
          </a:bodyPr>
          <a:lstStyle/>
          <a:p>
            <a:pPr indent="-370840" lvl="0" marL="457200" rtl="0" algn="l">
              <a:spcBef>
                <a:spcPts val="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Logical: change conceptual schema without affecting views</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370840" lvl="0" marL="457200" rtl="0" algn="l">
              <a:spcBef>
                <a:spcPts val="640"/>
              </a:spcBef>
              <a:spcAft>
                <a:spcPts val="0"/>
              </a:spcAft>
              <a:buClr>
                <a:schemeClr val="dk1"/>
              </a:buClr>
              <a:buSzPct val="100000"/>
              <a:buFont typeface="Calibri"/>
              <a:buChar char="●"/>
            </a:pPr>
            <a:r>
              <a:rPr lang="en-GB" sz="3200">
                <a:solidFill>
                  <a:schemeClr val="dk1"/>
                </a:solidFill>
                <a:latin typeface="Calibri"/>
                <a:ea typeface="Calibri"/>
                <a:cs typeface="Calibri"/>
                <a:sym typeface="Calibri"/>
              </a:rPr>
              <a:t>Physical: change internal storage without affecting schema</a:t>
            </a:r>
            <a:endParaRPr/>
          </a:p>
        </p:txBody>
      </p:sp>
      <p:pic>
        <p:nvPicPr>
          <p:cNvPr descr="chap2_fig2.jpg" id="290" name="Google Shape;290;p49"/>
          <p:cNvPicPr preferRelativeResize="0"/>
          <p:nvPr/>
        </p:nvPicPr>
        <p:blipFill rotWithShape="1">
          <a:blip r:embed="rId3">
            <a:alphaModFix/>
          </a:blip>
          <a:srcRect b="0" l="0" r="0" t="0"/>
          <a:stretch/>
        </p:blipFill>
        <p:spPr>
          <a:xfrm>
            <a:off x="4510000" y="1507925"/>
            <a:ext cx="4176801" cy="3241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